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5" r:id="rId3"/>
    <p:sldId id="258" r:id="rId4"/>
    <p:sldId id="259" r:id="rId5"/>
    <p:sldId id="260" r:id="rId6"/>
    <p:sldId id="266" r:id="rId7"/>
    <p:sldId id="267" r:id="rId8"/>
    <p:sldId id="268" r:id="rId9"/>
    <p:sldId id="269" r:id="rId10"/>
    <p:sldId id="262" r:id="rId11"/>
    <p:sldId id="263" r:id="rId12"/>
    <p:sldId id="264" r:id="rId13"/>
  </p:sldIdLst>
  <p:sldSz cx="9144000" cy="5143500" type="screen16x9"/>
  <p:notesSz cx="7102475" cy="938847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87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58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704850"/>
            <a:ext cx="6256337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94213" rIns="94213" bIns="94213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8365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CC13BC24-EA1B-312A-0974-AA9B951F0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bea9cbfd3_0_2:notes">
            <a:extLst>
              <a:ext uri="{FF2B5EF4-FFF2-40B4-BE49-F238E27FC236}">
                <a16:creationId xmlns:a16="http://schemas.microsoft.com/office/drawing/2014/main" id="{09A3E086-C7C4-C0F8-5208-1C4B53CB1E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bea9cbfd3_0_2:notes">
            <a:extLst>
              <a:ext uri="{FF2B5EF4-FFF2-40B4-BE49-F238E27FC236}">
                <a16:creationId xmlns:a16="http://schemas.microsoft.com/office/drawing/2014/main" id="{BF56C57D-6EC5-B462-F010-8CA5738226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7624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bea9cbfd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bea9cbfd3_0_2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06676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bea9cbfd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bea9cbfd3_0_2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8306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576950D6-9545-4D10-AB5E-AADA84937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bea9cbfd3_0_2:notes">
            <a:extLst>
              <a:ext uri="{FF2B5EF4-FFF2-40B4-BE49-F238E27FC236}">
                <a16:creationId xmlns:a16="http://schemas.microsoft.com/office/drawing/2014/main" id="{2FD25B13-9F3B-D2EE-B3BB-1416DDE318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bea9cbfd3_0_2:notes">
            <a:extLst>
              <a:ext uri="{FF2B5EF4-FFF2-40B4-BE49-F238E27FC236}">
                <a16:creationId xmlns:a16="http://schemas.microsoft.com/office/drawing/2014/main" id="{1182DCD3-39BC-F5F8-4778-44D7D24792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92143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B45A06E3-574C-02E2-AE5D-52961A625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bea9cbfd3_0_2:notes">
            <a:extLst>
              <a:ext uri="{FF2B5EF4-FFF2-40B4-BE49-F238E27FC236}">
                <a16:creationId xmlns:a16="http://schemas.microsoft.com/office/drawing/2014/main" id="{517229F6-2856-4056-335C-669E86ECAA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bea9cbfd3_0_2:notes">
            <a:extLst>
              <a:ext uri="{FF2B5EF4-FFF2-40B4-BE49-F238E27FC236}">
                <a16:creationId xmlns:a16="http://schemas.microsoft.com/office/drawing/2014/main" id="{8408D0F3-4146-6DBF-50B4-51BA361E61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36211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89E602D6-9737-BD77-9575-830CC8964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bea9cbfd3_0_2:notes">
            <a:extLst>
              <a:ext uri="{FF2B5EF4-FFF2-40B4-BE49-F238E27FC236}">
                <a16:creationId xmlns:a16="http://schemas.microsoft.com/office/drawing/2014/main" id="{A0ED8A22-3697-B04E-B13C-9FA70B5BA1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bea9cbfd3_0_2:notes">
            <a:extLst>
              <a:ext uri="{FF2B5EF4-FFF2-40B4-BE49-F238E27FC236}">
                <a16:creationId xmlns:a16="http://schemas.microsoft.com/office/drawing/2014/main" id="{74618C28-5115-E31B-A718-0067F6DC45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71033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F13F67FC-45AE-544A-2BD3-9501CBA7D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bea9cbfd3_0_2:notes">
            <a:extLst>
              <a:ext uri="{FF2B5EF4-FFF2-40B4-BE49-F238E27FC236}">
                <a16:creationId xmlns:a16="http://schemas.microsoft.com/office/drawing/2014/main" id="{F3D33314-C749-C142-D02F-2C40673BAF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bea9cbfd3_0_2:notes">
            <a:extLst>
              <a:ext uri="{FF2B5EF4-FFF2-40B4-BE49-F238E27FC236}">
                <a16:creationId xmlns:a16="http://schemas.microsoft.com/office/drawing/2014/main" id="{A03532F7-23CA-1F12-FBDC-684DE2F40F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22409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bea9cbfd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bea9cbfd3_0_2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1071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A8748E06-0F49-3990-FEF4-1E9BD43D1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bea9cbfd3_0_2:notes">
            <a:extLst>
              <a:ext uri="{FF2B5EF4-FFF2-40B4-BE49-F238E27FC236}">
                <a16:creationId xmlns:a16="http://schemas.microsoft.com/office/drawing/2014/main" id="{3816C6B8-E030-446D-4B57-C148ADD729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bea9cbfd3_0_2:notes">
            <a:extLst>
              <a:ext uri="{FF2B5EF4-FFF2-40B4-BE49-F238E27FC236}">
                <a16:creationId xmlns:a16="http://schemas.microsoft.com/office/drawing/2014/main" id="{6282D772-85EF-EF97-3894-EFB48FAFD2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20154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bea9cbfd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bea9cbfd3_0_2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6731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839" y="4576417"/>
            <a:ext cx="548700" cy="393600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1</a:t>
            </a:fld>
            <a:endParaRPr lang="en-IN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80EC1102-A358-2F94-640B-3F1EA4FCE4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1886" y="1361710"/>
            <a:ext cx="7289451" cy="1151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>
                <a:schemeClr val="dk1"/>
              </a:buClr>
              <a:buSzPts val="2800"/>
              <a:buNone/>
              <a:defRPr i="1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</a:defRPr>
            </a:lvl1pPr>
            <a:lvl2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altLang="en-US" sz="3200" i="0" dirty="0"/>
              <a:t>VIII Semester Major Project Work </a:t>
            </a:r>
            <a:r>
              <a:rPr lang="en-US" altLang="en-US" sz="3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</a:t>
            </a:r>
            <a:r>
              <a:rPr lang="en-US" altLang="en-US" sz="3200" i="0" dirty="0"/>
              <a:t>CSP8</a:t>
            </a:r>
            <a:r>
              <a:rPr lang="en-US" altLang="en-US" sz="3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3200" i="0" dirty="0"/>
              <a:t>)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38BCCBF-8D7E-6CEB-5C00-AC9B92EDF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5310" y="3177217"/>
            <a:ext cx="5091229" cy="57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1430" rIns="0" bIns="0">
            <a:spAutoFit/>
          </a:bodyPr>
          <a:lstStyle>
            <a:lvl1pPr marL="127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88"/>
              </a:spcBef>
            </a:pPr>
            <a:r>
              <a:rPr lang="en-US" altLang="en-US" sz="1800" dirty="0">
                <a:latin typeface="Helvetica-Bold" charset="0"/>
              </a:rPr>
              <a:t>Department of Computer Science,  </a:t>
            </a:r>
          </a:p>
          <a:p>
            <a:pPr eaLnBrk="1" hangingPunct="1">
              <a:spcBef>
                <a:spcPts val="88"/>
              </a:spcBef>
            </a:pPr>
            <a:r>
              <a:rPr lang="en-US" altLang="en-US" sz="1800" dirty="0">
                <a:latin typeface="Helvetica-Bold" charset="0"/>
              </a:rPr>
              <a:t>R V College of  Engineering, Bengaluru.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93D8E1-BC18-4388-A17C-2868EB9CF70A}"/>
              </a:ext>
            </a:extLst>
          </p:cNvPr>
          <p:cNvSpPr txBox="1"/>
          <p:nvPr/>
        </p:nvSpPr>
        <p:spPr>
          <a:xfrm>
            <a:off x="617035" y="1007030"/>
            <a:ext cx="8274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Times New Roman "/>
              </a:rPr>
              <a:t>Machine learning based Parasite Recognition Software for automated detection of Plasmodium falciparum from microscopic image</a:t>
            </a:r>
            <a:endParaRPr lang="en-US" altLang="en-US" sz="1200" b="1" dirty="0">
              <a:solidFill>
                <a:schemeClr val="tx1"/>
              </a:solidFill>
              <a:latin typeface="Times New Roman 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30C1DE9-23AD-481B-88C1-9F92223C7A2C}"/>
              </a:ext>
            </a:extLst>
          </p:cNvPr>
          <p:cNvGraphicFramePr>
            <a:graphicFrameLocks noGrp="1"/>
          </p:cNvGraphicFramePr>
          <p:nvPr/>
        </p:nvGraphicFramePr>
        <p:xfrm>
          <a:off x="1691269" y="2841808"/>
          <a:ext cx="5549154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58422">
                  <a:extLst>
                    <a:ext uri="{9D8B030D-6E8A-4147-A177-3AD203B41FA5}">
                      <a16:colId xmlns:a16="http://schemas.microsoft.com/office/drawing/2014/main" val="1807898810"/>
                    </a:ext>
                  </a:extLst>
                </a:gridCol>
                <a:gridCol w="2090732">
                  <a:extLst>
                    <a:ext uri="{9D8B030D-6E8A-4147-A177-3AD203B41FA5}">
                      <a16:colId xmlns:a16="http://schemas.microsoft.com/office/drawing/2014/main" val="1763255713"/>
                    </a:ext>
                  </a:extLst>
                </a:gridCol>
              </a:tblGrid>
              <a:tr h="268474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Anjan Babu KN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1RV23CD400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50229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09F37F9-2592-43BE-B601-5DE7F811A95E}"/>
              </a:ext>
            </a:extLst>
          </p:cNvPr>
          <p:cNvSpPr txBox="1"/>
          <p:nvPr/>
        </p:nvSpPr>
        <p:spPr>
          <a:xfrm>
            <a:off x="114933" y="3983947"/>
            <a:ext cx="25594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 "/>
              </a:rPr>
              <a:t>Internal Guide</a:t>
            </a:r>
            <a:r>
              <a:rPr lang="en-US" sz="1200" dirty="0">
                <a:latin typeface="Times New Roman "/>
              </a:rPr>
              <a:t> </a:t>
            </a:r>
            <a:br>
              <a:rPr lang="en-US" sz="1200" dirty="0">
                <a:latin typeface="Times New Roman "/>
              </a:rPr>
            </a:br>
            <a:r>
              <a:rPr lang="en-US" sz="1200" dirty="0">
                <a:latin typeface="Times New Roman "/>
              </a:rPr>
              <a:t>Ms. Mekhala V P </a:t>
            </a:r>
          </a:p>
          <a:p>
            <a:pPr algn="ctr"/>
            <a:r>
              <a:rPr lang="en-US" sz="1200" dirty="0">
                <a:latin typeface="Times New Roman "/>
              </a:rPr>
              <a:t>Assistant Professor </a:t>
            </a:r>
          </a:p>
          <a:p>
            <a:pPr algn="ctr"/>
            <a:r>
              <a:rPr lang="en-US" sz="1200" dirty="0">
                <a:latin typeface="Times New Roman "/>
                <a:cs typeface="Times New Roman" panose="02020603050405020304" pitchFamily="18" charset="0"/>
              </a:rPr>
              <a:t>Dept. of CSE,</a:t>
            </a:r>
          </a:p>
          <a:p>
            <a:pPr algn="ctr"/>
            <a:r>
              <a:rPr lang="en-US" sz="1200" dirty="0">
                <a:latin typeface="Times New Roman "/>
                <a:cs typeface="Times New Roman" panose="02020603050405020304" pitchFamily="18" charset="0"/>
              </a:rPr>
              <a:t>RVCE, Bengaluru</a:t>
            </a:r>
            <a:endParaRPr lang="en-IN" sz="1200" dirty="0">
              <a:latin typeface="Times New Roman 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62D254-5FF3-4A6C-9399-8BDB59B2B51A}"/>
              </a:ext>
            </a:extLst>
          </p:cNvPr>
          <p:cNvSpPr txBox="1"/>
          <p:nvPr/>
        </p:nvSpPr>
        <p:spPr>
          <a:xfrm>
            <a:off x="5932455" y="4076927"/>
            <a:ext cx="2710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latin typeface="Times New Roman "/>
              </a:rPr>
              <a:t>External Guide</a:t>
            </a:r>
          </a:p>
          <a:p>
            <a:pPr algn="ctr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E6038D-CE14-41AF-9010-699CB02BAEDD}"/>
              </a:ext>
            </a:extLst>
          </p:cNvPr>
          <p:cNvSpPr/>
          <p:nvPr/>
        </p:nvSpPr>
        <p:spPr>
          <a:xfrm>
            <a:off x="0" y="3602845"/>
            <a:ext cx="63056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Under the Guidance of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4F2E2A0-B766-A917-84B4-813CC5A7703E}"/>
              </a:ext>
            </a:extLst>
          </p:cNvPr>
          <p:cNvGraphicFramePr>
            <a:graphicFrameLocks noGrp="1"/>
          </p:cNvGraphicFramePr>
          <p:nvPr/>
        </p:nvGraphicFramePr>
        <p:xfrm>
          <a:off x="1687551" y="2224774"/>
          <a:ext cx="5545437" cy="60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54705">
                  <a:extLst>
                    <a:ext uri="{9D8B030D-6E8A-4147-A177-3AD203B41FA5}">
                      <a16:colId xmlns:a16="http://schemas.microsoft.com/office/drawing/2014/main" val="1789244512"/>
                    </a:ext>
                  </a:extLst>
                </a:gridCol>
                <a:gridCol w="2090732">
                  <a:extLst>
                    <a:ext uri="{9D8B030D-6E8A-4147-A177-3AD203B41FA5}">
                      <a16:colId xmlns:a16="http://schemas.microsoft.com/office/drawing/2014/main" val="2957982904"/>
                    </a:ext>
                  </a:extLst>
                </a:gridCol>
              </a:tblGrid>
              <a:tr h="268474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Aravind 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1RV22CD011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6415678"/>
                  </a:ext>
                </a:extLst>
              </a:tr>
              <a:tr h="268474">
                <a:tc>
                  <a:txBody>
                    <a:bodyPr/>
                    <a:lstStyle/>
                    <a:p>
                      <a:r>
                        <a:rPr lang="en-IN" dirty="0"/>
                        <a:t>Likhith A 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1RV22CD027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6030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DE1B450E-8266-E58A-DD0B-CA7CF9678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86124-8C81-DC41-6E4E-E9ADB08A76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GB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BE13F45C-DF0D-8826-8D7E-7B27EA55B622}"/>
              </a:ext>
            </a:extLst>
          </p:cNvPr>
          <p:cNvSpPr>
            <a:spLocks noGrp="1"/>
          </p:cNvSpPr>
          <p:nvPr/>
        </p:nvSpPr>
        <p:spPr>
          <a:xfrm>
            <a:off x="311785" y="4483735"/>
            <a:ext cx="21259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Date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46E9266-9E0D-7FC9-47DF-682E5CE99057}"/>
              </a:ext>
            </a:extLst>
          </p:cNvPr>
          <p:cNvSpPr>
            <a:spLocks noGrp="1"/>
          </p:cNvSpPr>
          <p:nvPr/>
        </p:nvSpPr>
        <p:spPr>
          <a:xfrm>
            <a:off x="3512185" y="4483735"/>
            <a:ext cx="3188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RV COLLEGE OF ENGINEERING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E4F2F7-8DD1-56A3-BBCD-2E4F89262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8909" y="172463"/>
            <a:ext cx="4751612" cy="540337"/>
          </a:xfrm>
        </p:spPr>
        <p:txBody>
          <a:bodyPr>
            <a:no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Knowledge, Skills, and Research Base</a:t>
            </a:r>
            <a:endParaRPr lang="en-US" altLang="en-US" sz="20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45B10C-481F-188F-72A1-9A6871864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236" y="749729"/>
            <a:ext cx="8709373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Domain: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away from manual microscopy-only malaria diagnosis toward an automated deep learning approach that classifies blood smear images as 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infected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or 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uninfected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dependency on expert availability and improving screening speed.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Relevant Literature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Informed by CNN-based malaria detection research and experimental implementations in 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architectures, using segmented blood smear datasets from NIH malaria screening studies and image augmentation to improve generalization.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Knowledge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Networks (CNNs)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image classification,</a:t>
            </a:r>
            <a:r>
              <a:rPr lang="en-US" b="1" dirty="0"/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such as resizing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normalization,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Binary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with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output,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augmentation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reduce overfitting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Problem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State-of-the-art malaria detection models can achieve high accuracy, but many remain difficult to deploy, interpret, or integrate into a usable web application. The research challenge is to build a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reliable, fast, and deployable malaria detection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that maintains high accuracy while providing clear prediction outputs for practical use.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726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GB"/>
          </a:p>
        </p:txBody>
      </p:sp>
      <p:sp>
        <p:nvSpPr>
          <p:cNvPr id="6" name="Date Placeholder 3"/>
          <p:cNvSpPr>
            <a:spLocks noGrp="1"/>
          </p:cNvSpPr>
          <p:nvPr/>
        </p:nvSpPr>
        <p:spPr>
          <a:xfrm>
            <a:off x="311785" y="4483735"/>
            <a:ext cx="21259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Date</a:t>
            </a:r>
          </a:p>
        </p:txBody>
      </p:sp>
      <p:sp>
        <p:nvSpPr>
          <p:cNvPr id="7" name="Footer Placeholder 4"/>
          <p:cNvSpPr>
            <a:spLocks noGrp="1"/>
          </p:cNvSpPr>
          <p:nvPr/>
        </p:nvSpPr>
        <p:spPr>
          <a:xfrm>
            <a:off x="3512185" y="4483735"/>
            <a:ext cx="3188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RV COLLEGE OF ENGINEERING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90F697-E655-5911-41DA-9C06DE8D8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8909" y="172463"/>
            <a:ext cx="4751612" cy="540337"/>
          </a:xfrm>
        </p:spPr>
        <p:txBody>
          <a:bodyPr>
            <a:noAutofit/>
          </a:bodyPr>
          <a:lstStyle/>
          <a:p>
            <a:pPr algn="ctr"/>
            <a:r>
              <a:rPr lang="en-US" alt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8DAFBC-921F-827A-7663-694134B02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16" y="1100254"/>
            <a:ext cx="7431293" cy="372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755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GB"/>
          </a:p>
        </p:txBody>
      </p:sp>
      <p:sp>
        <p:nvSpPr>
          <p:cNvPr id="6" name="Date Placeholder 3"/>
          <p:cNvSpPr>
            <a:spLocks noGrp="1"/>
          </p:cNvSpPr>
          <p:nvPr/>
        </p:nvSpPr>
        <p:spPr>
          <a:xfrm>
            <a:off x="311785" y="4483735"/>
            <a:ext cx="21259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Date</a:t>
            </a:r>
          </a:p>
        </p:txBody>
      </p:sp>
      <p:sp>
        <p:nvSpPr>
          <p:cNvPr id="7" name="Footer Placeholder 4"/>
          <p:cNvSpPr>
            <a:spLocks noGrp="1"/>
          </p:cNvSpPr>
          <p:nvPr/>
        </p:nvSpPr>
        <p:spPr>
          <a:xfrm>
            <a:off x="3512185" y="4483735"/>
            <a:ext cx="3188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RV COLLEGE OF ENGINEERING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882F7BC-F55B-92C5-1D42-8C4CB8E62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200" y="214625"/>
            <a:ext cx="4564800" cy="57270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Algorithms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3027B4-AF20-A584-1015-3B06F3D32259}"/>
              </a:ext>
            </a:extLst>
          </p:cNvPr>
          <p:cNvSpPr txBox="1"/>
          <p:nvPr/>
        </p:nvSpPr>
        <p:spPr>
          <a:xfrm>
            <a:off x="156116" y="1509131"/>
            <a:ext cx="7493620" cy="2480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Convolutional Neural Network (CNN)</a:t>
            </a:r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is the core algorithm used for malaria detection.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CNN is specially designed for image classification.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learns important image patterns such as edges, shapes, textures, and cell structures.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your project, it classifies blood smear images into:</a:t>
            </a:r>
          </a:p>
          <a:p>
            <a:pPr marL="742950" lvl="1" indent="-28575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Infected</a:t>
            </a:r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Uninfected</a:t>
            </a:r>
          </a:p>
          <a:p>
            <a:pPr marL="742950" lvl="1" indent="-285750" algn="l">
              <a:spcAft>
                <a:spcPts val="45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algn="l">
              <a:spcAft>
                <a:spcPts val="450"/>
              </a:spcAft>
            </a:pPr>
            <a:endParaRPr lang="en-US" b="1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097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D11852CA-340E-8FC3-3EAE-27AEDC6BC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994D11-D1BE-2B60-032B-B4C6DD2BD5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GB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D451C4B7-EBB8-B502-9684-C99FC8BACD1B}"/>
              </a:ext>
            </a:extLst>
          </p:cNvPr>
          <p:cNvSpPr>
            <a:spLocks noGrp="1"/>
          </p:cNvSpPr>
          <p:nvPr/>
        </p:nvSpPr>
        <p:spPr>
          <a:xfrm>
            <a:off x="311785" y="4483735"/>
            <a:ext cx="21259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Date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7762D72-C34E-1001-2E10-352760E8315A}"/>
              </a:ext>
            </a:extLst>
          </p:cNvPr>
          <p:cNvSpPr>
            <a:spLocks noGrp="1"/>
          </p:cNvSpPr>
          <p:nvPr/>
        </p:nvSpPr>
        <p:spPr>
          <a:xfrm>
            <a:off x="3512185" y="4483735"/>
            <a:ext cx="3188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RV COLLEGE OF ENGINEERING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CF65B51-8D88-8FE6-D00B-90D931564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200" y="214625"/>
            <a:ext cx="4564800" cy="57270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Algorithms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9F1362-DC9C-F53A-90EF-7295737D6B28}"/>
              </a:ext>
            </a:extLst>
          </p:cNvPr>
          <p:cNvSpPr txBox="1"/>
          <p:nvPr/>
        </p:nvSpPr>
        <p:spPr>
          <a:xfrm>
            <a:off x="512955" y="959004"/>
            <a:ext cx="749362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CNN Process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is resized and normalized → CNN extracts features → pooling reduces size → dense layers classify → output gives prediction.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Binary Classification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outputs probabilities for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infected vs uninfected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higher score = final prediction.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Train-Test Split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split into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(learning)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(evaluation)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ensures fair accuracy.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Data Augmentation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Creates modified images (rotate, flip, zoom) → improves accuracy and reduces overfitting.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Transfer Learning 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deeper CNN → tested to compare performance with basic CNN.</a:t>
            </a:r>
          </a:p>
          <a:p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I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Experiment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CNN implemented in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used to compare frameworks and results.</a:t>
            </a:r>
          </a:p>
          <a:p>
            <a:pPr marL="457200" lvl="1" algn="l">
              <a:spcAft>
                <a:spcPts val="450"/>
              </a:spcAft>
            </a:pPr>
            <a:endParaRPr lang="en-US" b="1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554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7CF6C227-EA9A-BE9C-CF77-81C785092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320FE-EF18-AAB7-840C-1703E234FF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GB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3085CFC-D868-5291-45A9-FB97847D92E6}"/>
              </a:ext>
            </a:extLst>
          </p:cNvPr>
          <p:cNvSpPr>
            <a:spLocks noGrp="1"/>
          </p:cNvSpPr>
          <p:nvPr/>
        </p:nvSpPr>
        <p:spPr>
          <a:xfrm>
            <a:off x="311785" y="4483735"/>
            <a:ext cx="21259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Date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FCC5851-879C-C2AA-704E-587C0CB5C1E3}"/>
              </a:ext>
            </a:extLst>
          </p:cNvPr>
          <p:cNvSpPr>
            <a:spLocks noGrp="1"/>
          </p:cNvSpPr>
          <p:nvPr/>
        </p:nvSpPr>
        <p:spPr>
          <a:xfrm>
            <a:off x="3512185" y="4483735"/>
            <a:ext cx="3188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RV COLLEGE OF ENGINEERING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C489467-3355-06D9-0BA2-68D199542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200" y="214625"/>
            <a:ext cx="4564800" cy="57270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232234-1EE5-C33A-80D9-7E23B0613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781" y="468351"/>
            <a:ext cx="560534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062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0E50C08F-EEC0-8287-4F10-1E8F7EE63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94C1A-CEBE-84E4-7609-6FAA5AF34B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GB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3006C0F-9E7D-FE20-0DFE-CAAEA4117540}"/>
              </a:ext>
            </a:extLst>
          </p:cNvPr>
          <p:cNvSpPr>
            <a:spLocks noGrp="1"/>
          </p:cNvSpPr>
          <p:nvPr/>
        </p:nvSpPr>
        <p:spPr>
          <a:xfrm>
            <a:off x="311785" y="4483735"/>
            <a:ext cx="21259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Date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731A5C8-FA37-7AEE-7404-4562A133DD24}"/>
              </a:ext>
            </a:extLst>
          </p:cNvPr>
          <p:cNvSpPr>
            <a:spLocks noGrp="1"/>
          </p:cNvSpPr>
          <p:nvPr/>
        </p:nvSpPr>
        <p:spPr>
          <a:xfrm>
            <a:off x="3512185" y="4483735"/>
            <a:ext cx="3188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RV COLLEGE OF ENGINEERING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B022F9-9F4C-F37A-2274-B38D5F0CA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200" y="214625"/>
            <a:ext cx="4564800" cy="57270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Tools and Technologies</a:t>
            </a:r>
          </a:p>
        </p:txBody>
      </p:sp>
      <p:sp>
        <p:nvSpPr>
          <p:cNvPr id="68" name="Text 2">
            <a:extLst>
              <a:ext uri="{FF2B5EF4-FFF2-40B4-BE49-F238E27FC236}">
                <a16:creationId xmlns:a16="http://schemas.microsoft.com/office/drawing/2014/main" id="{4E94283F-94C5-4316-B69A-2DBFF9E2F010}"/>
              </a:ext>
            </a:extLst>
          </p:cNvPr>
          <p:cNvSpPr/>
          <p:nvPr/>
        </p:nvSpPr>
        <p:spPr>
          <a:xfrm>
            <a:off x="5486400" y="171450"/>
            <a:ext cx="32232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825" dirty="0"/>
          </a:p>
        </p:txBody>
      </p:sp>
      <p:sp>
        <p:nvSpPr>
          <p:cNvPr id="69" name="Shape 3">
            <a:extLst>
              <a:ext uri="{FF2B5EF4-FFF2-40B4-BE49-F238E27FC236}">
                <a16:creationId xmlns:a16="http://schemas.microsoft.com/office/drawing/2014/main" id="{B54DC68E-448B-9A32-63BA-56A4CF074ACA}"/>
              </a:ext>
            </a:extLst>
          </p:cNvPr>
          <p:cNvSpPr/>
          <p:nvPr/>
        </p:nvSpPr>
        <p:spPr>
          <a:xfrm>
            <a:off x="274320" y="788670"/>
            <a:ext cx="1714500" cy="288036"/>
          </a:xfrm>
          <a:prstGeom prst="rect">
            <a:avLst/>
          </a:prstGeom>
          <a:solidFill>
            <a:srgbClr val="1E40A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0" name="Text 4">
            <a:extLst>
              <a:ext uri="{FF2B5EF4-FFF2-40B4-BE49-F238E27FC236}">
                <a16:creationId xmlns:a16="http://schemas.microsoft.com/office/drawing/2014/main" id="{2B574321-A581-AA79-37E2-796CC46284C4}"/>
              </a:ext>
            </a:extLst>
          </p:cNvPr>
          <p:cNvSpPr/>
          <p:nvPr/>
        </p:nvSpPr>
        <p:spPr>
          <a:xfrm>
            <a:off x="350334" y="818407"/>
            <a:ext cx="161163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FFFFFF"/>
                </a:solidFill>
              </a:rPr>
              <a:t>Category</a:t>
            </a:r>
            <a:endParaRPr lang="en-US" sz="825" dirty="0"/>
          </a:p>
        </p:txBody>
      </p:sp>
      <p:sp>
        <p:nvSpPr>
          <p:cNvPr id="71" name="Shape 5">
            <a:extLst>
              <a:ext uri="{FF2B5EF4-FFF2-40B4-BE49-F238E27FC236}">
                <a16:creationId xmlns:a16="http://schemas.microsoft.com/office/drawing/2014/main" id="{F45B8237-8781-9E80-3845-C326D8C2FA67}"/>
              </a:ext>
            </a:extLst>
          </p:cNvPr>
          <p:cNvSpPr/>
          <p:nvPr/>
        </p:nvSpPr>
        <p:spPr>
          <a:xfrm>
            <a:off x="1988820" y="788670"/>
            <a:ext cx="1714500" cy="288036"/>
          </a:xfrm>
          <a:prstGeom prst="rect">
            <a:avLst/>
          </a:prstGeom>
          <a:solidFill>
            <a:srgbClr val="1E40A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2" name="Text 6">
            <a:extLst>
              <a:ext uri="{FF2B5EF4-FFF2-40B4-BE49-F238E27FC236}">
                <a16:creationId xmlns:a16="http://schemas.microsoft.com/office/drawing/2014/main" id="{8BD15017-DF3D-5EFC-B3C5-A2091C5754CF}"/>
              </a:ext>
            </a:extLst>
          </p:cNvPr>
          <p:cNvSpPr/>
          <p:nvPr/>
        </p:nvSpPr>
        <p:spPr>
          <a:xfrm>
            <a:off x="2057400" y="788670"/>
            <a:ext cx="161163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FFFFFF"/>
                </a:solidFill>
              </a:rPr>
              <a:t>Technology</a:t>
            </a:r>
            <a:endParaRPr lang="en-US" sz="825" dirty="0"/>
          </a:p>
        </p:txBody>
      </p:sp>
      <p:sp>
        <p:nvSpPr>
          <p:cNvPr id="73" name="Shape 7">
            <a:extLst>
              <a:ext uri="{FF2B5EF4-FFF2-40B4-BE49-F238E27FC236}">
                <a16:creationId xmlns:a16="http://schemas.microsoft.com/office/drawing/2014/main" id="{DA33B9DB-E2DE-5FC1-8014-3093D077A702}"/>
              </a:ext>
            </a:extLst>
          </p:cNvPr>
          <p:cNvSpPr/>
          <p:nvPr/>
        </p:nvSpPr>
        <p:spPr>
          <a:xfrm>
            <a:off x="3703320" y="788670"/>
            <a:ext cx="5143500" cy="288036"/>
          </a:xfrm>
          <a:prstGeom prst="rect">
            <a:avLst/>
          </a:prstGeom>
          <a:solidFill>
            <a:srgbClr val="1E40A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4" name="Text 8">
            <a:extLst>
              <a:ext uri="{FF2B5EF4-FFF2-40B4-BE49-F238E27FC236}">
                <a16:creationId xmlns:a16="http://schemas.microsoft.com/office/drawing/2014/main" id="{D7F9F133-66EA-AF62-1060-F54091562B76}"/>
              </a:ext>
            </a:extLst>
          </p:cNvPr>
          <p:cNvSpPr/>
          <p:nvPr/>
        </p:nvSpPr>
        <p:spPr>
          <a:xfrm>
            <a:off x="3771900" y="788670"/>
            <a:ext cx="504063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FFFFFF"/>
                </a:solidFill>
              </a:rPr>
              <a:t>Purpose / Usage</a:t>
            </a:r>
            <a:endParaRPr lang="en-US" sz="825" dirty="0"/>
          </a:p>
        </p:txBody>
      </p:sp>
      <p:sp>
        <p:nvSpPr>
          <p:cNvPr id="75" name="Shape 9">
            <a:extLst>
              <a:ext uri="{FF2B5EF4-FFF2-40B4-BE49-F238E27FC236}">
                <a16:creationId xmlns:a16="http://schemas.microsoft.com/office/drawing/2014/main" id="{89B2FF79-BEF9-DDCF-DA67-65B72A608A8A}"/>
              </a:ext>
            </a:extLst>
          </p:cNvPr>
          <p:cNvSpPr/>
          <p:nvPr/>
        </p:nvSpPr>
        <p:spPr>
          <a:xfrm>
            <a:off x="274320" y="1076706"/>
            <a:ext cx="1714500" cy="301752"/>
          </a:xfrm>
          <a:prstGeom prst="rect">
            <a:avLst/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6" name="Text 10">
            <a:extLst>
              <a:ext uri="{FF2B5EF4-FFF2-40B4-BE49-F238E27FC236}">
                <a16:creationId xmlns:a16="http://schemas.microsoft.com/office/drawing/2014/main" id="{4171851A-1856-637D-820C-F175614CDA33}"/>
              </a:ext>
            </a:extLst>
          </p:cNvPr>
          <p:cNvSpPr/>
          <p:nvPr/>
        </p:nvSpPr>
        <p:spPr>
          <a:xfrm>
            <a:off x="342900" y="1076706"/>
            <a:ext cx="16116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b="1" dirty="0">
                <a:solidFill>
                  <a:srgbClr val="FFFFFF"/>
                </a:solidFill>
              </a:rPr>
              <a:t>Core Language</a:t>
            </a:r>
            <a:endParaRPr lang="en-US" sz="713" dirty="0"/>
          </a:p>
        </p:txBody>
      </p:sp>
      <p:sp>
        <p:nvSpPr>
          <p:cNvPr id="77" name="Shape 11">
            <a:extLst>
              <a:ext uri="{FF2B5EF4-FFF2-40B4-BE49-F238E27FC236}">
                <a16:creationId xmlns:a16="http://schemas.microsoft.com/office/drawing/2014/main" id="{C9315250-E9D4-261B-45F9-C0C9C3EAB947}"/>
              </a:ext>
            </a:extLst>
          </p:cNvPr>
          <p:cNvSpPr/>
          <p:nvPr/>
        </p:nvSpPr>
        <p:spPr>
          <a:xfrm>
            <a:off x="1988820" y="1076706"/>
            <a:ext cx="1714500" cy="30175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E20D45F1-040B-0047-0329-079DE82E0852}"/>
              </a:ext>
            </a:extLst>
          </p:cNvPr>
          <p:cNvSpPr/>
          <p:nvPr/>
        </p:nvSpPr>
        <p:spPr>
          <a:xfrm>
            <a:off x="2057400" y="1076706"/>
            <a:ext cx="16116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2563EB"/>
                </a:solidFill>
              </a:rPr>
              <a:t>Python</a:t>
            </a:r>
            <a:endParaRPr lang="en-US" sz="750" dirty="0"/>
          </a:p>
        </p:txBody>
      </p:sp>
      <p:sp>
        <p:nvSpPr>
          <p:cNvPr id="79" name="Shape 13">
            <a:extLst>
              <a:ext uri="{FF2B5EF4-FFF2-40B4-BE49-F238E27FC236}">
                <a16:creationId xmlns:a16="http://schemas.microsoft.com/office/drawing/2014/main" id="{63AADB55-08B2-4389-8AD9-83987CBCD8CB}"/>
              </a:ext>
            </a:extLst>
          </p:cNvPr>
          <p:cNvSpPr/>
          <p:nvPr/>
        </p:nvSpPr>
        <p:spPr>
          <a:xfrm>
            <a:off x="3703320" y="1076706"/>
            <a:ext cx="5143500" cy="30175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0" name="Text 14">
            <a:extLst>
              <a:ext uri="{FF2B5EF4-FFF2-40B4-BE49-F238E27FC236}">
                <a16:creationId xmlns:a16="http://schemas.microsoft.com/office/drawing/2014/main" id="{0B688629-7802-74D2-D69D-1C311CEE33A9}"/>
              </a:ext>
            </a:extLst>
          </p:cNvPr>
          <p:cNvSpPr/>
          <p:nvPr/>
        </p:nvSpPr>
        <p:spPr>
          <a:xfrm>
            <a:off x="3785616" y="1076706"/>
            <a:ext cx="50063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1E293B"/>
                </a:solidFill>
              </a:rPr>
              <a:t>Main programming language for model training and web application logic.</a:t>
            </a:r>
            <a:endParaRPr lang="en-US" sz="713" dirty="0"/>
          </a:p>
        </p:txBody>
      </p:sp>
      <p:sp>
        <p:nvSpPr>
          <p:cNvPr id="81" name="Shape 15">
            <a:extLst>
              <a:ext uri="{FF2B5EF4-FFF2-40B4-BE49-F238E27FC236}">
                <a16:creationId xmlns:a16="http://schemas.microsoft.com/office/drawing/2014/main" id="{2A5808C2-70B5-9461-1799-A57298690402}"/>
              </a:ext>
            </a:extLst>
          </p:cNvPr>
          <p:cNvSpPr/>
          <p:nvPr/>
        </p:nvSpPr>
        <p:spPr>
          <a:xfrm>
            <a:off x="274320" y="1378458"/>
            <a:ext cx="1714500" cy="301752"/>
          </a:xfrm>
          <a:prstGeom prst="rect">
            <a:avLst/>
          </a:prstGeom>
          <a:solidFill>
            <a:srgbClr val="7C3AE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2" name="Text 16">
            <a:extLst>
              <a:ext uri="{FF2B5EF4-FFF2-40B4-BE49-F238E27FC236}">
                <a16:creationId xmlns:a16="http://schemas.microsoft.com/office/drawing/2014/main" id="{29DD5E31-A1B5-5AB2-E101-1BD1577D1BE3}"/>
              </a:ext>
            </a:extLst>
          </p:cNvPr>
          <p:cNvSpPr/>
          <p:nvPr/>
        </p:nvSpPr>
        <p:spPr>
          <a:xfrm>
            <a:off x="342900" y="1378458"/>
            <a:ext cx="16116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b="1" dirty="0">
                <a:solidFill>
                  <a:srgbClr val="FFFFFF"/>
                </a:solidFill>
              </a:rPr>
              <a:t>ML / AI</a:t>
            </a:r>
            <a:endParaRPr lang="en-US" sz="713" dirty="0"/>
          </a:p>
        </p:txBody>
      </p:sp>
      <p:sp>
        <p:nvSpPr>
          <p:cNvPr id="83" name="Shape 17">
            <a:extLst>
              <a:ext uri="{FF2B5EF4-FFF2-40B4-BE49-F238E27FC236}">
                <a16:creationId xmlns:a16="http://schemas.microsoft.com/office/drawing/2014/main" id="{47977258-42EA-6E1A-503B-204E1AEA86D5}"/>
              </a:ext>
            </a:extLst>
          </p:cNvPr>
          <p:cNvSpPr/>
          <p:nvPr/>
        </p:nvSpPr>
        <p:spPr>
          <a:xfrm>
            <a:off x="1988820" y="1378458"/>
            <a:ext cx="17145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4" name="Text 18">
            <a:extLst>
              <a:ext uri="{FF2B5EF4-FFF2-40B4-BE49-F238E27FC236}">
                <a16:creationId xmlns:a16="http://schemas.microsoft.com/office/drawing/2014/main" id="{65B10DB7-B5D9-C8C2-1902-288ACD2A1D76}"/>
              </a:ext>
            </a:extLst>
          </p:cNvPr>
          <p:cNvSpPr/>
          <p:nvPr/>
        </p:nvSpPr>
        <p:spPr>
          <a:xfrm>
            <a:off x="2057400" y="1378458"/>
            <a:ext cx="16116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2563EB"/>
                </a:solidFill>
              </a:rPr>
              <a:t>TensorFlow / Keras</a:t>
            </a:r>
            <a:endParaRPr lang="en-US" sz="750" dirty="0"/>
          </a:p>
        </p:txBody>
      </p:sp>
      <p:sp>
        <p:nvSpPr>
          <p:cNvPr id="85" name="Shape 19">
            <a:extLst>
              <a:ext uri="{FF2B5EF4-FFF2-40B4-BE49-F238E27FC236}">
                <a16:creationId xmlns:a16="http://schemas.microsoft.com/office/drawing/2014/main" id="{E7D5215E-27FE-33B0-6AB7-84004F05DF23}"/>
              </a:ext>
            </a:extLst>
          </p:cNvPr>
          <p:cNvSpPr/>
          <p:nvPr/>
        </p:nvSpPr>
        <p:spPr>
          <a:xfrm>
            <a:off x="3703320" y="1378458"/>
            <a:ext cx="51435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6" name="Text 20">
            <a:extLst>
              <a:ext uri="{FF2B5EF4-FFF2-40B4-BE49-F238E27FC236}">
                <a16:creationId xmlns:a16="http://schemas.microsoft.com/office/drawing/2014/main" id="{11E9F42B-0526-9489-17A3-D88ABDAF30A4}"/>
              </a:ext>
            </a:extLst>
          </p:cNvPr>
          <p:cNvSpPr/>
          <p:nvPr/>
        </p:nvSpPr>
        <p:spPr>
          <a:xfrm>
            <a:off x="3785616" y="1378458"/>
            <a:ext cx="50063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1E293B"/>
                </a:solidFill>
              </a:rPr>
              <a:t>Build, train, and run the CNN model for malaria classification.</a:t>
            </a:r>
            <a:endParaRPr lang="en-US" sz="713" dirty="0"/>
          </a:p>
        </p:txBody>
      </p:sp>
      <p:sp>
        <p:nvSpPr>
          <p:cNvPr id="87" name="Shape 21">
            <a:extLst>
              <a:ext uri="{FF2B5EF4-FFF2-40B4-BE49-F238E27FC236}">
                <a16:creationId xmlns:a16="http://schemas.microsoft.com/office/drawing/2014/main" id="{7FFBF2A1-477E-BEC4-A754-203C6D7A439A}"/>
              </a:ext>
            </a:extLst>
          </p:cNvPr>
          <p:cNvSpPr/>
          <p:nvPr/>
        </p:nvSpPr>
        <p:spPr>
          <a:xfrm>
            <a:off x="274320" y="1680210"/>
            <a:ext cx="1714500" cy="301752"/>
          </a:xfrm>
          <a:prstGeom prst="rect">
            <a:avLst/>
          </a:prstGeom>
          <a:solidFill>
            <a:srgbClr val="0891B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8" name="Text 22">
            <a:extLst>
              <a:ext uri="{FF2B5EF4-FFF2-40B4-BE49-F238E27FC236}">
                <a16:creationId xmlns:a16="http://schemas.microsoft.com/office/drawing/2014/main" id="{D180C677-5A49-05DE-72D7-1B49259EA130}"/>
              </a:ext>
            </a:extLst>
          </p:cNvPr>
          <p:cNvSpPr/>
          <p:nvPr/>
        </p:nvSpPr>
        <p:spPr>
          <a:xfrm>
            <a:off x="342900" y="1680210"/>
            <a:ext cx="16116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b="1" dirty="0">
                <a:solidFill>
                  <a:srgbClr val="FFFFFF"/>
                </a:solidFill>
              </a:rPr>
              <a:t>Web Framework</a:t>
            </a:r>
            <a:endParaRPr lang="en-US" sz="713" dirty="0"/>
          </a:p>
        </p:txBody>
      </p:sp>
      <p:sp>
        <p:nvSpPr>
          <p:cNvPr id="89" name="Shape 23">
            <a:extLst>
              <a:ext uri="{FF2B5EF4-FFF2-40B4-BE49-F238E27FC236}">
                <a16:creationId xmlns:a16="http://schemas.microsoft.com/office/drawing/2014/main" id="{F722BF79-4934-FC84-5167-4AE19A493F16}"/>
              </a:ext>
            </a:extLst>
          </p:cNvPr>
          <p:cNvSpPr/>
          <p:nvPr/>
        </p:nvSpPr>
        <p:spPr>
          <a:xfrm>
            <a:off x="1988820" y="1680210"/>
            <a:ext cx="1714500" cy="30175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0" name="Text 24">
            <a:extLst>
              <a:ext uri="{FF2B5EF4-FFF2-40B4-BE49-F238E27FC236}">
                <a16:creationId xmlns:a16="http://schemas.microsoft.com/office/drawing/2014/main" id="{46A76638-9977-AE69-6A98-0BE1A13DF34F}"/>
              </a:ext>
            </a:extLst>
          </p:cNvPr>
          <p:cNvSpPr/>
          <p:nvPr/>
        </p:nvSpPr>
        <p:spPr>
          <a:xfrm>
            <a:off x="2057400" y="1680210"/>
            <a:ext cx="16116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2563EB"/>
                </a:solidFill>
              </a:rPr>
              <a:t>Flask</a:t>
            </a:r>
            <a:endParaRPr lang="en-US" sz="750" dirty="0"/>
          </a:p>
        </p:txBody>
      </p:sp>
      <p:sp>
        <p:nvSpPr>
          <p:cNvPr id="91" name="Shape 25">
            <a:extLst>
              <a:ext uri="{FF2B5EF4-FFF2-40B4-BE49-F238E27FC236}">
                <a16:creationId xmlns:a16="http://schemas.microsoft.com/office/drawing/2014/main" id="{9BCBBB3E-9D64-956E-6193-2BE3EF74B840}"/>
              </a:ext>
            </a:extLst>
          </p:cNvPr>
          <p:cNvSpPr/>
          <p:nvPr/>
        </p:nvSpPr>
        <p:spPr>
          <a:xfrm>
            <a:off x="3703320" y="1680210"/>
            <a:ext cx="5143500" cy="30175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2" name="Text 26">
            <a:extLst>
              <a:ext uri="{FF2B5EF4-FFF2-40B4-BE49-F238E27FC236}">
                <a16:creationId xmlns:a16="http://schemas.microsoft.com/office/drawing/2014/main" id="{EED788AC-011A-B058-CBBA-27C0A3FEF5CB}"/>
              </a:ext>
            </a:extLst>
          </p:cNvPr>
          <p:cNvSpPr/>
          <p:nvPr/>
        </p:nvSpPr>
        <p:spPr>
          <a:xfrm>
            <a:off x="3785616" y="1680210"/>
            <a:ext cx="50063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1E293B"/>
                </a:solidFill>
              </a:rPr>
              <a:t>Web framework used to create the malaria detection web application.</a:t>
            </a:r>
            <a:endParaRPr lang="en-US" sz="713" dirty="0"/>
          </a:p>
        </p:txBody>
      </p:sp>
      <p:sp>
        <p:nvSpPr>
          <p:cNvPr id="93" name="Shape 27">
            <a:extLst>
              <a:ext uri="{FF2B5EF4-FFF2-40B4-BE49-F238E27FC236}">
                <a16:creationId xmlns:a16="http://schemas.microsoft.com/office/drawing/2014/main" id="{B10628EC-3AA1-022F-5BC7-DED7298CCE29}"/>
              </a:ext>
            </a:extLst>
          </p:cNvPr>
          <p:cNvSpPr/>
          <p:nvPr/>
        </p:nvSpPr>
        <p:spPr>
          <a:xfrm>
            <a:off x="274320" y="1981962"/>
            <a:ext cx="1714500" cy="301752"/>
          </a:xfrm>
          <a:prstGeom prst="rect">
            <a:avLst/>
          </a:prstGeom>
          <a:solidFill>
            <a:srgbClr val="0D948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4" name="Text 28">
            <a:extLst>
              <a:ext uri="{FF2B5EF4-FFF2-40B4-BE49-F238E27FC236}">
                <a16:creationId xmlns:a16="http://schemas.microsoft.com/office/drawing/2014/main" id="{AD0049C1-5860-00DD-C364-C253AEF6F0DB}"/>
              </a:ext>
            </a:extLst>
          </p:cNvPr>
          <p:cNvSpPr/>
          <p:nvPr/>
        </p:nvSpPr>
        <p:spPr>
          <a:xfrm>
            <a:off x="342900" y="1981962"/>
            <a:ext cx="16116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b="1" dirty="0">
                <a:solidFill>
                  <a:srgbClr val="FFFFFF"/>
                </a:solidFill>
              </a:rPr>
              <a:t>Frontend</a:t>
            </a:r>
            <a:endParaRPr lang="en-US" sz="713" dirty="0"/>
          </a:p>
        </p:txBody>
      </p:sp>
      <p:sp>
        <p:nvSpPr>
          <p:cNvPr id="95" name="Shape 29">
            <a:extLst>
              <a:ext uri="{FF2B5EF4-FFF2-40B4-BE49-F238E27FC236}">
                <a16:creationId xmlns:a16="http://schemas.microsoft.com/office/drawing/2014/main" id="{9E9367C0-A512-6C9B-D3CF-55EA592DB721}"/>
              </a:ext>
            </a:extLst>
          </p:cNvPr>
          <p:cNvSpPr/>
          <p:nvPr/>
        </p:nvSpPr>
        <p:spPr>
          <a:xfrm>
            <a:off x="1988820" y="1981962"/>
            <a:ext cx="17145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6" name="Text 30">
            <a:extLst>
              <a:ext uri="{FF2B5EF4-FFF2-40B4-BE49-F238E27FC236}">
                <a16:creationId xmlns:a16="http://schemas.microsoft.com/office/drawing/2014/main" id="{BAAF3F56-6CBC-57A1-A78F-12F4ACB6DA2D}"/>
              </a:ext>
            </a:extLst>
          </p:cNvPr>
          <p:cNvSpPr/>
          <p:nvPr/>
        </p:nvSpPr>
        <p:spPr>
          <a:xfrm>
            <a:off x="2057400" y="1981962"/>
            <a:ext cx="16116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2563EB"/>
                </a:solidFill>
              </a:rPr>
              <a:t>HTML, CSS, Bootstrap</a:t>
            </a:r>
            <a:endParaRPr lang="en-US" sz="750" dirty="0"/>
          </a:p>
        </p:txBody>
      </p:sp>
      <p:sp>
        <p:nvSpPr>
          <p:cNvPr id="97" name="Shape 31">
            <a:extLst>
              <a:ext uri="{FF2B5EF4-FFF2-40B4-BE49-F238E27FC236}">
                <a16:creationId xmlns:a16="http://schemas.microsoft.com/office/drawing/2014/main" id="{A0A4E0B5-C9A4-4C26-FE62-6AE6EAC9788C}"/>
              </a:ext>
            </a:extLst>
          </p:cNvPr>
          <p:cNvSpPr/>
          <p:nvPr/>
        </p:nvSpPr>
        <p:spPr>
          <a:xfrm>
            <a:off x="3703320" y="1981962"/>
            <a:ext cx="51435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8" name="Text 32">
            <a:extLst>
              <a:ext uri="{FF2B5EF4-FFF2-40B4-BE49-F238E27FC236}">
                <a16:creationId xmlns:a16="http://schemas.microsoft.com/office/drawing/2014/main" id="{725216F3-A0D1-B908-F575-B87EADDB9B4F}"/>
              </a:ext>
            </a:extLst>
          </p:cNvPr>
          <p:cNvSpPr/>
          <p:nvPr/>
        </p:nvSpPr>
        <p:spPr>
          <a:xfrm>
            <a:off x="3785616" y="1981962"/>
            <a:ext cx="50063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1E293B"/>
                </a:solidFill>
              </a:rPr>
              <a:t>Design the user interface and make the application responsive.</a:t>
            </a:r>
            <a:endParaRPr lang="en-US" sz="713" dirty="0"/>
          </a:p>
        </p:txBody>
      </p:sp>
      <p:sp>
        <p:nvSpPr>
          <p:cNvPr id="99" name="Shape 33">
            <a:extLst>
              <a:ext uri="{FF2B5EF4-FFF2-40B4-BE49-F238E27FC236}">
                <a16:creationId xmlns:a16="http://schemas.microsoft.com/office/drawing/2014/main" id="{1E37E977-5E7A-9F74-7761-4F165183462A}"/>
              </a:ext>
            </a:extLst>
          </p:cNvPr>
          <p:cNvSpPr/>
          <p:nvPr/>
        </p:nvSpPr>
        <p:spPr>
          <a:xfrm>
            <a:off x="274320" y="2283714"/>
            <a:ext cx="1714500" cy="301752"/>
          </a:xfrm>
          <a:prstGeom prst="rect">
            <a:avLst/>
          </a:prstGeom>
          <a:solidFill>
            <a:srgbClr val="D9770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0" name="Text 34">
            <a:extLst>
              <a:ext uri="{FF2B5EF4-FFF2-40B4-BE49-F238E27FC236}">
                <a16:creationId xmlns:a16="http://schemas.microsoft.com/office/drawing/2014/main" id="{98D8F2FB-81E8-0C41-5217-2A7E5E215A94}"/>
              </a:ext>
            </a:extLst>
          </p:cNvPr>
          <p:cNvSpPr/>
          <p:nvPr/>
        </p:nvSpPr>
        <p:spPr>
          <a:xfrm>
            <a:off x="342900" y="2283714"/>
            <a:ext cx="16116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b="1" dirty="0">
                <a:solidFill>
                  <a:srgbClr val="FFFFFF"/>
                </a:solidFill>
              </a:rPr>
              <a:t>Data Processing</a:t>
            </a:r>
            <a:endParaRPr lang="en-US" sz="713" dirty="0"/>
          </a:p>
        </p:txBody>
      </p:sp>
      <p:sp>
        <p:nvSpPr>
          <p:cNvPr id="101" name="Shape 35">
            <a:extLst>
              <a:ext uri="{FF2B5EF4-FFF2-40B4-BE49-F238E27FC236}">
                <a16:creationId xmlns:a16="http://schemas.microsoft.com/office/drawing/2014/main" id="{EBE13D2C-FB85-D611-56E5-21260B724550}"/>
              </a:ext>
            </a:extLst>
          </p:cNvPr>
          <p:cNvSpPr/>
          <p:nvPr/>
        </p:nvSpPr>
        <p:spPr>
          <a:xfrm>
            <a:off x="1988820" y="2283714"/>
            <a:ext cx="1714500" cy="30175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2" name="Text 36">
            <a:extLst>
              <a:ext uri="{FF2B5EF4-FFF2-40B4-BE49-F238E27FC236}">
                <a16:creationId xmlns:a16="http://schemas.microsoft.com/office/drawing/2014/main" id="{B133BB93-7738-8077-EA04-1C2174820183}"/>
              </a:ext>
            </a:extLst>
          </p:cNvPr>
          <p:cNvSpPr/>
          <p:nvPr/>
        </p:nvSpPr>
        <p:spPr>
          <a:xfrm>
            <a:off x="2057400" y="2283714"/>
            <a:ext cx="16116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2563EB"/>
                </a:solidFill>
              </a:rPr>
              <a:t>NumPy</a:t>
            </a:r>
            <a:endParaRPr lang="en-US" sz="750" dirty="0"/>
          </a:p>
        </p:txBody>
      </p:sp>
      <p:sp>
        <p:nvSpPr>
          <p:cNvPr id="103" name="Shape 37">
            <a:extLst>
              <a:ext uri="{FF2B5EF4-FFF2-40B4-BE49-F238E27FC236}">
                <a16:creationId xmlns:a16="http://schemas.microsoft.com/office/drawing/2014/main" id="{CAEEA11B-4575-F76F-61FD-E5FA7B3F6A4D}"/>
              </a:ext>
            </a:extLst>
          </p:cNvPr>
          <p:cNvSpPr/>
          <p:nvPr/>
        </p:nvSpPr>
        <p:spPr>
          <a:xfrm>
            <a:off x="3703320" y="2283714"/>
            <a:ext cx="5143500" cy="30175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4" name="Text 38">
            <a:extLst>
              <a:ext uri="{FF2B5EF4-FFF2-40B4-BE49-F238E27FC236}">
                <a16:creationId xmlns:a16="http://schemas.microsoft.com/office/drawing/2014/main" id="{5631E1F1-6AB1-9EC2-CF53-31164D45646B}"/>
              </a:ext>
            </a:extLst>
          </p:cNvPr>
          <p:cNvSpPr/>
          <p:nvPr/>
        </p:nvSpPr>
        <p:spPr>
          <a:xfrm>
            <a:off x="3785616" y="2283714"/>
            <a:ext cx="50063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1E293B"/>
                </a:solidFill>
              </a:rPr>
              <a:t>Numerical operations and handling model output arrays.</a:t>
            </a:r>
            <a:endParaRPr lang="en-US" sz="713" dirty="0"/>
          </a:p>
        </p:txBody>
      </p:sp>
      <p:sp>
        <p:nvSpPr>
          <p:cNvPr id="105" name="Shape 39">
            <a:extLst>
              <a:ext uri="{FF2B5EF4-FFF2-40B4-BE49-F238E27FC236}">
                <a16:creationId xmlns:a16="http://schemas.microsoft.com/office/drawing/2014/main" id="{BEF38E89-22E4-2FA0-8DE1-49539D91D4A3}"/>
              </a:ext>
            </a:extLst>
          </p:cNvPr>
          <p:cNvSpPr/>
          <p:nvPr/>
        </p:nvSpPr>
        <p:spPr>
          <a:xfrm>
            <a:off x="274320" y="2585466"/>
            <a:ext cx="1714500" cy="301752"/>
          </a:xfrm>
          <a:prstGeom prst="rect">
            <a:avLst/>
          </a:prstGeom>
          <a:solidFill>
            <a:srgbClr val="D9770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6" name="Text 40">
            <a:extLst>
              <a:ext uri="{FF2B5EF4-FFF2-40B4-BE49-F238E27FC236}">
                <a16:creationId xmlns:a16="http://schemas.microsoft.com/office/drawing/2014/main" id="{D8C711FF-52FD-13DD-7A34-B45036A8AD5B}"/>
              </a:ext>
            </a:extLst>
          </p:cNvPr>
          <p:cNvSpPr/>
          <p:nvPr/>
        </p:nvSpPr>
        <p:spPr>
          <a:xfrm>
            <a:off x="342900" y="2585466"/>
            <a:ext cx="16116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b="1" dirty="0">
                <a:solidFill>
                  <a:srgbClr val="FFFFFF"/>
                </a:solidFill>
              </a:rPr>
              <a:t>Data Processing</a:t>
            </a:r>
            <a:endParaRPr lang="en-US" sz="713" dirty="0"/>
          </a:p>
        </p:txBody>
      </p:sp>
      <p:sp>
        <p:nvSpPr>
          <p:cNvPr id="107" name="Shape 41">
            <a:extLst>
              <a:ext uri="{FF2B5EF4-FFF2-40B4-BE49-F238E27FC236}">
                <a16:creationId xmlns:a16="http://schemas.microsoft.com/office/drawing/2014/main" id="{BAAB94F7-2F2B-483B-4077-F600C3FBA24E}"/>
              </a:ext>
            </a:extLst>
          </p:cNvPr>
          <p:cNvSpPr/>
          <p:nvPr/>
        </p:nvSpPr>
        <p:spPr>
          <a:xfrm>
            <a:off x="1988820" y="2585466"/>
            <a:ext cx="17145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8" name="Text 42">
            <a:extLst>
              <a:ext uri="{FF2B5EF4-FFF2-40B4-BE49-F238E27FC236}">
                <a16:creationId xmlns:a16="http://schemas.microsoft.com/office/drawing/2014/main" id="{5EC50431-2ED7-AC17-1EB7-4D1CFAB3A18C}"/>
              </a:ext>
            </a:extLst>
          </p:cNvPr>
          <p:cNvSpPr/>
          <p:nvPr/>
        </p:nvSpPr>
        <p:spPr>
          <a:xfrm>
            <a:off x="2057400" y="2585466"/>
            <a:ext cx="16116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2563EB"/>
                </a:solidFill>
              </a:rPr>
              <a:t>Pillow (PIL)</a:t>
            </a:r>
            <a:endParaRPr lang="en-US" sz="750" dirty="0"/>
          </a:p>
        </p:txBody>
      </p:sp>
      <p:sp>
        <p:nvSpPr>
          <p:cNvPr id="109" name="Shape 43">
            <a:extLst>
              <a:ext uri="{FF2B5EF4-FFF2-40B4-BE49-F238E27FC236}">
                <a16:creationId xmlns:a16="http://schemas.microsoft.com/office/drawing/2014/main" id="{974B6BC8-ABA4-2993-71BF-2B51CD73B9ED}"/>
              </a:ext>
            </a:extLst>
          </p:cNvPr>
          <p:cNvSpPr/>
          <p:nvPr/>
        </p:nvSpPr>
        <p:spPr>
          <a:xfrm>
            <a:off x="3703320" y="2585466"/>
            <a:ext cx="51435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0" name="Text 44">
            <a:extLst>
              <a:ext uri="{FF2B5EF4-FFF2-40B4-BE49-F238E27FC236}">
                <a16:creationId xmlns:a16="http://schemas.microsoft.com/office/drawing/2014/main" id="{7D26AB87-55EF-6384-DB7B-88F85D11FF6D}"/>
              </a:ext>
            </a:extLst>
          </p:cNvPr>
          <p:cNvSpPr/>
          <p:nvPr/>
        </p:nvSpPr>
        <p:spPr>
          <a:xfrm>
            <a:off x="3785616" y="2585466"/>
            <a:ext cx="50063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1E293B"/>
                </a:solidFill>
              </a:rPr>
              <a:t>Image loading, resizing, and preprocessing before inference.</a:t>
            </a:r>
            <a:endParaRPr lang="en-US" sz="713" dirty="0"/>
          </a:p>
        </p:txBody>
      </p:sp>
      <p:sp>
        <p:nvSpPr>
          <p:cNvPr id="111" name="Shape 45">
            <a:extLst>
              <a:ext uri="{FF2B5EF4-FFF2-40B4-BE49-F238E27FC236}">
                <a16:creationId xmlns:a16="http://schemas.microsoft.com/office/drawing/2014/main" id="{F136BD13-B6E0-766C-C321-E0DC6EED7B1B}"/>
              </a:ext>
            </a:extLst>
          </p:cNvPr>
          <p:cNvSpPr/>
          <p:nvPr/>
        </p:nvSpPr>
        <p:spPr>
          <a:xfrm>
            <a:off x="274320" y="2887218"/>
            <a:ext cx="1714500" cy="301752"/>
          </a:xfrm>
          <a:prstGeom prst="rect">
            <a:avLst/>
          </a:prstGeom>
          <a:solidFill>
            <a:srgbClr val="DC262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2" name="Text 46">
            <a:extLst>
              <a:ext uri="{FF2B5EF4-FFF2-40B4-BE49-F238E27FC236}">
                <a16:creationId xmlns:a16="http://schemas.microsoft.com/office/drawing/2014/main" id="{727E759D-1E35-387E-90BA-4BE1169EF177}"/>
              </a:ext>
            </a:extLst>
          </p:cNvPr>
          <p:cNvSpPr/>
          <p:nvPr/>
        </p:nvSpPr>
        <p:spPr>
          <a:xfrm>
            <a:off x="342900" y="2887218"/>
            <a:ext cx="16116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b="1" dirty="0">
                <a:solidFill>
                  <a:srgbClr val="FFFFFF"/>
                </a:solidFill>
              </a:rPr>
              <a:t>Database &amp; Auth</a:t>
            </a:r>
            <a:endParaRPr lang="en-US" sz="713" dirty="0"/>
          </a:p>
        </p:txBody>
      </p:sp>
      <p:sp>
        <p:nvSpPr>
          <p:cNvPr id="113" name="Shape 47">
            <a:extLst>
              <a:ext uri="{FF2B5EF4-FFF2-40B4-BE49-F238E27FC236}">
                <a16:creationId xmlns:a16="http://schemas.microsoft.com/office/drawing/2014/main" id="{4DC3179A-C6D0-DDF9-0E62-4935684ED20F}"/>
              </a:ext>
            </a:extLst>
          </p:cNvPr>
          <p:cNvSpPr/>
          <p:nvPr/>
        </p:nvSpPr>
        <p:spPr>
          <a:xfrm>
            <a:off x="1988820" y="2887218"/>
            <a:ext cx="1714500" cy="30175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4" name="Text 48">
            <a:extLst>
              <a:ext uri="{FF2B5EF4-FFF2-40B4-BE49-F238E27FC236}">
                <a16:creationId xmlns:a16="http://schemas.microsoft.com/office/drawing/2014/main" id="{F8EBD544-1365-EDBD-39E3-A7617758F992}"/>
              </a:ext>
            </a:extLst>
          </p:cNvPr>
          <p:cNvSpPr/>
          <p:nvPr/>
        </p:nvSpPr>
        <p:spPr>
          <a:xfrm>
            <a:off x="2057400" y="2887218"/>
            <a:ext cx="16116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2563EB"/>
                </a:solidFill>
              </a:rPr>
              <a:t>MySQL</a:t>
            </a:r>
            <a:endParaRPr lang="en-US" sz="750" dirty="0"/>
          </a:p>
        </p:txBody>
      </p:sp>
      <p:sp>
        <p:nvSpPr>
          <p:cNvPr id="115" name="Shape 49">
            <a:extLst>
              <a:ext uri="{FF2B5EF4-FFF2-40B4-BE49-F238E27FC236}">
                <a16:creationId xmlns:a16="http://schemas.microsoft.com/office/drawing/2014/main" id="{E1985F74-8597-326E-D6BB-A32722636B8E}"/>
              </a:ext>
            </a:extLst>
          </p:cNvPr>
          <p:cNvSpPr/>
          <p:nvPr/>
        </p:nvSpPr>
        <p:spPr>
          <a:xfrm>
            <a:off x="3703320" y="2887218"/>
            <a:ext cx="5143500" cy="30175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6" name="Text 50">
            <a:extLst>
              <a:ext uri="{FF2B5EF4-FFF2-40B4-BE49-F238E27FC236}">
                <a16:creationId xmlns:a16="http://schemas.microsoft.com/office/drawing/2014/main" id="{35DC6B6D-B2C8-09A6-EFEB-A1282DD61E0D}"/>
              </a:ext>
            </a:extLst>
          </p:cNvPr>
          <p:cNvSpPr/>
          <p:nvPr/>
        </p:nvSpPr>
        <p:spPr>
          <a:xfrm>
            <a:off x="3785616" y="2887218"/>
            <a:ext cx="50063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1E293B"/>
                </a:solidFill>
              </a:rPr>
              <a:t>Storing user and application-related data persistently.</a:t>
            </a:r>
            <a:endParaRPr lang="en-US" sz="713" dirty="0"/>
          </a:p>
        </p:txBody>
      </p:sp>
      <p:sp>
        <p:nvSpPr>
          <p:cNvPr id="117" name="Shape 51">
            <a:extLst>
              <a:ext uri="{FF2B5EF4-FFF2-40B4-BE49-F238E27FC236}">
                <a16:creationId xmlns:a16="http://schemas.microsoft.com/office/drawing/2014/main" id="{219CEC71-0635-B8C4-743C-A8F35001B916}"/>
              </a:ext>
            </a:extLst>
          </p:cNvPr>
          <p:cNvSpPr/>
          <p:nvPr/>
        </p:nvSpPr>
        <p:spPr>
          <a:xfrm>
            <a:off x="274320" y="3188970"/>
            <a:ext cx="1714500" cy="301752"/>
          </a:xfrm>
          <a:prstGeom prst="rect">
            <a:avLst/>
          </a:prstGeom>
          <a:solidFill>
            <a:srgbClr val="DC262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8" name="Text 52">
            <a:extLst>
              <a:ext uri="{FF2B5EF4-FFF2-40B4-BE49-F238E27FC236}">
                <a16:creationId xmlns:a16="http://schemas.microsoft.com/office/drawing/2014/main" id="{A29C6B4F-06FB-2B25-A291-0752C74466EF}"/>
              </a:ext>
            </a:extLst>
          </p:cNvPr>
          <p:cNvSpPr/>
          <p:nvPr/>
        </p:nvSpPr>
        <p:spPr>
          <a:xfrm>
            <a:off x="342900" y="3188970"/>
            <a:ext cx="16116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b="1" dirty="0">
                <a:solidFill>
                  <a:srgbClr val="FFFFFF"/>
                </a:solidFill>
              </a:rPr>
              <a:t>Database &amp; Auth</a:t>
            </a:r>
            <a:endParaRPr lang="en-US" sz="713" dirty="0"/>
          </a:p>
        </p:txBody>
      </p:sp>
      <p:sp>
        <p:nvSpPr>
          <p:cNvPr id="119" name="Shape 53">
            <a:extLst>
              <a:ext uri="{FF2B5EF4-FFF2-40B4-BE49-F238E27FC236}">
                <a16:creationId xmlns:a16="http://schemas.microsoft.com/office/drawing/2014/main" id="{EA282D9D-AC68-B0D7-AE6D-BC7B3B0B1906}"/>
              </a:ext>
            </a:extLst>
          </p:cNvPr>
          <p:cNvSpPr/>
          <p:nvPr/>
        </p:nvSpPr>
        <p:spPr>
          <a:xfrm>
            <a:off x="1988820" y="3188970"/>
            <a:ext cx="17145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0" name="Text 54">
            <a:extLst>
              <a:ext uri="{FF2B5EF4-FFF2-40B4-BE49-F238E27FC236}">
                <a16:creationId xmlns:a16="http://schemas.microsoft.com/office/drawing/2014/main" id="{2222804B-738F-3848-D2E8-830620795435}"/>
              </a:ext>
            </a:extLst>
          </p:cNvPr>
          <p:cNvSpPr/>
          <p:nvPr/>
        </p:nvSpPr>
        <p:spPr>
          <a:xfrm>
            <a:off x="2057400" y="3188970"/>
            <a:ext cx="16116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2563EB"/>
                </a:solidFill>
              </a:rPr>
              <a:t>JWT</a:t>
            </a:r>
            <a:endParaRPr lang="en-US" sz="750" dirty="0"/>
          </a:p>
        </p:txBody>
      </p:sp>
      <p:sp>
        <p:nvSpPr>
          <p:cNvPr id="121" name="Shape 55">
            <a:extLst>
              <a:ext uri="{FF2B5EF4-FFF2-40B4-BE49-F238E27FC236}">
                <a16:creationId xmlns:a16="http://schemas.microsoft.com/office/drawing/2014/main" id="{022569D6-9F96-5E99-AB1D-3F7E0FAB5383}"/>
              </a:ext>
            </a:extLst>
          </p:cNvPr>
          <p:cNvSpPr/>
          <p:nvPr/>
        </p:nvSpPr>
        <p:spPr>
          <a:xfrm>
            <a:off x="3703320" y="3188970"/>
            <a:ext cx="51435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2" name="Text 56">
            <a:extLst>
              <a:ext uri="{FF2B5EF4-FFF2-40B4-BE49-F238E27FC236}">
                <a16:creationId xmlns:a16="http://schemas.microsoft.com/office/drawing/2014/main" id="{51F47F7C-6F91-458D-A8B1-BFD8A7525F72}"/>
              </a:ext>
            </a:extLst>
          </p:cNvPr>
          <p:cNvSpPr/>
          <p:nvPr/>
        </p:nvSpPr>
        <p:spPr>
          <a:xfrm>
            <a:off x="3785616" y="3188970"/>
            <a:ext cx="50063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1E293B"/>
                </a:solidFill>
              </a:rPr>
              <a:t>Secure authentication and session handling.</a:t>
            </a:r>
            <a:endParaRPr lang="en-US" sz="713" dirty="0"/>
          </a:p>
        </p:txBody>
      </p:sp>
      <p:sp>
        <p:nvSpPr>
          <p:cNvPr id="123" name="Shape 57">
            <a:extLst>
              <a:ext uri="{FF2B5EF4-FFF2-40B4-BE49-F238E27FC236}">
                <a16:creationId xmlns:a16="http://schemas.microsoft.com/office/drawing/2014/main" id="{0871C837-B4DC-2965-3B87-CF92BDFDAFF8}"/>
              </a:ext>
            </a:extLst>
          </p:cNvPr>
          <p:cNvSpPr/>
          <p:nvPr/>
        </p:nvSpPr>
        <p:spPr>
          <a:xfrm>
            <a:off x="274320" y="3490722"/>
            <a:ext cx="1714500" cy="301752"/>
          </a:xfrm>
          <a:prstGeom prst="rect">
            <a:avLst/>
          </a:prstGeom>
          <a:solidFill>
            <a:srgbClr val="DC262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4" name="Text 58">
            <a:extLst>
              <a:ext uri="{FF2B5EF4-FFF2-40B4-BE49-F238E27FC236}">
                <a16:creationId xmlns:a16="http://schemas.microsoft.com/office/drawing/2014/main" id="{E8F17DE6-B691-2911-CF9C-01121DDC0E35}"/>
              </a:ext>
            </a:extLst>
          </p:cNvPr>
          <p:cNvSpPr/>
          <p:nvPr/>
        </p:nvSpPr>
        <p:spPr>
          <a:xfrm>
            <a:off x="342900" y="3490722"/>
            <a:ext cx="16116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b="1" dirty="0">
                <a:solidFill>
                  <a:srgbClr val="FFFFFF"/>
                </a:solidFill>
              </a:rPr>
              <a:t>Database &amp; Auth</a:t>
            </a:r>
            <a:endParaRPr lang="en-US" sz="713" dirty="0"/>
          </a:p>
        </p:txBody>
      </p:sp>
      <p:sp>
        <p:nvSpPr>
          <p:cNvPr id="125" name="Shape 59">
            <a:extLst>
              <a:ext uri="{FF2B5EF4-FFF2-40B4-BE49-F238E27FC236}">
                <a16:creationId xmlns:a16="http://schemas.microsoft.com/office/drawing/2014/main" id="{23727F2F-227F-889B-0354-EF46AB5CAC6D}"/>
              </a:ext>
            </a:extLst>
          </p:cNvPr>
          <p:cNvSpPr/>
          <p:nvPr/>
        </p:nvSpPr>
        <p:spPr>
          <a:xfrm>
            <a:off x="1988820" y="3490722"/>
            <a:ext cx="1714500" cy="30175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6" name="Text 60">
            <a:extLst>
              <a:ext uri="{FF2B5EF4-FFF2-40B4-BE49-F238E27FC236}">
                <a16:creationId xmlns:a16="http://schemas.microsoft.com/office/drawing/2014/main" id="{CA7B3889-4D56-54EC-5E59-8E54894C4226}"/>
              </a:ext>
            </a:extLst>
          </p:cNvPr>
          <p:cNvSpPr/>
          <p:nvPr/>
        </p:nvSpPr>
        <p:spPr>
          <a:xfrm>
            <a:off x="2057400" y="3490722"/>
            <a:ext cx="16116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2563EB"/>
                </a:solidFill>
              </a:rPr>
              <a:t>SMTP / Email</a:t>
            </a:r>
            <a:endParaRPr lang="en-US" sz="750" dirty="0"/>
          </a:p>
        </p:txBody>
      </p:sp>
      <p:sp>
        <p:nvSpPr>
          <p:cNvPr id="127" name="Shape 61">
            <a:extLst>
              <a:ext uri="{FF2B5EF4-FFF2-40B4-BE49-F238E27FC236}">
                <a16:creationId xmlns:a16="http://schemas.microsoft.com/office/drawing/2014/main" id="{F46CF216-C4E7-4F11-CED9-3E47937F4E85}"/>
              </a:ext>
            </a:extLst>
          </p:cNvPr>
          <p:cNvSpPr/>
          <p:nvPr/>
        </p:nvSpPr>
        <p:spPr>
          <a:xfrm>
            <a:off x="3703320" y="3490722"/>
            <a:ext cx="5143500" cy="30175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8" name="Text 62">
            <a:extLst>
              <a:ext uri="{FF2B5EF4-FFF2-40B4-BE49-F238E27FC236}">
                <a16:creationId xmlns:a16="http://schemas.microsoft.com/office/drawing/2014/main" id="{1F4C002D-B764-CAA6-2051-BFB30AB29C7E}"/>
              </a:ext>
            </a:extLst>
          </p:cNvPr>
          <p:cNvSpPr/>
          <p:nvPr/>
        </p:nvSpPr>
        <p:spPr>
          <a:xfrm>
            <a:off x="3785616" y="3490722"/>
            <a:ext cx="50063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1E293B"/>
                </a:solidFill>
              </a:rPr>
              <a:t>Password reset and email notifications to users.</a:t>
            </a:r>
            <a:endParaRPr lang="en-US" sz="713" dirty="0"/>
          </a:p>
        </p:txBody>
      </p:sp>
      <p:sp>
        <p:nvSpPr>
          <p:cNvPr id="129" name="Shape 63">
            <a:extLst>
              <a:ext uri="{FF2B5EF4-FFF2-40B4-BE49-F238E27FC236}">
                <a16:creationId xmlns:a16="http://schemas.microsoft.com/office/drawing/2014/main" id="{142712EF-B9F8-064E-24D1-E690198B1AC1}"/>
              </a:ext>
            </a:extLst>
          </p:cNvPr>
          <p:cNvSpPr/>
          <p:nvPr/>
        </p:nvSpPr>
        <p:spPr>
          <a:xfrm>
            <a:off x="274320" y="3792474"/>
            <a:ext cx="1714500" cy="301752"/>
          </a:xfrm>
          <a:prstGeom prst="rect">
            <a:avLst/>
          </a:prstGeom>
          <a:solidFill>
            <a:srgbClr val="16A34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0" name="Text 64">
            <a:extLst>
              <a:ext uri="{FF2B5EF4-FFF2-40B4-BE49-F238E27FC236}">
                <a16:creationId xmlns:a16="http://schemas.microsoft.com/office/drawing/2014/main" id="{B4FB1980-FFF2-9FFA-608A-EDAAAB0C5218}"/>
              </a:ext>
            </a:extLst>
          </p:cNvPr>
          <p:cNvSpPr/>
          <p:nvPr/>
        </p:nvSpPr>
        <p:spPr>
          <a:xfrm>
            <a:off x="342900" y="3792474"/>
            <a:ext cx="16116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b="1" dirty="0">
                <a:solidFill>
                  <a:srgbClr val="FFFFFF"/>
                </a:solidFill>
              </a:rPr>
              <a:t>DevOps &amp; Deploy</a:t>
            </a:r>
            <a:endParaRPr lang="en-US" sz="713" dirty="0"/>
          </a:p>
        </p:txBody>
      </p:sp>
      <p:sp>
        <p:nvSpPr>
          <p:cNvPr id="131" name="Shape 65">
            <a:extLst>
              <a:ext uri="{FF2B5EF4-FFF2-40B4-BE49-F238E27FC236}">
                <a16:creationId xmlns:a16="http://schemas.microsoft.com/office/drawing/2014/main" id="{167D6A84-0F43-7D47-A350-DF571C733189}"/>
              </a:ext>
            </a:extLst>
          </p:cNvPr>
          <p:cNvSpPr/>
          <p:nvPr/>
        </p:nvSpPr>
        <p:spPr>
          <a:xfrm>
            <a:off x="1988820" y="3792474"/>
            <a:ext cx="17145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2" name="Text 66">
            <a:extLst>
              <a:ext uri="{FF2B5EF4-FFF2-40B4-BE49-F238E27FC236}">
                <a16:creationId xmlns:a16="http://schemas.microsoft.com/office/drawing/2014/main" id="{A45AF526-9366-E556-36B7-D8CD2A8ABFE7}"/>
              </a:ext>
            </a:extLst>
          </p:cNvPr>
          <p:cNvSpPr/>
          <p:nvPr/>
        </p:nvSpPr>
        <p:spPr>
          <a:xfrm>
            <a:off x="2057400" y="3792474"/>
            <a:ext cx="16116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2563EB"/>
                </a:solidFill>
              </a:rPr>
              <a:t>GitHub Actions</a:t>
            </a:r>
            <a:endParaRPr lang="en-US" sz="750" dirty="0"/>
          </a:p>
        </p:txBody>
      </p:sp>
      <p:sp>
        <p:nvSpPr>
          <p:cNvPr id="133" name="Shape 67">
            <a:extLst>
              <a:ext uri="{FF2B5EF4-FFF2-40B4-BE49-F238E27FC236}">
                <a16:creationId xmlns:a16="http://schemas.microsoft.com/office/drawing/2014/main" id="{1122F9D8-4150-BF20-9F72-8243F91D86E3}"/>
              </a:ext>
            </a:extLst>
          </p:cNvPr>
          <p:cNvSpPr/>
          <p:nvPr/>
        </p:nvSpPr>
        <p:spPr>
          <a:xfrm>
            <a:off x="3703320" y="3792474"/>
            <a:ext cx="51435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4" name="Text 68">
            <a:extLst>
              <a:ext uri="{FF2B5EF4-FFF2-40B4-BE49-F238E27FC236}">
                <a16:creationId xmlns:a16="http://schemas.microsoft.com/office/drawing/2014/main" id="{A291600D-6AFC-2C47-62FF-0CCDCFB0DCFB}"/>
              </a:ext>
            </a:extLst>
          </p:cNvPr>
          <p:cNvSpPr/>
          <p:nvPr/>
        </p:nvSpPr>
        <p:spPr>
          <a:xfrm>
            <a:off x="3785616" y="3792474"/>
            <a:ext cx="50063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1E293B"/>
                </a:solidFill>
              </a:rPr>
              <a:t>CI/CD pipeline and automated deployment workflow.</a:t>
            </a:r>
            <a:endParaRPr lang="en-US" sz="713" dirty="0"/>
          </a:p>
        </p:txBody>
      </p:sp>
      <p:sp>
        <p:nvSpPr>
          <p:cNvPr id="135" name="Shape 69">
            <a:extLst>
              <a:ext uri="{FF2B5EF4-FFF2-40B4-BE49-F238E27FC236}">
                <a16:creationId xmlns:a16="http://schemas.microsoft.com/office/drawing/2014/main" id="{0A243BFF-031C-9CA0-863C-4340CF26B7C5}"/>
              </a:ext>
            </a:extLst>
          </p:cNvPr>
          <p:cNvSpPr/>
          <p:nvPr/>
        </p:nvSpPr>
        <p:spPr>
          <a:xfrm>
            <a:off x="274320" y="4138831"/>
            <a:ext cx="1714500" cy="301752"/>
          </a:xfrm>
          <a:prstGeom prst="rect">
            <a:avLst/>
          </a:prstGeom>
          <a:solidFill>
            <a:srgbClr val="16A34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6" name="Text 70">
            <a:extLst>
              <a:ext uri="{FF2B5EF4-FFF2-40B4-BE49-F238E27FC236}">
                <a16:creationId xmlns:a16="http://schemas.microsoft.com/office/drawing/2014/main" id="{07818226-8A74-844E-3051-805A848728CD}"/>
              </a:ext>
            </a:extLst>
          </p:cNvPr>
          <p:cNvSpPr/>
          <p:nvPr/>
        </p:nvSpPr>
        <p:spPr>
          <a:xfrm>
            <a:off x="342900" y="4094226"/>
            <a:ext cx="16116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b="1" dirty="0">
                <a:solidFill>
                  <a:srgbClr val="FFFFFF"/>
                </a:solidFill>
              </a:rPr>
              <a:t>DevOps &amp; Deploy</a:t>
            </a:r>
            <a:endParaRPr lang="en-US" sz="713" dirty="0"/>
          </a:p>
        </p:txBody>
      </p:sp>
      <p:sp>
        <p:nvSpPr>
          <p:cNvPr id="137" name="Shape 71">
            <a:extLst>
              <a:ext uri="{FF2B5EF4-FFF2-40B4-BE49-F238E27FC236}">
                <a16:creationId xmlns:a16="http://schemas.microsoft.com/office/drawing/2014/main" id="{DB0B9152-D223-75CD-4520-C6A93C12AE0D}"/>
              </a:ext>
            </a:extLst>
          </p:cNvPr>
          <p:cNvSpPr/>
          <p:nvPr/>
        </p:nvSpPr>
        <p:spPr>
          <a:xfrm>
            <a:off x="1988820" y="4094226"/>
            <a:ext cx="1714500" cy="30175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8" name="Text 72">
            <a:extLst>
              <a:ext uri="{FF2B5EF4-FFF2-40B4-BE49-F238E27FC236}">
                <a16:creationId xmlns:a16="http://schemas.microsoft.com/office/drawing/2014/main" id="{38199AE1-6D7F-54C1-DAC0-7B410483647D}"/>
              </a:ext>
            </a:extLst>
          </p:cNvPr>
          <p:cNvSpPr/>
          <p:nvPr/>
        </p:nvSpPr>
        <p:spPr>
          <a:xfrm>
            <a:off x="2057400" y="4094226"/>
            <a:ext cx="16116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2563EB"/>
                </a:solidFill>
              </a:rPr>
              <a:t>Render</a:t>
            </a:r>
            <a:endParaRPr lang="en-US" sz="750" dirty="0"/>
          </a:p>
        </p:txBody>
      </p:sp>
      <p:sp>
        <p:nvSpPr>
          <p:cNvPr id="139" name="Shape 73">
            <a:extLst>
              <a:ext uri="{FF2B5EF4-FFF2-40B4-BE49-F238E27FC236}">
                <a16:creationId xmlns:a16="http://schemas.microsoft.com/office/drawing/2014/main" id="{17F08E0E-617F-5562-B598-04C3F8B37E7E}"/>
              </a:ext>
            </a:extLst>
          </p:cNvPr>
          <p:cNvSpPr/>
          <p:nvPr/>
        </p:nvSpPr>
        <p:spPr>
          <a:xfrm>
            <a:off x="3703320" y="4094226"/>
            <a:ext cx="5143500" cy="30175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0" name="Text 74">
            <a:extLst>
              <a:ext uri="{FF2B5EF4-FFF2-40B4-BE49-F238E27FC236}">
                <a16:creationId xmlns:a16="http://schemas.microsoft.com/office/drawing/2014/main" id="{FD1AD91C-BBC2-1145-6C41-FD7AA0BEE7EF}"/>
              </a:ext>
            </a:extLst>
          </p:cNvPr>
          <p:cNvSpPr/>
          <p:nvPr/>
        </p:nvSpPr>
        <p:spPr>
          <a:xfrm>
            <a:off x="3785616" y="4094226"/>
            <a:ext cx="50063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1E293B"/>
                </a:solidFill>
              </a:rPr>
              <a:t>Cloud deployment and hosting of the Flask application.</a:t>
            </a:r>
            <a:endParaRPr lang="en-US" sz="713" dirty="0"/>
          </a:p>
        </p:txBody>
      </p:sp>
      <p:sp>
        <p:nvSpPr>
          <p:cNvPr id="141" name="Shape 75">
            <a:extLst>
              <a:ext uri="{FF2B5EF4-FFF2-40B4-BE49-F238E27FC236}">
                <a16:creationId xmlns:a16="http://schemas.microsoft.com/office/drawing/2014/main" id="{2EAFB827-DC88-2B26-9DFD-D1608FC0F973}"/>
              </a:ext>
            </a:extLst>
          </p:cNvPr>
          <p:cNvSpPr/>
          <p:nvPr/>
        </p:nvSpPr>
        <p:spPr>
          <a:xfrm>
            <a:off x="266886" y="4448017"/>
            <a:ext cx="1714500" cy="301752"/>
          </a:xfrm>
          <a:prstGeom prst="rect">
            <a:avLst/>
          </a:prstGeom>
          <a:solidFill>
            <a:srgbClr val="7C3AE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2" name="Text 76">
            <a:extLst>
              <a:ext uri="{FF2B5EF4-FFF2-40B4-BE49-F238E27FC236}">
                <a16:creationId xmlns:a16="http://schemas.microsoft.com/office/drawing/2014/main" id="{ABF78D98-6B06-6F9E-3FDD-3C38546F0BF5}"/>
              </a:ext>
            </a:extLst>
          </p:cNvPr>
          <p:cNvSpPr/>
          <p:nvPr/>
        </p:nvSpPr>
        <p:spPr>
          <a:xfrm>
            <a:off x="342900" y="4395978"/>
            <a:ext cx="16116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b="1" dirty="0">
                <a:solidFill>
                  <a:srgbClr val="FFFFFF"/>
                </a:solidFill>
              </a:rPr>
              <a:t>Development Tools</a:t>
            </a:r>
            <a:endParaRPr lang="en-US" sz="713" dirty="0"/>
          </a:p>
        </p:txBody>
      </p:sp>
      <p:sp>
        <p:nvSpPr>
          <p:cNvPr id="143" name="Shape 77">
            <a:extLst>
              <a:ext uri="{FF2B5EF4-FFF2-40B4-BE49-F238E27FC236}">
                <a16:creationId xmlns:a16="http://schemas.microsoft.com/office/drawing/2014/main" id="{E13E3180-20EF-7833-7A40-0C17ED94117C}"/>
              </a:ext>
            </a:extLst>
          </p:cNvPr>
          <p:cNvSpPr/>
          <p:nvPr/>
        </p:nvSpPr>
        <p:spPr>
          <a:xfrm>
            <a:off x="1988820" y="4395978"/>
            <a:ext cx="17145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4" name="Text 78">
            <a:extLst>
              <a:ext uri="{FF2B5EF4-FFF2-40B4-BE49-F238E27FC236}">
                <a16:creationId xmlns:a16="http://schemas.microsoft.com/office/drawing/2014/main" id="{410A0B96-BF25-166F-2F2D-661504B35A13}"/>
              </a:ext>
            </a:extLst>
          </p:cNvPr>
          <p:cNvSpPr/>
          <p:nvPr/>
        </p:nvSpPr>
        <p:spPr>
          <a:xfrm>
            <a:off x="2057400" y="4395978"/>
            <a:ext cx="161163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2563EB"/>
                </a:solidFill>
              </a:rPr>
              <a:t>Jupyter Notebook</a:t>
            </a:r>
            <a:endParaRPr lang="en-US" sz="750" dirty="0"/>
          </a:p>
        </p:txBody>
      </p:sp>
      <p:sp>
        <p:nvSpPr>
          <p:cNvPr id="145" name="Shape 79">
            <a:extLst>
              <a:ext uri="{FF2B5EF4-FFF2-40B4-BE49-F238E27FC236}">
                <a16:creationId xmlns:a16="http://schemas.microsoft.com/office/drawing/2014/main" id="{1F3BDA86-0DAC-D915-AFDB-B814464E0344}"/>
              </a:ext>
            </a:extLst>
          </p:cNvPr>
          <p:cNvSpPr/>
          <p:nvPr/>
        </p:nvSpPr>
        <p:spPr>
          <a:xfrm>
            <a:off x="3703320" y="4395978"/>
            <a:ext cx="51435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6" name="Text 80">
            <a:extLst>
              <a:ext uri="{FF2B5EF4-FFF2-40B4-BE49-F238E27FC236}">
                <a16:creationId xmlns:a16="http://schemas.microsoft.com/office/drawing/2014/main" id="{9C4B58C9-547C-0D47-7BAE-9F62E4748A8A}"/>
              </a:ext>
            </a:extLst>
          </p:cNvPr>
          <p:cNvSpPr/>
          <p:nvPr/>
        </p:nvSpPr>
        <p:spPr>
          <a:xfrm>
            <a:off x="3785616" y="4395978"/>
            <a:ext cx="50063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1E293B"/>
                </a:solidFill>
              </a:rPr>
              <a:t>Experimentation, training, testing, and model analysis.</a:t>
            </a:r>
            <a:endParaRPr lang="en-US" sz="713" dirty="0"/>
          </a:p>
        </p:txBody>
      </p:sp>
      <p:sp>
        <p:nvSpPr>
          <p:cNvPr id="147" name="Text 81">
            <a:extLst>
              <a:ext uri="{FF2B5EF4-FFF2-40B4-BE49-F238E27FC236}">
                <a16:creationId xmlns:a16="http://schemas.microsoft.com/office/drawing/2014/main" id="{41804B47-F9F2-9B5D-39CC-9398DF9F2E29}"/>
              </a:ext>
            </a:extLst>
          </p:cNvPr>
          <p:cNvSpPr/>
          <p:nvPr/>
        </p:nvSpPr>
        <p:spPr>
          <a:xfrm>
            <a:off x="274320" y="4869180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75" i="1" dirty="0">
                <a:solidFill>
                  <a:srgbClr val="475569"/>
                </a:solidFill>
              </a:rPr>
              <a:t>12 technologies across 8 categories</a:t>
            </a:r>
            <a:endParaRPr lang="en-US" sz="675" dirty="0"/>
          </a:p>
        </p:txBody>
      </p:sp>
    </p:spTree>
    <p:extLst>
      <p:ext uri="{BB962C8B-B14F-4D97-AF65-F5344CB8AC3E}">
        <p14:creationId xmlns:p14="http://schemas.microsoft.com/office/powerpoint/2010/main" val="88580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A06E3C26-0DF5-6877-78C3-C1E511A65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573B9-6FC5-309F-8097-B6B41AA353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GB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519153B-A5E9-E2D3-B8A6-70C7015EFE07}"/>
              </a:ext>
            </a:extLst>
          </p:cNvPr>
          <p:cNvSpPr>
            <a:spLocks noGrp="1"/>
          </p:cNvSpPr>
          <p:nvPr/>
        </p:nvSpPr>
        <p:spPr>
          <a:xfrm>
            <a:off x="311785" y="4483735"/>
            <a:ext cx="21259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Date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7270475-32AF-2D9D-2CA9-CADBA2D28033}"/>
              </a:ext>
            </a:extLst>
          </p:cNvPr>
          <p:cNvSpPr>
            <a:spLocks noGrp="1"/>
          </p:cNvSpPr>
          <p:nvPr/>
        </p:nvSpPr>
        <p:spPr>
          <a:xfrm>
            <a:off x="3512185" y="4483735"/>
            <a:ext cx="3188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RV COLLEGE OF ENGINEERING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919C9E-8693-4271-E8F9-EE12A3A80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773" y="191926"/>
            <a:ext cx="4695986" cy="397375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N"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</a:rPr>
              <a:t>Demonstration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B9992C-7ACD-1205-5963-EFE6E8BD26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630" y="1421260"/>
            <a:ext cx="4171798" cy="25179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AE0B83-D3F1-DAF6-73ED-778FF9ABAC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0944" y="1446465"/>
            <a:ext cx="4464110" cy="244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048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-GB"/>
          </a:p>
        </p:txBody>
      </p:sp>
      <p:sp>
        <p:nvSpPr>
          <p:cNvPr id="6" name="Date Placeholder 3"/>
          <p:cNvSpPr>
            <a:spLocks noGrp="1"/>
          </p:cNvSpPr>
          <p:nvPr/>
        </p:nvSpPr>
        <p:spPr>
          <a:xfrm>
            <a:off x="311785" y="4483735"/>
            <a:ext cx="21259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Date</a:t>
            </a:r>
          </a:p>
        </p:txBody>
      </p:sp>
      <p:sp>
        <p:nvSpPr>
          <p:cNvPr id="7" name="Footer Placeholder 4"/>
          <p:cNvSpPr>
            <a:spLocks noGrp="1"/>
          </p:cNvSpPr>
          <p:nvPr/>
        </p:nvSpPr>
        <p:spPr>
          <a:xfrm>
            <a:off x="3512185" y="4483735"/>
            <a:ext cx="3188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RV COLLEGE OF ENGINEERING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882F7BC-F55B-92C5-1D42-8C4CB8E62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2014" y="207425"/>
            <a:ext cx="4538506" cy="397375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N"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</a:rPr>
              <a:t>Project Management &amp; Cost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1D4F36-AD9A-F21A-BA19-32522B1BAD37}"/>
              </a:ext>
            </a:extLst>
          </p:cNvPr>
          <p:cNvSpPr txBox="1"/>
          <p:nvPr/>
        </p:nvSpPr>
        <p:spPr>
          <a:xfrm>
            <a:off x="148683" y="1226633"/>
            <a:ext cx="8645911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designed as a low-cost academic prototype by using mostly open-source software and existing infrastructure.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cost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₹0 because Flask, Python, TensorFlow/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MySQL, Bootstrap, Chart.js, and GitHub Actions are open-source.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 cost: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₹0 if training is done on an existing laptop or institution-provided machine.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₹0 for the prototype stage if using a standard laptop with at least 8 GB RAM. For faster training, a GPU-enabled system is helpful but not mandatory for inference.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cost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low to moderate, depending on hosting. Render/free-tier deployment can be used for demo purposes.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service cost: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₹0 to low, depending on SMTP provider usage.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cost: minimal for profile images and model files.</a:t>
            </a:r>
          </a:p>
        </p:txBody>
      </p:sp>
    </p:spTree>
    <p:extLst>
      <p:ext uri="{BB962C8B-B14F-4D97-AF65-F5344CB8AC3E}">
        <p14:creationId xmlns:p14="http://schemas.microsoft.com/office/powerpoint/2010/main" val="3196176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B48ABC78-927D-FF6D-EEAF-B0CC5A85D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11AA4-5236-256B-6565-304DD2CDE4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lang="en-GB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C0D9EE0-72FF-C74E-1092-4A86F93DABD0}"/>
              </a:ext>
            </a:extLst>
          </p:cNvPr>
          <p:cNvSpPr>
            <a:spLocks noGrp="1"/>
          </p:cNvSpPr>
          <p:nvPr/>
        </p:nvSpPr>
        <p:spPr>
          <a:xfrm>
            <a:off x="311785" y="4483735"/>
            <a:ext cx="21259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Date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2C6974F-DD29-2883-13D4-B15ACA731D88}"/>
              </a:ext>
            </a:extLst>
          </p:cNvPr>
          <p:cNvSpPr>
            <a:spLocks noGrp="1"/>
          </p:cNvSpPr>
          <p:nvPr/>
        </p:nvSpPr>
        <p:spPr>
          <a:xfrm>
            <a:off x="3512185" y="4483735"/>
            <a:ext cx="3188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RV COLLEGE OF ENGINEERING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CB64532-81B2-D9C9-665F-116F92580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2014" y="207425"/>
            <a:ext cx="4538506" cy="397375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Timeline (Gantt chart or milestones) </a:t>
            </a: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CB611455-CE28-0E67-D940-2E6D539978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62" t="11759" r="1672" b="11400"/>
          <a:stretch>
            <a:fillRect/>
          </a:stretch>
        </p:blipFill>
        <p:spPr>
          <a:xfrm>
            <a:off x="334537" y="980670"/>
            <a:ext cx="7850458" cy="390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324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en-GB"/>
          </a:p>
        </p:txBody>
      </p:sp>
      <p:sp>
        <p:nvSpPr>
          <p:cNvPr id="6" name="Date Placeholder 3"/>
          <p:cNvSpPr>
            <a:spLocks noGrp="1"/>
          </p:cNvSpPr>
          <p:nvPr/>
        </p:nvSpPr>
        <p:spPr>
          <a:xfrm>
            <a:off x="311785" y="4483735"/>
            <a:ext cx="21259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Date</a:t>
            </a:r>
          </a:p>
        </p:txBody>
      </p:sp>
      <p:sp>
        <p:nvSpPr>
          <p:cNvPr id="7" name="Footer Placeholder 4"/>
          <p:cNvSpPr>
            <a:spLocks noGrp="1"/>
          </p:cNvSpPr>
          <p:nvPr/>
        </p:nvSpPr>
        <p:spPr>
          <a:xfrm>
            <a:off x="3512185" y="4483735"/>
            <a:ext cx="3188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RV COLLEGE OF ENGINEERING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BC31C8-2690-D15E-DF15-7B64E35974DA}"/>
              </a:ext>
            </a:extLst>
          </p:cNvPr>
          <p:cNvSpPr txBox="1"/>
          <p:nvPr/>
        </p:nvSpPr>
        <p:spPr>
          <a:xfrm>
            <a:off x="3512185" y="2080800"/>
            <a:ext cx="2679815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>
                <a:schemeClr val="dk1"/>
              </a:buClr>
              <a:buSzPts val="2800"/>
              <a:buNone/>
              <a:defRPr i="1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</a:defRPr>
            </a:lvl1pPr>
            <a:lvl2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en-IN" sz="36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813491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829</Words>
  <Application>Microsoft Office PowerPoint</Application>
  <PresentationFormat>On-screen Show (16:9)</PresentationFormat>
  <Paragraphs>136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Helvetica-Bold</vt:lpstr>
      <vt:lpstr>Playfair Display</vt:lpstr>
      <vt:lpstr>Times New Roman</vt:lpstr>
      <vt:lpstr>Times New Roman </vt:lpstr>
      <vt:lpstr>Simple Light</vt:lpstr>
      <vt:lpstr>PowerPoint Presentation</vt:lpstr>
      <vt:lpstr>PowerPoint Presentation</vt:lpstr>
      <vt:lpstr>Knowledge, Skills, and Research Base</vt:lpstr>
      <vt:lpstr>System Architecture</vt:lpstr>
      <vt:lpstr>Algorithms</vt:lpstr>
      <vt:lpstr>Algorithms</vt:lpstr>
      <vt:lpstr>Methodology</vt:lpstr>
      <vt:lpstr>Tools and Technologies</vt:lpstr>
      <vt:lpstr>Demonstration</vt:lpstr>
      <vt:lpstr>Project Management &amp; Cost</vt:lpstr>
      <vt:lpstr>Timeline (Gantt chart or milestones)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Aravind Ajay</dc:creator>
  <cp:lastModifiedBy>Aravind Ajay</cp:lastModifiedBy>
  <cp:revision>1</cp:revision>
  <dcterms:modified xsi:type="dcterms:W3CDTF">2026-04-25T06:06:50Z</dcterms:modified>
</cp:coreProperties>
</file>