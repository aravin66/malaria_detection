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heme/themeOverride1.xml" ContentType="application/vnd.openxmlformats-officedocument.themeOverr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autoCompressPictures="0">
  <p:sldMasterIdLst>
    <p:sldMasterId id="2147483648" r:id="rId1"/>
  </p:sldMasterIdLst>
  <p:notesMasterIdLst>
    <p:notesMasterId r:id="rId32"/>
  </p:notesMasterIdLst>
  <p:sldIdLst>
    <p:sldId id="256" r:id="rId2"/>
    <p:sldId id="296" r:id="rId3"/>
    <p:sldId id="316" r:id="rId4"/>
    <p:sldId id="325" r:id="rId5"/>
    <p:sldId id="324" r:id="rId6"/>
    <p:sldId id="346" r:id="rId7"/>
    <p:sldId id="323" r:id="rId8"/>
    <p:sldId id="322" r:id="rId9"/>
    <p:sldId id="326" r:id="rId10"/>
    <p:sldId id="327" r:id="rId11"/>
    <p:sldId id="334" r:id="rId12"/>
    <p:sldId id="328" r:id="rId13"/>
    <p:sldId id="333" r:id="rId14"/>
    <p:sldId id="329" r:id="rId15"/>
    <p:sldId id="336" r:id="rId16"/>
    <p:sldId id="337" r:id="rId17"/>
    <p:sldId id="338" r:id="rId18"/>
    <p:sldId id="339" r:id="rId19"/>
    <p:sldId id="335" r:id="rId20"/>
    <p:sldId id="330" r:id="rId21"/>
    <p:sldId id="310" r:id="rId22"/>
    <p:sldId id="340" r:id="rId23"/>
    <p:sldId id="341" r:id="rId24"/>
    <p:sldId id="342" r:id="rId25"/>
    <p:sldId id="343" r:id="rId26"/>
    <p:sldId id="344" r:id="rId27"/>
    <p:sldId id="321" r:id="rId28"/>
    <p:sldId id="332" r:id="rId29"/>
    <p:sldId id="345" r:id="rId30"/>
    <p:sldId id="315" r:id="rId31"/>
  </p:sldIdLst>
  <p:sldSz cx="9144000" cy="5143500" type="screen16x9"/>
  <p:notesSz cx="7102475" cy="938847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587"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226" autoAdjust="0"/>
  </p:normalViewPr>
  <p:slideViewPr>
    <p:cSldViewPr snapToGrid="0" showGuides="1">
      <p:cViewPr varScale="1">
        <p:scale>
          <a:sx n="97" d="100"/>
          <a:sy n="97" d="100"/>
        </p:scale>
        <p:origin x="1070" y="77"/>
      </p:cViewPr>
      <p:guideLst>
        <p:guide orient="horz" pos="1587"/>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23863" y="704850"/>
            <a:ext cx="6256337" cy="35194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10248" y="4459526"/>
            <a:ext cx="5681980" cy="4224814"/>
          </a:xfrm>
          <a:prstGeom prst="rect">
            <a:avLst/>
          </a:prstGeom>
          <a:noFill/>
          <a:ln>
            <a:noFill/>
          </a:ln>
        </p:spPr>
        <p:txBody>
          <a:bodyPr spcFirstLastPara="1" wrap="square" lIns="94213" tIns="94213" rIns="94213" bIns="94213"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29bea9cbfd3_0_2: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9bea9cbfd3_0_2:notes"/>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CC13BC24-EA1B-312A-0974-AA9B951F0831}"/>
            </a:ext>
          </a:extLst>
        </p:cNvPr>
        <p:cNvGrpSpPr/>
        <p:nvPr/>
      </p:nvGrpSpPr>
      <p:grpSpPr>
        <a:xfrm>
          <a:off x="0" y="0"/>
          <a:ext cx="0" cy="0"/>
          <a:chOff x="0" y="0"/>
          <a:chExt cx="0" cy="0"/>
        </a:xfrm>
      </p:grpSpPr>
      <p:sp>
        <p:nvSpPr>
          <p:cNvPr id="57" name="Google Shape;57;g29bea9cbfd3_0_2:notes">
            <a:extLst>
              <a:ext uri="{FF2B5EF4-FFF2-40B4-BE49-F238E27FC236}">
                <a16:creationId xmlns:a16="http://schemas.microsoft.com/office/drawing/2014/main" id="{09A3E086-C7C4-C0F8-5208-1C4B53CB1EB8}"/>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9bea9cbfd3_0_2:notes">
            <a:extLst>
              <a:ext uri="{FF2B5EF4-FFF2-40B4-BE49-F238E27FC236}">
                <a16:creationId xmlns:a16="http://schemas.microsoft.com/office/drawing/2014/main" id="{BF56C57D-6EC5-B462-F010-8CA573822607}"/>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a:p>
        </p:txBody>
      </p:sp>
    </p:spTree>
    <p:extLst>
      <p:ext uri="{BB962C8B-B14F-4D97-AF65-F5344CB8AC3E}">
        <p14:creationId xmlns:p14="http://schemas.microsoft.com/office/powerpoint/2010/main" val="8476241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72C2C718-6AF3-37F8-EAAA-E0592D8E1A50}"/>
            </a:ext>
          </a:extLst>
        </p:cNvPr>
        <p:cNvGrpSpPr/>
        <p:nvPr/>
      </p:nvGrpSpPr>
      <p:grpSpPr>
        <a:xfrm>
          <a:off x="0" y="0"/>
          <a:ext cx="0" cy="0"/>
          <a:chOff x="0" y="0"/>
          <a:chExt cx="0" cy="0"/>
        </a:xfrm>
      </p:grpSpPr>
      <p:sp>
        <p:nvSpPr>
          <p:cNvPr id="57" name="Google Shape;57;g29bea9cbfd3_0_2:notes">
            <a:extLst>
              <a:ext uri="{FF2B5EF4-FFF2-40B4-BE49-F238E27FC236}">
                <a16:creationId xmlns:a16="http://schemas.microsoft.com/office/drawing/2014/main" id="{7E027545-D8D8-69D6-398D-77539E57737A}"/>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9bea9cbfd3_0_2:notes">
            <a:extLst>
              <a:ext uri="{FF2B5EF4-FFF2-40B4-BE49-F238E27FC236}">
                <a16:creationId xmlns:a16="http://schemas.microsoft.com/office/drawing/2014/main" id="{91EF6977-254E-771C-AFCC-CC323A8B8337}"/>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a:p>
        </p:txBody>
      </p:sp>
    </p:spTree>
    <p:extLst>
      <p:ext uri="{BB962C8B-B14F-4D97-AF65-F5344CB8AC3E}">
        <p14:creationId xmlns:p14="http://schemas.microsoft.com/office/powerpoint/2010/main" val="10551380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CA3B9F7C-588E-EC78-1A48-C3421E860AAB}"/>
            </a:ext>
          </a:extLst>
        </p:cNvPr>
        <p:cNvGrpSpPr/>
        <p:nvPr/>
      </p:nvGrpSpPr>
      <p:grpSpPr>
        <a:xfrm>
          <a:off x="0" y="0"/>
          <a:ext cx="0" cy="0"/>
          <a:chOff x="0" y="0"/>
          <a:chExt cx="0" cy="0"/>
        </a:xfrm>
      </p:grpSpPr>
      <p:sp>
        <p:nvSpPr>
          <p:cNvPr id="57" name="Google Shape;57;g29bea9cbfd3_0_2:notes">
            <a:extLst>
              <a:ext uri="{FF2B5EF4-FFF2-40B4-BE49-F238E27FC236}">
                <a16:creationId xmlns:a16="http://schemas.microsoft.com/office/drawing/2014/main" id="{7913E9AC-03F5-16BF-851A-6909B66684A6}"/>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9bea9cbfd3_0_2:notes">
            <a:extLst>
              <a:ext uri="{FF2B5EF4-FFF2-40B4-BE49-F238E27FC236}">
                <a16:creationId xmlns:a16="http://schemas.microsoft.com/office/drawing/2014/main" id="{C272F5F4-2413-22DA-FB1E-85C552C82D5D}"/>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a:p>
        </p:txBody>
      </p:sp>
    </p:spTree>
    <p:extLst>
      <p:ext uri="{BB962C8B-B14F-4D97-AF65-F5344CB8AC3E}">
        <p14:creationId xmlns:p14="http://schemas.microsoft.com/office/powerpoint/2010/main" val="41752775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68C974DB-733D-D5A3-E6D1-85AFDCF414F0}"/>
            </a:ext>
          </a:extLst>
        </p:cNvPr>
        <p:cNvGrpSpPr/>
        <p:nvPr/>
      </p:nvGrpSpPr>
      <p:grpSpPr>
        <a:xfrm>
          <a:off x="0" y="0"/>
          <a:ext cx="0" cy="0"/>
          <a:chOff x="0" y="0"/>
          <a:chExt cx="0" cy="0"/>
        </a:xfrm>
      </p:grpSpPr>
      <p:sp>
        <p:nvSpPr>
          <p:cNvPr id="57" name="Google Shape;57;g29bea9cbfd3_0_2:notes">
            <a:extLst>
              <a:ext uri="{FF2B5EF4-FFF2-40B4-BE49-F238E27FC236}">
                <a16:creationId xmlns:a16="http://schemas.microsoft.com/office/drawing/2014/main" id="{C904EC0B-CF07-4275-5C9C-32253B8E8396}"/>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9bea9cbfd3_0_2:notes">
            <a:extLst>
              <a:ext uri="{FF2B5EF4-FFF2-40B4-BE49-F238E27FC236}">
                <a16:creationId xmlns:a16="http://schemas.microsoft.com/office/drawing/2014/main" id="{C29212B3-9A7C-022B-2B1A-FBA61ED6976D}"/>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a:p>
        </p:txBody>
      </p:sp>
    </p:spTree>
    <p:extLst>
      <p:ext uri="{BB962C8B-B14F-4D97-AF65-F5344CB8AC3E}">
        <p14:creationId xmlns:p14="http://schemas.microsoft.com/office/powerpoint/2010/main" val="12467993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A09D9349-5837-EC10-AC38-5B8460E359A0}"/>
            </a:ext>
          </a:extLst>
        </p:cNvPr>
        <p:cNvGrpSpPr/>
        <p:nvPr/>
      </p:nvGrpSpPr>
      <p:grpSpPr>
        <a:xfrm>
          <a:off x="0" y="0"/>
          <a:ext cx="0" cy="0"/>
          <a:chOff x="0" y="0"/>
          <a:chExt cx="0" cy="0"/>
        </a:xfrm>
      </p:grpSpPr>
      <p:sp>
        <p:nvSpPr>
          <p:cNvPr id="57" name="Google Shape;57;g29bea9cbfd3_0_2:notes">
            <a:extLst>
              <a:ext uri="{FF2B5EF4-FFF2-40B4-BE49-F238E27FC236}">
                <a16:creationId xmlns:a16="http://schemas.microsoft.com/office/drawing/2014/main" id="{E5CBBED7-878B-D785-21BC-F1FB560E7AE7}"/>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9bea9cbfd3_0_2:notes">
            <a:extLst>
              <a:ext uri="{FF2B5EF4-FFF2-40B4-BE49-F238E27FC236}">
                <a16:creationId xmlns:a16="http://schemas.microsoft.com/office/drawing/2014/main" id="{8AC9BFA6-AF33-1565-00DA-FE8CB344378F}"/>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a:p>
        </p:txBody>
      </p:sp>
    </p:spTree>
    <p:extLst>
      <p:ext uri="{BB962C8B-B14F-4D97-AF65-F5344CB8AC3E}">
        <p14:creationId xmlns:p14="http://schemas.microsoft.com/office/powerpoint/2010/main" val="10396750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6B4CF6D2-8A03-A6D9-4E7A-C4B3F8A13AD2}"/>
            </a:ext>
          </a:extLst>
        </p:cNvPr>
        <p:cNvGrpSpPr/>
        <p:nvPr/>
      </p:nvGrpSpPr>
      <p:grpSpPr>
        <a:xfrm>
          <a:off x="0" y="0"/>
          <a:ext cx="0" cy="0"/>
          <a:chOff x="0" y="0"/>
          <a:chExt cx="0" cy="0"/>
        </a:xfrm>
      </p:grpSpPr>
      <p:sp>
        <p:nvSpPr>
          <p:cNvPr id="57" name="Google Shape;57;g29bea9cbfd3_0_2:notes">
            <a:extLst>
              <a:ext uri="{FF2B5EF4-FFF2-40B4-BE49-F238E27FC236}">
                <a16:creationId xmlns:a16="http://schemas.microsoft.com/office/drawing/2014/main" id="{8766C738-0097-9B9E-AA58-F76E466757AE}"/>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9bea9cbfd3_0_2:notes">
            <a:extLst>
              <a:ext uri="{FF2B5EF4-FFF2-40B4-BE49-F238E27FC236}">
                <a16:creationId xmlns:a16="http://schemas.microsoft.com/office/drawing/2014/main" id="{00A4D857-67C3-FE22-A356-59D7805EA83C}"/>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a:p>
        </p:txBody>
      </p:sp>
    </p:spTree>
    <p:extLst>
      <p:ext uri="{BB962C8B-B14F-4D97-AF65-F5344CB8AC3E}">
        <p14:creationId xmlns:p14="http://schemas.microsoft.com/office/powerpoint/2010/main" val="18134151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DB19815B-4969-2512-D3D0-75E743C57963}"/>
            </a:ext>
          </a:extLst>
        </p:cNvPr>
        <p:cNvGrpSpPr/>
        <p:nvPr/>
      </p:nvGrpSpPr>
      <p:grpSpPr>
        <a:xfrm>
          <a:off x="0" y="0"/>
          <a:ext cx="0" cy="0"/>
          <a:chOff x="0" y="0"/>
          <a:chExt cx="0" cy="0"/>
        </a:xfrm>
      </p:grpSpPr>
      <p:sp>
        <p:nvSpPr>
          <p:cNvPr id="57" name="Google Shape;57;g29bea9cbfd3_0_2:notes">
            <a:extLst>
              <a:ext uri="{FF2B5EF4-FFF2-40B4-BE49-F238E27FC236}">
                <a16:creationId xmlns:a16="http://schemas.microsoft.com/office/drawing/2014/main" id="{0C9F755A-411F-F4BC-0556-0FA69C5BB52A}"/>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9bea9cbfd3_0_2:notes">
            <a:extLst>
              <a:ext uri="{FF2B5EF4-FFF2-40B4-BE49-F238E27FC236}">
                <a16:creationId xmlns:a16="http://schemas.microsoft.com/office/drawing/2014/main" id="{7A58A1B2-782E-2A88-0F33-566FE515662F}"/>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a:p>
        </p:txBody>
      </p:sp>
    </p:spTree>
    <p:extLst>
      <p:ext uri="{BB962C8B-B14F-4D97-AF65-F5344CB8AC3E}">
        <p14:creationId xmlns:p14="http://schemas.microsoft.com/office/powerpoint/2010/main" val="26942437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0E4B1040-F009-FD0E-17AC-7ACE346B3DA3}"/>
            </a:ext>
          </a:extLst>
        </p:cNvPr>
        <p:cNvGrpSpPr/>
        <p:nvPr/>
      </p:nvGrpSpPr>
      <p:grpSpPr>
        <a:xfrm>
          <a:off x="0" y="0"/>
          <a:ext cx="0" cy="0"/>
          <a:chOff x="0" y="0"/>
          <a:chExt cx="0" cy="0"/>
        </a:xfrm>
      </p:grpSpPr>
      <p:sp>
        <p:nvSpPr>
          <p:cNvPr id="57" name="Google Shape;57;g29bea9cbfd3_0_2:notes">
            <a:extLst>
              <a:ext uri="{FF2B5EF4-FFF2-40B4-BE49-F238E27FC236}">
                <a16:creationId xmlns:a16="http://schemas.microsoft.com/office/drawing/2014/main" id="{419C935B-4C5E-0061-7738-B2B92CA19C01}"/>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9bea9cbfd3_0_2:notes">
            <a:extLst>
              <a:ext uri="{FF2B5EF4-FFF2-40B4-BE49-F238E27FC236}">
                <a16:creationId xmlns:a16="http://schemas.microsoft.com/office/drawing/2014/main" id="{9DF7A696-B7D4-F922-7651-798A396CF24C}"/>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a:p>
        </p:txBody>
      </p:sp>
    </p:spTree>
    <p:extLst>
      <p:ext uri="{BB962C8B-B14F-4D97-AF65-F5344CB8AC3E}">
        <p14:creationId xmlns:p14="http://schemas.microsoft.com/office/powerpoint/2010/main" val="23605240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350CC13E-92D7-3F03-328F-901C1695D1D5}"/>
            </a:ext>
          </a:extLst>
        </p:cNvPr>
        <p:cNvGrpSpPr/>
        <p:nvPr/>
      </p:nvGrpSpPr>
      <p:grpSpPr>
        <a:xfrm>
          <a:off x="0" y="0"/>
          <a:ext cx="0" cy="0"/>
          <a:chOff x="0" y="0"/>
          <a:chExt cx="0" cy="0"/>
        </a:xfrm>
      </p:grpSpPr>
      <p:sp>
        <p:nvSpPr>
          <p:cNvPr id="57" name="Google Shape;57;g29bea9cbfd3_0_2:notes">
            <a:extLst>
              <a:ext uri="{FF2B5EF4-FFF2-40B4-BE49-F238E27FC236}">
                <a16:creationId xmlns:a16="http://schemas.microsoft.com/office/drawing/2014/main" id="{F766869D-71EE-3DE1-7436-AB0A12741D00}"/>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9bea9cbfd3_0_2:notes">
            <a:extLst>
              <a:ext uri="{FF2B5EF4-FFF2-40B4-BE49-F238E27FC236}">
                <a16:creationId xmlns:a16="http://schemas.microsoft.com/office/drawing/2014/main" id="{31DBC5FE-2BED-9639-0286-18927919135C}"/>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a:p>
        </p:txBody>
      </p:sp>
    </p:spTree>
    <p:extLst>
      <p:ext uri="{BB962C8B-B14F-4D97-AF65-F5344CB8AC3E}">
        <p14:creationId xmlns:p14="http://schemas.microsoft.com/office/powerpoint/2010/main" val="3515817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134216E3-AC9B-2B6C-BFF2-54D7A0EBC415}"/>
            </a:ext>
          </a:extLst>
        </p:cNvPr>
        <p:cNvGrpSpPr/>
        <p:nvPr/>
      </p:nvGrpSpPr>
      <p:grpSpPr>
        <a:xfrm>
          <a:off x="0" y="0"/>
          <a:ext cx="0" cy="0"/>
          <a:chOff x="0" y="0"/>
          <a:chExt cx="0" cy="0"/>
        </a:xfrm>
      </p:grpSpPr>
      <p:sp>
        <p:nvSpPr>
          <p:cNvPr id="57" name="Google Shape;57;g29bea9cbfd3_0_2:notes">
            <a:extLst>
              <a:ext uri="{FF2B5EF4-FFF2-40B4-BE49-F238E27FC236}">
                <a16:creationId xmlns:a16="http://schemas.microsoft.com/office/drawing/2014/main" id="{D0B0DDC2-8364-BA5F-F1A0-C1C9BB125798}"/>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9bea9cbfd3_0_2:notes">
            <a:extLst>
              <a:ext uri="{FF2B5EF4-FFF2-40B4-BE49-F238E27FC236}">
                <a16:creationId xmlns:a16="http://schemas.microsoft.com/office/drawing/2014/main" id="{B514F979-F911-C1F1-2BB8-B72738C05E9C}"/>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a:p>
        </p:txBody>
      </p:sp>
    </p:spTree>
    <p:extLst>
      <p:ext uri="{BB962C8B-B14F-4D97-AF65-F5344CB8AC3E}">
        <p14:creationId xmlns:p14="http://schemas.microsoft.com/office/powerpoint/2010/main" val="36171882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7B2CA66A-D895-42CA-F5AE-134FE180BA5D}"/>
            </a:ext>
          </a:extLst>
        </p:cNvPr>
        <p:cNvGrpSpPr/>
        <p:nvPr/>
      </p:nvGrpSpPr>
      <p:grpSpPr>
        <a:xfrm>
          <a:off x="0" y="0"/>
          <a:ext cx="0" cy="0"/>
          <a:chOff x="0" y="0"/>
          <a:chExt cx="0" cy="0"/>
        </a:xfrm>
      </p:grpSpPr>
      <p:sp>
        <p:nvSpPr>
          <p:cNvPr id="57" name="Google Shape;57;g29bea9cbfd3_0_2:notes">
            <a:extLst>
              <a:ext uri="{FF2B5EF4-FFF2-40B4-BE49-F238E27FC236}">
                <a16:creationId xmlns:a16="http://schemas.microsoft.com/office/drawing/2014/main" id="{DF07E43D-1445-1831-C2E7-CE60890DECC7}"/>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9bea9cbfd3_0_2:notes">
            <a:extLst>
              <a:ext uri="{FF2B5EF4-FFF2-40B4-BE49-F238E27FC236}">
                <a16:creationId xmlns:a16="http://schemas.microsoft.com/office/drawing/2014/main" id="{3F33A3C1-538F-C802-867B-1C55B04BA13A}"/>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a:p>
        </p:txBody>
      </p:sp>
    </p:spTree>
    <p:extLst>
      <p:ext uri="{BB962C8B-B14F-4D97-AF65-F5344CB8AC3E}">
        <p14:creationId xmlns:p14="http://schemas.microsoft.com/office/powerpoint/2010/main" val="38692573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AB57ACED-40AF-BDBE-2BE0-B2CE8294760B}"/>
            </a:ext>
          </a:extLst>
        </p:cNvPr>
        <p:cNvGrpSpPr/>
        <p:nvPr/>
      </p:nvGrpSpPr>
      <p:grpSpPr>
        <a:xfrm>
          <a:off x="0" y="0"/>
          <a:ext cx="0" cy="0"/>
          <a:chOff x="0" y="0"/>
          <a:chExt cx="0" cy="0"/>
        </a:xfrm>
      </p:grpSpPr>
      <p:sp>
        <p:nvSpPr>
          <p:cNvPr id="57" name="Google Shape;57;g29bea9cbfd3_0_2:notes">
            <a:extLst>
              <a:ext uri="{FF2B5EF4-FFF2-40B4-BE49-F238E27FC236}">
                <a16:creationId xmlns:a16="http://schemas.microsoft.com/office/drawing/2014/main" id="{5FFD0D74-CBE5-22BD-5398-5A1FA07D3D66}"/>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9bea9cbfd3_0_2:notes">
            <a:extLst>
              <a:ext uri="{FF2B5EF4-FFF2-40B4-BE49-F238E27FC236}">
                <a16:creationId xmlns:a16="http://schemas.microsoft.com/office/drawing/2014/main" id="{D8D80D4B-2574-9BFA-774E-7645B074267E}"/>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a:p>
        </p:txBody>
      </p:sp>
    </p:spTree>
    <p:extLst>
      <p:ext uri="{BB962C8B-B14F-4D97-AF65-F5344CB8AC3E}">
        <p14:creationId xmlns:p14="http://schemas.microsoft.com/office/powerpoint/2010/main" val="14918058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68742FA9-5DE1-C419-6ECE-76B4689D1CAF}"/>
            </a:ext>
          </a:extLst>
        </p:cNvPr>
        <p:cNvGrpSpPr/>
        <p:nvPr/>
      </p:nvGrpSpPr>
      <p:grpSpPr>
        <a:xfrm>
          <a:off x="0" y="0"/>
          <a:ext cx="0" cy="0"/>
          <a:chOff x="0" y="0"/>
          <a:chExt cx="0" cy="0"/>
        </a:xfrm>
      </p:grpSpPr>
      <p:sp>
        <p:nvSpPr>
          <p:cNvPr id="57" name="Google Shape;57;g29bea9cbfd3_0_2:notes">
            <a:extLst>
              <a:ext uri="{FF2B5EF4-FFF2-40B4-BE49-F238E27FC236}">
                <a16:creationId xmlns:a16="http://schemas.microsoft.com/office/drawing/2014/main" id="{37391EDC-AA85-AAD2-7AAC-6012746ABE7E}"/>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9bea9cbfd3_0_2:notes">
            <a:extLst>
              <a:ext uri="{FF2B5EF4-FFF2-40B4-BE49-F238E27FC236}">
                <a16:creationId xmlns:a16="http://schemas.microsoft.com/office/drawing/2014/main" id="{A2E1AF35-9045-589A-7487-4F41E1242E61}"/>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a:p>
        </p:txBody>
      </p:sp>
    </p:spTree>
    <p:extLst>
      <p:ext uri="{BB962C8B-B14F-4D97-AF65-F5344CB8AC3E}">
        <p14:creationId xmlns:p14="http://schemas.microsoft.com/office/powerpoint/2010/main" val="1062505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A2C77C9F-7085-FE26-0314-D987E2BE5CEB}"/>
            </a:ext>
          </a:extLst>
        </p:cNvPr>
        <p:cNvGrpSpPr/>
        <p:nvPr/>
      </p:nvGrpSpPr>
      <p:grpSpPr>
        <a:xfrm>
          <a:off x="0" y="0"/>
          <a:ext cx="0" cy="0"/>
          <a:chOff x="0" y="0"/>
          <a:chExt cx="0" cy="0"/>
        </a:xfrm>
      </p:grpSpPr>
      <p:sp>
        <p:nvSpPr>
          <p:cNvPr id="57" name="Google Shape;57;g29bea9cbfd3_0_2:notes">
            <a:extLst>
              <a:ext uri="{FF2B5EF4-FFF2-40B4-BE49-F238E27FC236}">
                <a16:creationId xmlns:a16="http://schemas.microsoft.com/office/drawing/2014/main" id="{56A01701-7B95-DB30-B0B8-144E8B38B0BE}"/>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9bea9cbfd3_0_2:notes">
            <a:extLst>
              <a:ext uri="{FF2B5EF4-FFF2-40B4-BE49-F238E27FC236}">
                <a16:creationId xmlns:a16="http://schemas.microsoft.com/office/drawing/2014/main" id="{C1B636E1-1A4F-AEED-F2E2-256F0405915E}"/>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a:p>
        </p:txBody>
      </p:sp>
    </p:spTree>
    <p:extLst>
      <p:ext uri="{BB962C8B-B14F-4D97-AF65-F5344CB8AC3E}">
        <p14:creationId xmlns:p14="http://schemas.microsoft.com/office/powerpoint/2010/main" val="9288269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C1DDDB39-676E-C57B-153D-14E2971FB858}"/>
            </a:ext>
          </a:extLst>
        </p:cNvPr>
        <p:cNvGrpSpPr/>
        <p:nvPr/>
      </p:nvGrpSpPr>
      <p:grpSpPr>
        <a:xfrm>
          <a:off x="0" y="0"/>
          <a:ext cx="0" cy="0"/>
          <a:chOff x="0" y="0"/>
          <a:chExt cx="0" cy="0"/>
        </a:xfrm>
      </p:grpSpPr>
      <p:sp>
        <p:nvSpPr>
          <p:cNvPr id="57" name="Google Shape;57;g29bea9cbfd3_0_2:notes">
            <a:extLst>
              <a:ext uri="{FF2B5EF4-FFF2-40B4-BE49-F238E27FC236}">
                <a16:creationId xmlns:a16="http://schemas.microsoft.com/office/drawing/2014/main" id="{328A3BB1-A112-4A4F-FB4A-318F33EC4133}"/>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9bea9cbfd3_0_2:notes">
            <a:extLst>
              <a:ext uri="{FF2B5EF4-FFF2-40B4-BE49-F238E27FC236}">
                <a16:creationId xmlns:a16="http://schemas.microsoft.com/office/drawing/2014/main" id="{216A02FF-48A5-ADE1-B788-65794375BD26}"/>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a:p>
        </p:txBody>
      </p:sp>
    </p:spTree>
    <p:extLst>
      <p:ext uri="{BB962C8B-B14F-4D97-AF65-F5344CB8AC3E}">
        <p14:creationId xmlns:p14="http://schemas.microsoft.com/office/powerpoint/2010/main" val="1578679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F454227B-053B-FB38-B8DE-0737D690778B}"/>
            </a:ext>
          </a:extLst>
        </p:cNvPr>
        <p:cNvGrpSpPr/>
        <p:nvPr/>
      </p:nvGrpSpPr>
      <p:grpSpPr>
        <a:xfrm>
          <a:off x="0" y="0"/>
          <a:ext cx="0" cy="0"/>
          <a:chOff x="0" y="0"/>
          <a:chExt cx="0" cy="0"/>
        </a:xfrm>
      </p:grpSpPr>
      <p:sp>
        <p:nvSpPr>
          <p:cNvPr id="57" name="Google Shape;57;g29bea9cbfd3_0_2:notes">
            <a:extLst>
              <a:ext uri="{FF2B5EF4-FFF2-40B4-BE49-F238E27FC236}">
                <a16:creationId xmlns:a16="http://schemas.microsoft.com/office/drawing/2014/main" id="{955F1FC2-1E21-7C54-BED2-32C296A8A6DD}"/>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9bea9cbfd3_0_2:notes">
            <a:extLst>
              <a:ext uri="{FF2B5EF4-FFF2-40B4-BE49-F238E27FC236}">
                <a16:creationId xmlns:a16="http://schemas.microsoft.com/office/drawing/2014/main" id="{B6CAD6F0-D345-E2EC-EB00-41235C711D84}"/>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a:p>
        </p:txBody>
      </p:sp>
    </p:spTree>
    <p:extLst>
      <p:ext uri="{BB962C8B-B14F-4D97-AF65-F5344CB8AC3E}">
        <p14:creationId xmlns:p14="http://schemas.microsoft.com/office/powerpoint/2010/main" val="3267094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998DB7B3-91C8-6832-5603-B93F233110ED}"/>
            </a:ext>
          </a:extLst>
        </p:cNvPr>
        <p:cNvGrpSpPr/>
        <p:nvPr/>
      </p:nvGrpSpPr>
      <p:grpSpPr>
        <a:xfrm>
          <a:off x="0" y="0"/>
          <a:ext cx="0" cy="0"/>
          <a:chOff x="0" y="0"/>
          <a:chExt cx="0" cy="0"/>
        </a:xfrm>
      </p:grpSpPr>
      <p:sp>
        <p:nvSpPr>
          <p:cNvPr id="57" name="Google Shape;57;g29bea9cbfd3_0_2:notes">
            <a:extLst>
              <a:ext uri="{FF2B5EF4-FFF2-40B4-BE49-F238E27FC236}">
                <a16:creationId xmlns:a16="http://schemas.microsoft.com/office/drawing/2014/main" id="{02A92A1A-F1D5-9252-CBA7-63972424F543}"/>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9bea9cbfd3_0_2:notes">
            <a:extLst>
              <a:ext uri="{FF2B5EF4-FFF2-40B4-BE49-F238E27FC236}">
                <a16:creationId xmlns:a16="http://schemas.microsoft.com/office/drawing/2014/main" id="{36E13BC4-9FFC-513C-6B2D-E45A04F87769}"/>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a:p>
        </p:txBody>
      </p:sp>
    </p:spTree>
    <p:extLst>
      <p:ext uri="{BB962C8B-B14F-4D97-AF65-F5344CB8AC3E}">
        <p14:creationId xmlns:p14="http://schemas.microsoft.com/office/powerpoint/2010/main" val="4435982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89B6B60F-1DA7-2F7A-46F4-4DD4CFD46211}"/>
            </a:ext>
          </a:extLst>
        </p:cNvPr>
        <p:cNvGrpSpPr/>
        <p:nvPr/>
      </p:nvGrpSpPr>
      <p:grpSpPr>
        <a:xfrm>
          <a:off x="0" y="0"/>
          <a:ext cx="0" cy="0"/>
          <a:chOff x="0" y="0"/>
          <a:chExt cx="0" cy="0"/>
        </a:xfrm>
      </p:grpSpPr>
      <p:sp>
        <p:nvSpPr>
          <p:cNvPr id="57" name="Google Shape;57;g29bea9cbfd3_0_2:notes">
            <a:extLst>
              <a:ext uri="{FF2B5EF4-FFF2-40B4-BE49-F238E27FC236}">
                <a16:creationId xmlns:a16="http://schemas.microsoft.com/office/drawing/2014/main" id="{04388D4C-1EA4-21D4-ED01-C41FE8ED7B43}"/>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9bea9cbfd3_0_2:notes">
            <a:extLst>
              <a:ext uri="{FF2B5EF4-FFF2-40B4-BE49-F238E27FC236}">
                <a16:creationId xmlns:a16="http://schemas.microsoft.com/office/drawing/2014/main" id="{ADAAFC6E-F3C1-F052-F6E0-A2813D4BF95F}"/>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a:p>
        </p:txBody>
      </p:sp>
    </p:spTree>
    <p:extLst>
      <p:ext uri="{BB962C8B-B14F-4D97-AF65-F5344CB8AC3E}">
        <p14:creationId xmlns:p14="http://schemas.microsoft.com/office/powerpoint/2010/main" val="31383485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29bea9cbfd3_0_2: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9bea9cbfd3_0_2:notes"/>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a:p>
        </p:txBody>
      </p:sp>
    </p:spTree>
    <p:extLst>
      <p:ext uri="{BB962C8B-B14F-4D97-AF65-F5344CB8AC3E}">
        <p14:creationId xmlns:p14="http://schemas.microsoft.com/office/powerpoint/2010/main" val="41883066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7C28D957-ACE5-D99C-EA24-33642A5DC43F}"/>
            </a:ext>
          </a:extLst>
        </p:cNvPr>
        <p:cNvGrpSpPr/>
        <p:nvPr/>
      </p:nvGrpSpPr>
      <p:grpSpPr>
        <a:xfrm>
          <a:off x="0" y="0"/>
          <a:ext cx="0" cy="0"/>
          <a:chOff x="0" y="0"/>
          <a:chExt cx="0" cy="0"/>
        </a:xfrm>
      </p:grpSpPr>
      <p:sp>
        <p:nvSpPr>
          <p:cNvPr id="57" name="Google Shape;57;g29bea9cbfd3_0_2:notes">
            <a:extLst>
              <a:ext uri="{FF2B5EF4-FFF2-40B4-BE49-F238E27FC236}">
                <a16:creationId xmlns:a16="http://schemas.microsoft.com/office/drawing/2014/main" id="{EF07E61F-3A8D-281D-B910-9224D4F8AE65}"/>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9bea9cbfd3_0_2:notes">
            <a:extLst>
              <a:ext uri="{FF2B5EF4-FFF2-40B4-BE49-F238E27FC236}">
                <a16:creationId xmlns:a16="http://schemas.microsoft.com/office/drawing/2014/main" id="{D42E1D92-3C09-F67D-7DA2-176AC77C4350}"/>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a:p>
        </p:txBody>
      </p:sp>
    </p:spTree>
    <p:extLst>
      <p:ext uri="{BB962C8B-B14F-4D97-AF65-F5344CB8AC3E}">
        <p14:creationId xmlns:p14="http://schemas.microsoft.com/office/powerpoint/2010/main" val="13377891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BB48A966-B046-1E1A-30A6-280A1315AB61}"/>
            </a:ext>
          </a:extLst>
        </p:cNvPr>
        <p:cNvGrpSpPr/>
        <p:nvPr/>
      </p:nvGrpSpPr>
      <p:grpSpPr>
        <a:xfrm>
          <a:off x="0" y="0"/>
          <a:ext cx="0" cy="0"/>
          <a:chOff x="0" y="0"/>
          <a:chExt cx="0" cy="0"/>
        </a:xfrm>
      </p:grpSpPr>
      <p:sp>
        <p:nvSpPr>
          <p:cNvPr id="57" name="Google Shape;57;g29bea9cbfd3_0_2:notes">
            <a:extLst>
              <a:ext uri="{FF2B5EF4-FFF2-40B4-BE49-F238E27FC236}">
                <a16:creationId xmlns:a16="http://schemas.microsoft.com/office/drawing/2014/main" id="{8931E6D2-F2F6-F86D-1D48-528969B2E8C7}"/>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9bea9cbfd3_0_2:notes">
            <a:extLst>
              <a:ext uri="{FF2B5EF4-FFF2-40B4-BE49-F238E27FC236}">
                <a16:creationId xmlns:a16="http://schemas.microsoft.com/office/drawing/2014/main" id="{41907D71-8BBF-A3D2-8162-AA74E4B41907}"/>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a:p>
        </p:txBody>
      </p:sp>
    </p:spTree>
    <p:extLst>
      <p:ext uri="{BB962C8B-B14F-4D97-AF65-F5344CB8AC3E}">
        <p14:creationId xmlns:p14="http://schemas.microsoft.com/office/powerpoint/2010/main" val="14129766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FA05F308-CFA8-C4AA-136D-E14B027183FC}"/>
            </a:ext>
          </a:extLst>
        </p:cNvPr>
        <p:cNvGrpSpPr/>
        <p:nvPr/>
      </p:nvGrpSpPr>
      <p:grpSpPr>
        <a:xfrm>
          <a:off x="0" y="0"/>
          <a:ext cx="0" cy="0"/>
          <a:chOff x="0" y="0"/>
          <a:chExt cx="0" cy="0"/>
        </a:xfrm>
      </p:grpSpPr>
      <p:sp>
        <p:nvSpPr>
          <p:cNvPr id="57" name="Google Shape;57;g29bea9cbfd3_0_2:notes">
            <a:extLst>
              <a:ext uri="{FF2B5EF4-FFF2-40B4-BE49-F238E27FC236}">
                <a16:creationId xmlns:a16="http://schemas.microsoft.com/office/drawing/2014/main" id="{E22A0C09-94FF-785E-33A8-CB6BDA6EBF13}"/>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9bea9cbfd3_0_2:notes">
            <a:extLst>
              <a:ext uri="{FF2B5EF4-FFF2-40B4-BE49-F238E27FC236}">
                <a16:creationId xmlns:a16="http://schemas.microsoft.com/office/drawing/2014/main" id="{A53A1022-EA46-5F3C-7471-C837F0FF91CC}"/>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a:p>
        </p:txBody>
      </p:sp>
    </p:spTree>
    <p:extLst>
      <p:ext uri="{BB962C8B-B14F-4D97-AF65-F5344CB8AC3E}">
        <p14:creationId xmlns:p14="http://schemas.microsoft.com/office/powerpoint/2010/main" val="24098233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2A042FA8-9D32-5290-A923-F7CE2D22B478}"/>
            </a:ext>
          </a:extLst>
        </p:cNvPr>
        <p:cNvGrpSpPr/>
        <p:nvPr/>
      </p:nvGrpSpPr>
      <p:grpSpPr>
        <a:xfrm>
          <a:off x="0" y="0"/>
          <a:ext cx="0" cy="0"/>
          <a:chOff x="0" y="0"/>
          <a:chExt cx="0" cy="0"/>
        </a:xfrm>
      </p:grpSpPr>
      <p:sp>
        <p:nvSpPr>
          <p:cNvPr id="57" name="Google Shape;57;g29bea9cbfd3_0_2:notes">
            <a:extLst>
              <a:ext uri="{FF2B5EF4-FFF2-40B4-BE49-F238E27FC236}">
                <a16:creationId xmlns:a16="http://schemas.microsoft.com/office/drawing/2014/main" id="{F81CF076-2D0D-C0A1-9CC6-998550D9C458}"/>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9bea9cbfd3_0_2:notes">
            <a:extLst>
              <a:ext uri="{FF2B5EF4-FFF2-40B4-BE49-F238E27FC236}">
                <a16:creationId xmlns:a16="http://schemas.microsoft.com/office/drawing/2014/main" id="{488F4A3C-DC01-3C64-BE10-54709DD9AE74}"/>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a:p>
        </p:txBody>
      </p:sp>
    </p:spTree>
    <p:extLst>
      <p:ext uri="{BB962C8B-B14F-4D97-AF65-F5344CB8AC3E}">
        <p14:creationId xmlns:p14="http://schemas.microsoft.com/office/powerpoint/2010/main" val="20354395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415CF1B1-C0D6-6AB2-C82C-FB7E9D6B7752}"/>
            </a:ext>
          </a:extLst>
        </p:cNvPr>
        <p:cNvGrpSpPr/>
        <p:nvPr/>
      </p:nvGrpSpPr>
      <p:grpSpPr>
        <a:xfrm>
          <a:off x="0" y="0"/>
          <a:ext cx="0" cy="0"/>
          <a:chOff x="0" y="0"/>
          <a:chExt cx="0" cy="0"/>
        </a:xfrm>
      </p:grpSpPr>
      <p:sp>
        <p:nvSpPr>
          <p:cNvPr id="57" name="Google Shape;57;g29bea9cbfd3_0_2:notes">
            <a:extLst>
              <a:ext uri="{FF2B5EF4-FFF2-40B4-BE49-F238E27FC236}">
                <a16:creationId xmlns:a16="http://schemas.microsoft.com/office/drawing/2014/main" id="{EA478F92-546D-C22D-9EFB-89AEFFFBD127}"/>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9bea9cbfd3_0_2:notes">
            <a:extLst>
              <a:ext uri="{FF2B5EF4-FFF2-40B4-BE49-F238E27FC236}">
                <a16:creationId xmlns:a16="http://schemas.microsoft.com/office/drawing/2014/main" id="{0B52ADB4-642C-5DE3-32FF-9E1D29DA040B}"/>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a:p>
        </p:txBody>
      </p:sp>
    </p:spTree>
    <p:extLst>
      <p:ext uri="{BB962C8B-B14F-4D97-AF65-F5344CB8AC3E}">
        <p14:creationId xmlns:p14="http://schemas.microsoft.com/office/powerpoint/2010/main" val="29417405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2F9AA79A-0142-7587-85DF-8612E4FDC71E}"/>
            </a:ext>
          </a:extLst>
        </p:cNvPr>
        <p:cNvGrpSpPr/>
        <p:nvPr/>
      </p:nvGrpSpPr>
      <p:grpSpPr>
        <a:xfrm>
          <a:off x="0" y="0"/>
          <a:ext cx="0" cy="0"/>
          <a:chOff x="0" y="0"/>
          <a:chExt cx="0" cy="0"/>
        </a:xfrm>
      </p:grpSpPr>
      <p:sp>
        <p:nvSpPr>
          <p:cNvPr id="57" name="Google Shape;57;g29bea9cbfd3_0_2:notes">
            <a:extLst>
              <a:ext uri="{FF2B5EF4-FFF2-40B4-BE49-F238E27FC236}">
                <a16:creationId xmlns:a16="http://schemas.microsoft.com/office/drawing/2014/main" id="{7B218EF5-4CA7-6332-158E-A0CB52EA9731}"/>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9bea9cbfd3_0_2:notes">
            <a:extLst>
              <a:ext uri="{FF2B5EF4-FFF2-40B4-BE49-F238E27FC236}">
                <a16:creationId xmlns:a16="http://schemas.microsoft.com/office/drawing/2014/main" id="{A44B7334-3B81-F86E-9D4E-6C9B05656F35}"/>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a:p>
        </p:txBody>
      </p:sp>
    </p:spTree>
    <p:extLst>
      <p:ext uri="{BB962C8B-B14F-4D97-AF65-F5344CB8AC3E}">
        <p14:creationId xmlns:p14="http://schemas.microsoft.com/office/powerpoint/2010/main" val="31382144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754D397A-B9ED-179A-1A08-B65FFC57F29A}"/>
            </a:ext>
          </a:extLst>
        </p:cNvPr>
        <p:cNvGrpSpPr/>
        <p:nvPr/>
      </p:nvGrpSpPr>
      <p:grpSpPr>
        <a:xfrm>
          <a:off x="0" y="0"/>
          <a:ext cx="0" cy="0"/>
          <a:chOff x="0" y="0"/>
          <a:chExt cx="0" cy="0"/>
        </a:xfrm>
      </p:grpSpPr>
      <p:sp>
        <p:nvSpPr>
          <p:cNvPr id="57" name="Google Shape;57;g29bea9cbfd3_0_2:notes">
            <a:extLst>
              <a:ext uri="{FF2B5EF4-FFF2-40B4-BE49-F238E27FC236}">
                <a16:creationId xmlns:a16="http://schemas.microsoft.com/office/drawing/2014/main" id="{E2278D1A-97AF-B86C-9560-C33E37B8691D}"/>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9bea9cbfd3_0_2:notes">
            <a:extLst>
              <a:ext uri="{FF2B5EF4-FFF2-40B4-BE49-F238E27FC236}">
                <a16:creationId xmlns:a16="http://schemas.microsoft.com/office/drawing/2014/main" id="{69FF4077-2805-09BD-9F7E-57209F58AA5B}"/>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a:p>
        </p:txBody>
      </p:sp>
    </p:spTree>
    <p:extLst>
      <p:ext uri="{BB962C8B-B14F-4D97-AF65-F5344CB8AC3E}">
        <p14:creationId xmlns:p14="http://schemas.microsoft.com/office/powerpoint/2010/main" val="35043256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E0AF6C32-8A21-542D-5AC1-2E6D6B9AA5B5}"/>
            </a:ext>
          </a:extLst>
        </p:cNvPr>
        <p:cNvGrpSpPr/>
        <p:nvPr/>
      </p:nvGrpSpPr>
      <p:grpSpPr>
        <a:xfrm>
          <a:off x="0" y="0"/>
          <a:ext cx="0" cy="0"/>
          <a:chOff x="0" y="0"/>
          <a:chExt cx="0" cy="0"/>
        </a:xfrm>
      </p:grpSpPr>
      <p:sp>
        <p:nvSpPr>
          <p:cNvPr id="57" name="Google Shape;57;g29bea9cbfd3_0_2:notes">
            <a:extLst>
              <a:ext uri="{FF2B5EF4-FFF2-40B4-BE49-F238E27FC236}">
                <a16:creationId xmlns:a16="http://schemas.microsoft.com/office/drawing/2014/main" id="{EDD8B2E8-A31B-4D4C-AE8C-AA8618410F80}"/>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9bea9cbfd3_0_2:notes">
            <a:extLst>
              <a:ext uri="{FF2B5EF4-FFF2-40B4-BE49-F238E27FC236}">
                <a16:creationId xmlns:a16="http://schemas.microsoft.com/office/drawing/2014/main" id="{9912A13E-6232-7CDF-9D78-A1E075C1D81D}"/>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a:p>
        </p:txBody>
      </p:sp>
    </p:spTree>
    <p:extLst>
      <p:ext uri="{BB962C8B-B14F-4D97-AF65-F5344CB8AC3E}">
        <p14:creationId xmlns:p14="http://schemas.microsoft.com/office/powerpoint/2010/main" val="13841355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29bea9cbfd3_0_2: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9bea9cbfd3_0_2:notes"/>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a:p>
        </p:txBody>
      </p:sp>
    </p:spTree>
    <p:extLst>
      <p:ext uri="{BB962C8B-B14F-4D97-AF65-F5344CB8AC3E}">
        <p14:creationId xmlns:p14="http://schemas.microsoft.com/office/powerpoint/2010/main" val="32767318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2.jpeg"/></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53"/>
        <p:cNvGrpSpPr/>
        <p:nvPr/>
      </p:nvGrpSpPr>
      <p:grpSpPr>
        <a:xfrm>
          <a:off x="0" y="0"/>
          <a:ext cx="0" cy="0"/>
          <a:chOff x="0" y="0"/>
          <a:chExt cx="0" cy="0"/>
        </a:xfrm>
      </p:grpSpPr>
      <p:sp>
        <p:nvSpPr>
          <p:cNvPr id="6" name="Slide Number Placeholder 5"/>
          <p:cNvSpPr>
            <a:spLocks noGrp="1"/>
          </p:cNvSpPr>
          <p:nvPr>
            <p:ph type="sldNum" sz="quarter" idx="12"/>
          </p:nvPr>
        </p:nvSpPr>
        <p:spPr>
          <a:xfrm>
            <a:off x="8077839" y="4576417"/>
            <a:ext cx="548700" cy="393600"/>
          </a:xfrm>
        </p:spPr>
        <p:txBody>
          <a:bodyPr/>
          <a:lstStyle/>
          <a:p>
            <a:fld id="{9BA15CD2-76D6-4EFE-91D9-7087332E3318}" type="slidenum">
              <a:rPr lang="en-IN" smtClean="0"/>
              <a:pPr/>
              <a:t>1</a:t>
            </a:fld>
            <a:endParaRPr lang="en-IN"/>
          </a:p>
        </p:txBody>
      </p:sp>
      <p:sp>
        <p:nvSpPr>
          <p:cNvPr id="2" name="object 2">
            <a:extLst>
              <a:ext uri="{FF2B5EF4-FFF2-40B4-BE49-F238E27FC236}">
                <a16:creationId xmlns:a16="http://schemas.microsoft.com/office/drawing/2014/main" id="{80EC1102-A358-2F94-640B-3F1EA4FCE492}"/>
              </a:ext>
            </a:extLst>
          </p:cNvPr>
          <p:cNvSpPr txBox="1">
            <a:spLocks noChangeArrowheads="1"/>
          </p:cNvSpPr>
          <p:nvPr/>
        </p:nvSpPr>
        <p:spPr bwMode="auto">
          <a:xfrm>
            <a:off x="927274" y="1080356"/>
            <a:ext cx="7289451" cy="115109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a:buClr>
                <a:schemeClr val="dk1"/>
              </a:buClr>
              <a:buSzPts val="2800"/>
              <a:buNone/>
              <a:defRPr i="1">
                <a:solidFill>
                  <a:schemeClr val="accent1">
                    <a:lumMod val="50000"/>
                  </a:schemeClr>
                </a:solidFill>
                <a:latin typeface="Playfair Display" panose="00000500000000000000" pitchFamily="2" charset="0"/>
                <a:ea typeface="ＭＳ Ｐゴシック" panose="020B0600070205080204" pitchFamily="34" charset="-128"/>
              </a:defRPr>
            </a:lvl1pPr>
            <a:lvl2pPr>
              <a:buClr>
                <a:schemeClr val="dk1"/>
              </a:buClr>
              <a:buSzPts val="2800"/>
              <a:buNone/>
              <a:defRPr sz="2800">
                <a:solidFill>
                  <a:schemeClr val="dk1"/>
                </a:solidFill>
              </a:defRPr>
            </a:lvl2pPr>
            <a:lvl3pPr>
              <a:buClr>
                <a:schemeClr val="dk1"/>
              </a:buClr>
              <a:buSzPts val="2800"/>
              <a:buNone/>
              <a:defRPr sz="2800">
                <a:solidFill>
                  <a:schemeClr val="dk1"/>
                </a:solidFill>
              </a:defRPr>
            </a:lvl3pPr>
            <a:lvl4pPr>
              <a:buClr>
                <a:schemeClr val="dk1"/>
              </a:buClr>
              <a:buSzPts val="2800"/>
              <a:buNone/>
              <a:defRPr sz="2800">
                <a:solidFill>
                  <a:schemeClr val="dk1"/>
                </a:solidFill>
              </a:defRPr>
            </a:lvl4pPr>
            <a:lvl5pPr>
              <a:buClr>
                <a:schemeClr val="dk1"/>
              </a:buClr>
              <a:buSzPts val="2800"/>
              <a:buNone/>
              <a:defRPr sz="2800">
                <a:solidFill>
                  <a:schemeClr val="dk1"/>
                </a:solidFill>
              </a:defRPr>
            </a:lvl5pPr>
            <a:lvl6pPr>
              <a:buClr>
                <a:schemeClr val="dk1"/>
              </a:buClr>
              <a:buSzPts val="2800"/>
              <a:buNone/>
              <a:defRPr sz="2800">
                <a:solidFill>
                  <a:schemeClr val="dk1"/>
                </a:solidFill>
              </a:defRPr>
            </a:lvl6pPr>
            <a:lvl7pPr>
              <a:buClr>
                <a:schemeClr val="dk1"/>
              </a:buClr>
              <a:buSzPts val="2800"/>
              <a:buNone/>
              <a:defRPr sz="2800">
                <a:solidFill>
                  <a:schemeClr val="dk1"/>
                </a:solidFill>
              </a:defRPr>
            </a:lvl7pPr>
            <a:lvl8pPr>
              <a:buClr>
                <a:schemeClr val="dk1"/>
              </a:buClr>
              <a:buSzPts val="2800"/>
              <a:buNone/>
              <a:defRPr sz="2800">
                <a:solidFill>
                  <a:schemeClr val="dk1"/>
                </a:solidFill>
              </a:defRPr>
            </a:lvl8pPr>
            <a:lvl9pPr>
              <a:buClr>
                <a:schemeClr val="dk1"/>
              </a:buClr>
              <a:buSzPts val="2800"/>
              <a:buNone/>
              <a:defRPr sz="2800">
                <a:solidFill>
                  <a:schemeClr val="dk1"/>
                </a:solidFill>
              </a:defRPr>
            </a:lvl9pPr>
          </a:lstStyle>
          <a:p>
            <a:pPr algn="ctr"/>
            <a:r>
              <a:rPr lang="en-US" altLang="en-US" sz="3200" i="0" dirty="0">
                <a:latin typeface="Bookman Old Style" panose="02050604050505020204" pitchFamily="18" charset="0"/>
              </a:rPr>
              <a:t>VIII Semester Major Project Work</a:t>
            </a:r>
          </a:p>
          <a:p>
            <a:pPr algn="ctr"/>
            <a:r>
              <a:rPr lang="en-US" altLang="en-US" sz="3200" i="0" dirty="0">
                <a:latin typeface="Bookman Old Style" panose="02050604050505020204" pitchFamily="18" charset="0"/>
              </a:rPr>
              <a:t> </a:t>
            </a:r>
            <a:r>
              <a:rPr lang="en-US" altLang="en-US" sz="3200" i="0" dirty="0">
                <a:latin typeface="Bookman Old Style" panose="02050604050505020204" pitchFamily="18" charset="0"/>
                <a:cs typeface="Times New Roman" panose="02020603050405020304" pitchFamily="18" charset="0"/>
              </a:rPr>
              <a:t>( CD481P</a:t>
            </a:r>
            <a:r>
              <a:rPr lang="en-US" altLang="en-US" sz="3200" i="0" dirty="0">
                <a:latin typeface="Bookman Old Style" panose="02050604050505020204" pitchFamily="18" charset="0"/>
              </a:rPr>
              <a:t>)</a:t>
            </a:r>
          </a:p>
        </p:txBody>
      </p:sp>
      <p:sp>
        <p:nvSpPr>
          <p:cNvPr id="3" name="object 2">
            <a:extLst>
              <a:ext uri="{FF2B5EF4-FFF2-40B4-BE49-F238E27FC236}">
                <a16:creationId xmlns:a16="http://schemas.microsoft.com/office/drawing/2014/main" id="{338BCCBF-8D7E-6CEB-5C00-AC9B92EDF9B1}"/>
              </a:ext>
            </a:extLst>
          </p:cNvPr>
          <p:cNvSpPr txBox="1">
            <a:spLocks noChangeArrowheads="1"/>
          </p:cNvSpPr>
          <p:nvPr/>
        </p:nvSpPr>
        <p:spPr bwMode="auto">
          <a:xfrm>
            <a:off x="1688944" y="2622873"/>
            <a:ext cx="5766109" cy="57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11430" rIns="0" bIns="0">
            <a:spAutoFit/>
          </a:bodyPr>
          <a:lstStyle>
            <a:lvl1pPr marL="12700">
              <a:spcBef>
                <a:spcPct val="20000"/>
              </a:spcBef>
              <a:tabLst>
                <a:tab pos="3514725" algn="l"/>
              </a:tabLst>
              <a:defRPr>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tabLst>
                <a:tab pos="3514725" algn="l"/>
              </a:tabLst>
              <a:defRPr>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tabLst>
                <a:tab pos="3514725" algn="l"/>
              </a:tabLst>
              <a:defRPr>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tabLst>
                <a:tab pos="3514725" algn="l"/>
              </a:tabLst>
              <a:defRPr>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tabLst>
                <a:tab pos="3514725" algn="l"/>
              </a:tabLst>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tabLst>
                <a:tab pos="3514725" algn="l"/>
              </a:tabLs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tabLst>
                <a:tab pos="3514725" algn="l"/>
              </a:tabLs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tabLst>
                <a:tab pos="3514725" algn="l"/>
              </a:tabLs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tabLst>
                <a:tab pos="3514725" algn="l"/>
              </a:tabLst>
              <a:defRPr>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ts val="88"/>
              </a:spcBef>
            </a:pPr>
            <a:r>
              <a:rPr lang="en-US" altLang="en-US" sz="1800" dirty="0">
                <a:latin typeface="Bookman Old Style" panose="02050604050505020204" pitchFamily="18" charset="0"/>
              </a:rPr>
              <a:t>Department of Computer Science,  </a:t>
            </a:r>
          </a:p>
          <a:p>
            <a:pPr algn="ctr" eaLnBrk="1" hangingPunct="1">
              <a:spcBef>
                <a:spcPts val="88"/>
              </a:spcBef>
            </a:pPr>
            <a:r>
              <a:rPr lang="en-US" altLang="en-US" sz="1800" dirty="0">
                <a:latin typeface="Bookman Old Style" panose="02050604050505020204" pitchFamily="18" charset="0"/>
              </a:rPr>
              <a:t>R V College of  Engineering, Bengaluru</a:t>
            </a:r>
            <a:r>
              <a:rPr lang="en-US" altLang="en-US" sz="1800" dirty="0">
                <a:latin typeface="Helvetica-Bold" charset="0"/>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59"/>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2</a:t>
            </a:fld>
            <a:endParaRPr lang="en-GB"/>
          </a:p>
        </p:txBody>
      </p:sp>
      <p:sp>
        <p:nvSpPr>
          <p:cNvPr id="6" name="Date Placeholder 3"/>
          <p:cNvSpPr>
            <a:spLocks noGrp="1"/>
          </p:cNvSpPr>
          <p:nvPr/>
        </p:nvSpPr>
        <p:spPr>
          <a:xfrm>
            <a:off x="311785" y="4483735"/>
            <a:ext cx="212598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p>
        </p:txBody>
      </p:sp>
      <p:sp>
        <p:nvSpPr>
          <p:cNvPr id="7" name="Footer Placeholder 4"/>
          <p:cNvSpPr>
            <a:spLocks noGrp="1"/>
          </p:cNvSpPr>
          <p:nvPr/>
        </p:nvSpPr>
        <p:spPr>
          <a:xfrm>
            <a:off x="3512185" y="4483735"/>
            <a:ext cx="318833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RV COLLEGE OF ENGINEERING</a:t>
            </a:r>
          </a:p>
        </p:txBody>
      </p:sp>
      <p:sp>
        <p:nvSpPr>
          <p:cNvPr id="3" name="object 9">
            <a:extLst>
              <a:ext uri="{FF2B5EF4-FFF2-40B4-BE49-F238E27FC236}">
                <a16:creationId xmlns:a16="http://schemas.microsoft.com/office/drawing/2014/main" id="{27E7BABE-187B-9CA7-F691-2ECD8E369BE2}"/>
              </a:ext>
            </a:extLst>
          </p:cNvPr>
          <p:cNvSpPr txBox="1">
            <a:spLocks noChangeArrowheads="1"/>
          </p:cNvSpPr>
          <p:nvPr/>
        </p:nvSpPr>
        <p:spPr bwMode="auto">
          <a:xfrm>
            <a:off x="327102" y="1002061"/>
            <a:ext cx="8445190" cy="113979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RPr/>
            </a:defPPr>
            <a:lvl1pPr>
              <a:buClr>
                <a:schemeClr val="dk1"/>
              </a:buClr>
              <a:buSzPts val="2800"/>
              <a:buNone/>
              <a:defRPr sz="3200">
                <a:solidFill>
                  <a:schemeClr val="accent1">
                    <a:lumMod val="50000"/>
                  </a:schemeClr>
                </a:solidFill>
                <a:latin typeface="Playfair Display" panose="00000500000000000000" pitchFamily="2" charset="0"/>
                <a:ea typeface="ＭＳ Ｐゴシック" panose="020B0600070205080204" pitchFamily="34" charset="-128"/>
              </a:defRPr>
            </a:lvl1pPr>
            <a:lvl2pPr>
              <a:buClr>
                <a:schemeClr val="dk1"/>
              </a:buClr>
              <a:buSzPts val="2800"/>
              <a:buNone/>
              <a:defRPr sz="2800">
                <a:solidFill>
                  <a:schemeClr val="dk1"/>
                </a:solidFill>
              </a:defRPr>
            </a:lvl2pPr>
            <a:lvl3pPr>
              <a:buClr>
                <a:schemeClr val="dk1"/>
              </a:buClr>
              <a:buSzPts val="2800"/>
              <a:buNone/>
              <a:defRPr sz="2800">
                <a:solidFill>
                  <a:schemeClr val="dk1"/>
                </a:solidFill>
              </a:defRPr>
            </a:lvl3pPr>
            <a:lvl4pPr>
              <a:buClr>
                <a:schemeClr val="dk1"/>
              </a:buClr>
              <a:buSzPts val="2800"/>
              <a:buNone/>
              <a:defRPr sz="2800">
                <a:solidFill>
                  <a:schemeClr val="dk1"/>
                </a:solidFill>
              </a:defRPr>
            </a:lvl4pPr>
            <a:lvl5pPr>
              <a:buClr>
                <a:schemeClr val="dk1"/>
              </a:buClr>
              <a:buSzPts val="2800"/>
              <a:buNone/>
              <a:defRPr sz="2800">
                <a:solidFill>
                  <a:schemeClr val="dk1"/>
                </a:solidFill>
              </a:defRPr>
            </a:lvl5pPr>
            <a:lvl6pPr>
              <a:buClr>
                <a:schemeClr val="dk1"/>
              </a:buClr>
              <a:buSzPts val="2800"/>
              <a:buNone/>
              <a:defRPr sz="2800">
                <a:solidFill>
                  <a:schemeClr val="dk1"/>
                </a:solidFill>
              </a:defRPr>
            </a:lvl6pPr>
            <a:lvl7pPr>
              <a:buClr>
                <a:schemeClr val="dk1"/>
              </a:buClr>
              <a:buSzPts val="2800"/>
              <a:buNone/>
              <a:defRPr sz="2800">
                <a:solidFill>
                  <a:schemeClr val="dk1"/>
                </a:solidFill>
              </a:defRPr>
            </a:lvl7pPr>
            <a:lvl8pPr>
              <a:buClr>
                <a:schemeClr val="dk1"/>
              </a:buClr>
              <a:buSzPts val="2800"/>
              <a:buNone/>
              <a:defRPr sz="2800">
                <a:solidFill>
                  <a:schemeClr val="dk1"/>
                </a:solidFill>
              </a:defRPr>
            </a:lvl8pPr>
            <a:lvl9pPr>
              <a:buClr>
                <a:schemeClr val="dk1"/>
              </a:buClr>
              <a:buSzPts val="2800"/>
              <a:buNone/>
              <a:defRPr sz="2800">
                <a:solidFill>
                  <a:schemeClr val="dk1"/>
                </a:solidFill>
              </a:defRPr>
            </a:lvl9pPr>
          </a:lstStyle>
          <a:p>
            <a:pPr algn="ctr"/>
            <a:r>
              <a:rPr lang="en-US" altLang="en-US" sz="2000" dirty="0">
                <a:latin typeface="Bookman Old Style" panose="02050604050505020204" pitchFamily="18" charset="0"/>
              </a:rPr>
              <a:t>Machine learning based Parasite Recognition</a:t>
            </a:r>
          </a:p>
          <a:p>
            <a:pPr algn="ctr"/>
            <a:r>
              <a:rPr lang="en-US" altLang="en-US" sz="2000" dirty="0">
                <a:latin typeface="Bookman Old Style" panose="02050604050505020204" pitchFamily="18" charset="0"/>
              </a:rPr>
              <a:t>System for automated detection of Plasmodium</a:t>
            </a:r>
          </a:p>
          <a:p>
            <a:pPr algn="ctr"/>
            <a:r>
              <a:rPr lang="en-US" altLang="en-US" sz="2000" dirty="0">
                <a:latin typeface="Bookman Old Style" panose="02050604050505020204" pitchFamily="18" charset="0"/>
              </a:rPr>
              <a:t>falciparum from microscopic images</a:t>
            </a:r>
          </a:p>
        </p:txBody>
      </p:sp>
      <p:sp>
        <p:nvSpPr>
          <p:cNvPr id="9" name="Rectangle 8">
            <a:extLst>
              <a:ext uri="{FF2B5EF4-FFF2-40B4-BE49-F238E27FC236}">
                <a16:creationId xmlns:a16="http://schemas.microsoft.com/office/drawing/2014/main" id="{4293B431-7E67-A890-26F3-D51B3280239B}"/>
              </a:ext>
            </a:extLst>
          </p:cNvPr>
          <p:cNvSpPr/>
          <p:nvPr/>
        </p:nvSpPr>
        <p:spPr>
          <a:xfrm>
            <a:off x="-111512" y="3127059"/>
            <a:ext cx="6305613" cy="307777"/>
          </a:xfrm>
          <a:prstGeom prst="rect">
            <a:avLst/>
          </a:prstGeom>
        </p:spPr>
        <p:txBody>
          <a:bodyPr wrap="square">
            <a:spAutoFit/>
          </a:bodyPr>
          <a:lstStyle/>
          <a:p>
            <a:pPr algn="ctr"/>
            <a:r>
              <a:rPr lang="en-US" dirty="0">
                <a:latin typeface="Times New Roman" panose="02020603050405020304" pitchFamily="18" charset="0"/>
                <a:cs typeface="Times New Roman" panose="02020603050405020304" pitchFamily="18" charset="0"/>
              </a:rPr>
              <a:t>                                                                  Under the Guidance of</a:t>
            </a:r>
          </a:p>
        </p:txBody>
      </p:sp>
      <p:sp>
        <p:nvSpPr>
          <p:cNvPr id="10" name="TextBox 9">
            <a:extLst>
              <a:ext uri="{FF2B5EF4-FFF2-40B4-BE49-F238E27FC236}">
                <a16:creationId xmlns:a16="http://schemas.microsoft.com/office/drawing/2014/main" id="{6D080C31-41E2-C7AF-8F65-57C2D7C49E59}"/>
              </a:ext>
            </a:extLst>
          </p:cNvPr>
          <p:cNvSpPr txBox="1"/>
          <p:nvPr/>
        </p:nvSpPr>
        <p:spPr>
          <a:xfrm>
            <a:off x="650191" y="3582503"/>
            <a:ext cx="2559424" cy="1015663"/>
          </a:xfrm>
          <a:prstGeom prst="rect">
            <a:avLst/>
          </a:prstGeom>
          <a:noFill/>
        </p:spPr>
        <p:txBody>
          <a:bodyPr wrap="square" rtlCol="0">
            <a:spAutoFit/>
          </a:bodyPr>
          <a:lstStyle/>
          <a:p>
            <a:pPr algn="ctr"/>
            <a:r>
              <a:rPr lang="en-US" sz="1200" b="1" dirty="0">
                <a:latin typeface="Times New Roman "/>
              </a:rPr>
              <a:t>Internal Guide</a:t>
            </a:r>
            <a:r>
              <a:rPr lang="en-US" sz="1200" dirty="0">
                <a:latin typeface="Times New Roman "/>
              </a:rPr>
              <a:t> </a:t>
            </a:r>
            <a:br>
              <a:rPr lang="en-US" sz="1200" dirty="0">
                <a:latin typeface="Times New Roman "/>
              </a:rPr>
            </a:br>
            <a:r>
              <a:rPr lang="en-US" sz="1200" dirty="0">
                <a:latin typeface="Times New Roman "/>
              </a:rPr>
              <a:t>Prof. Mekhala V P </a:t>
            </a:r>
          </a:p>
          <a:p>
            <a:pPr algn="ctr"/>
            <a:r>
              <a:rPr lang="en-US" sz="1200" dirty="0">
                <a:latin typeface="Times New Roman "/>
              </a:rPr>
              <a:t>Assistant Professor </a:t>
            </a:r>
          </a:p>
          <a:p>
            <a:pPr algn="ctr"/>
            <a:r>
              <a:rPr lang="en-US" sz="1200" dirty="0">
                <a:latin typeface="Times New Roman "/>
                <a:cs typeface="Times New Roman" panose="02020603050405020304" pitchFamily="18" charset="0"/>
              </a:rPr>
              <a:t>Dept. of CSE,</a:t>
            </a:r>
          </a:p>
          <a:p>
            <a:pPr algn="ctr"/>
            <a:r>
              <a:rPr lang="en-US" sz="1200" dirty="0">
                <a:latin typeface="Times New Roman "/>
                <a:cs typeface="Times New Roman" panose="02020603050405020304" pitchFamily="18" charset="0"/>
              </a:rPr>
              <a:t>RVCE, Bengaluru</a:t>
            </a:r>
            <a:endParaRPr lang="en-IN" sz="1200" dirty="0">
              <a:latin typeface="Times New Roman "/>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230C1DE9-23AD-481B-88C1-9F92223C7A2C}"/>
              </a:ext>
            </a:extLst>
          </p:cNvPr>
          <p:cNvGraphicFramePr>
            <a:graphicFrameLocks noGrp="1"/>
          </p:cNvGraphicFramePr>
          <p:nvPr>
            <p:extLst>
              <p:ext uri="{D42A27DB-BD31-4B8C-83A1-F6EECF244321}">
                <p14:modId xmlns:p14="http://schemas.microsoft.com/office/powerpoint/2010/main" val="792947649"/>
              </p:ext>
            </p:extLst>
          </p:nvPr>
        </p:nvGraphicFramePr>
        <p:xfrm>
          <a:off x="2233962" y="2247076"/>
          <a:ext cx="5549154" cy="304800"/>
        </p:xfrm>
        <a:graphic>
          <a:graphicData uri="http://schemas.openxmlformats.org/drawingml/2006/table">
            <a:tbl>
              <a:tblPr firstRow="1" bandRow="1">
                <a:tableStyleId>{2D5ABB26-0587-4C30-8999-92F81FD0307C}</a:tableStyleId>
              </a:tblPr>
              <a:tblGrid>
                <a:gridCol w="3458422">
                  <a:extLst>
                    <a:ext uri="{9D8B030D-6E8A-4147-A177-3AD203B41FA5}">
                      <a16:colId xmlns:a16="http://schemas.microsoft.com/office/drawing/2014/main" val="1807898810"/>
                    </a:ext>
                  </a:extLst>
                </a:gridCol>
                <a:gridCol w="2090732">
                  <a:extLst>
                    <a:ext uri="{9D8B030D-6E8A-4147-A177-3AD203B41FA5}">
                      <a16:colId xmlns:a16="http://schemas.microsoft.com/office/drawing/2014/main" val="1763255713"/>
                    </a:ext>
                  </a:extLst>
                </a:gridCol>
              </a:tblGrid>
              <a:tr h="268474">
                <a:tc>
                  <a:txBody>
                    <a:bodyPr/>
                    <a:lstStyle/>
                    <a:p>
                      <a:r>
                        <a:rPr lang="en-IN" sz="1400" dirty="0">
                          <a:latin typeface="Times New Roman" panose="02020603050405020304" pitchFamily="18" charset="0"/>
                          <a:cs typeface="Times New Roman" panose="02020603050405020304" pitchFamily="18" charset="0"/>
                        </a:rPr>
                        <a:t>Anjan Babu K 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Times New Roman" panose="02020603050405020304" pitchFamily="18" charset="0"/>
                          <a:cs typeface="Times New Roman" panose="02020603050405020304" pitchFamily="18" charset="0"/>
                        </a:rPr>
                        <a:t>1RV23CD400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9502296"/>
                  </a:ext>
                </a:extLst>
              </a:tr>
            </a:tbl>
          </a:graphicData>
        </a:graphic>
      </p:graphicFrame>
      <p:sp>
        <p:nvSpPr>
          <p:cNvPr id="12" name="TextBox 11">
            <a:extLst>
              <a:ext uri="{FF2B5EF4-FFF2-40B4-BE49-F238E27FC236}">
                <a16:creationId xmlns:a16="http://schemas.microsoft.com/office/drawing/2014/main" id="{CA88FE9A-CC91-B39C-485E-C6C35BB9F55F}"/>
              </a:ext>
            </a:extLst>
          </p:cNvPr>
          <p:cNvSpPr txBox="1"/>
          <p:nvPr/>
        </p:nvSpPr>
        <p:spPr>
          <a:xfrm>
            <a:off x="6584576" y="3526748"/>
            <a:ext cx="2559424" cy="1015663"/>
          </a:xfrm>
          <a:prstGeom prst="rect">
            <a:avLst/>
          </a:prstGeom>
          <a:noFill/>
        </p:spPr>
        <p:txBody>
          <a:bodyPr wrap="square" rtlCol="0">
            <a:spAutoFit/>
          </a:bodyPr>
          <a:lstStyle/>
          <a:p>
            <a:pPr algn="ctr"/>
            <a:r>
              <a:rPr lang="en-US" sz="1200" b="1" dirty="0">
                <a:latin typeface="Times New Roman "/>
              </a:rPr>
              <a:t>Internal Guide</a:t>
            </a:r>
            <a:r>
              <a:rPr lang="en-US" sz="1200" dirty="0">
                <a:latin typeface="Times New Roman "/>
              </a:rPr>
              <a:t> </a:t>
            </a:r>
            <a:br>
              <a:rPr lang="en-US" sz="1200" dirty="0">
                <a:latin typeface="Times New Roman "/>
              </a:rPr>
            </a:br>
            <a:r>
              <a:rPr lang="en-US" sz="1200" dirty="0" err="1">
                <a:latin typeface="Times New Roman "/>
              </a:rPr>
              <a:t>Prof.Deepthi</a:t>
            </a:r>
            <a:r>
              <a:rPr lang="en-US" sz="1200" dirty="0">
                <a:latin typeface="Times New Roman "/>
              </a:rPr>
              <a:t> L</a:t>
            </a:r>
          </a:p>
          <a:p>
            <a:pPr algn="ctr"/>
            <a:r>
              <a:rPr lang="en-US" sz="1200" dirty="0">
                <a:latin typeface="Times New Roman "/>
              </a:rPr>
              <a:t>Assistant Professor </a:t>
            </a:r>
          </a:p>
          <a:p>
            <a:pPr algn="ctr"/>
            <a:r>
              <a:rPr lang="en-US" sz="1200" dirty="0">
                <a:latin typeface="Times New Roman "/>
                <a:cs typeface="Times New Roman" panose="02020603050405020304" pitchFamily="18" charset="0"/>
              </a:rPr>
              <a:t>Dept. of CSE,</a:t>
            </a:r>
          </a:p>
          <a:p>
            <a:pPr algn="ctr"/>
            <a:r>
              <a:rPr lang="en-US" sz="1200" dirty="0">
                <a:latin typeface="Times New Roman "/>
                <a:cs typeface="Times New Roman" panose="02020603050405020304" pitchFamily="18" charset="0"/>
              </a:rPr>
              <a:t>RVCE, Bengaluru</a:t>
            </a:r>
            <a:endParaRPr lang="en-IN" sz="1200" dirty="0">
              <a:latin typeface="Times New Roman "/>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59">
          <a:extLst>
            <a:ext uri="{FF2B5EF4-FFF2-40B4-BE49-F238E27FC236}">
              <a16:creationId xmlns:a16="http://schemas.microsoft.com/office/drawing/2014/main" id="{DE1B450E-8266-E58A-DD0B-CA7CF967803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1586124-8C81-DC41-6E4E-E9ADB08A764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3</a:t>
            </a:fld>
            <a:endParaRPr lang="en-GB"/>
          </a:p>
        </p:txBody>
      </p:sp>
      <p:sp>
        <p:nvSpPr>
          <p:cNvPr id="6" name="Date Placeholder 3">
            <a:extLst>
              <a:ext uri="{FF2B5EF4-FFF2-40B4-BE49-F238E27FC236}">
                <a16:creationId xmlns:a16="http://schemas.microsoft.com/office/drawing/2014/main" id="{BE13F45C-DF0D-8826-8D7E-7B27EA55B622}"/>
              </a:ext>
            </a:extLst>
          </p:cNvPr>
          <p:cNvSpPr>
            <a:spLocks noGrp="1"/>
          </p:cNvSpPr>
          <p:nvPr/>
        </p:nvSpPr>
        <p:spPr>
          <a:xfrm>
            <a:off x="311785" y="4483735"/>
            <a:ext cx="212598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Date</a:t>
            </a:r>
          </a:p>
        </p:txBody>
      </p:sp>
      <p:sp>
        <p:nvSpPr>
          <p:cNvPr id="7" name="Footer Placeholder 4">
            <a:extLst>
              <a:ext uri="{FF2B5EF4-FFF2-40B4-BE49-F238E27FC236}">
                <a16:creationId xmlns:a16="http://schemas.microsoft.com/office/drawing/2014/main" id="{A46E9266-9E0D-7FC9-47DF-682E5CE99057}"/>
              </a:ext>
            </a:extLst>
          </p:cNvPr>
          <p:cNvSpPr>
            <a:spLocks noGrp="1"/>
          </p:cNvSpPr>
          <p:nvPr/>
        </p:nvSpPr>
        <p:spPr>
          <a:xfrm>
            <a:off x="3512185" y="4483735"/>
            <a:ext cx="318833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RV COLLEGE OF ENGINEERING</a:t>
            </a:r>
          </a:p>
        </p:txBody>
      </p:sp>
      <p:sp>
        <p:nvSpPr>
          <p:cNvPr id="2" name="Title 1">
            <a:extLst>
              <a:ext uri="{FF2B5EF4-FFF2-40B4-BE49-F238E27FC236}">
                <a16:creationId xmlns:a16="http://schemas.microsoft.com/office/drawing/2014/main" id="{D3E4F2F7-8DD1-56A3-BBCD-2E4F89262D51}"/>
              </a:ext>
            </a:extLst>
          </p:cNvPr>
          <p:cNvSpPr>
            <a:spLocks noGrp="1"/>
          </p:cNvSpPr>
          <p:nvPr>
            <p:ph type="title"/>
          </p:nvPr>
        </p:nvSpPr>
        <p:spPr>
          <a:xfrm>
            <a:off x="1948909" y="172463"/>
            <a:ext cx="4751612" cy="540337"/>
          </a:xfrm>
        </p:spPr>
        <p:txBody>
          <a:bodyPr>
            <a:noAutofit/>
          </a:bodyPr>
          <a:lstStyle/>
          <a:p>
            <a:pPr algn="ctr"/>
            <a:r>
              <a:rPr lang="en-US" sz="2000" b="1" dirty="0">
                <a:solidFill>
                  <a:schemeClr val="accent1">
                    <a:lumMod val="50000"/>
                  </a:schemeClr>
                </a:solidFill>
                <a:latin typeface="Bookman Old Style" panose="02050604050505020204" pitchFamily="18" charset="0"/>
                <a:ea typeface="ＭＳ Ｐゴシック" panose="020B0600070205080204" pitchFamily="34" charset="-128"/>
              </a:rPr>
              <a:t>Agenda</a:t>
            </a:r>
            <a:endParaRPr lang="en-US" altLang="en-US" sz="2000" b="1" dirty="0">
              <a:solidFill>
                <a:schemeClr val="accent1">
                  <a:lumMod val="50000"/>
                </a:schemeClr>
              </a:solidFill>
              <a:latin typeface="Bookman Old Style" panose="02050604050505020204" pitchFamily="18" charset="0"/>
              <a:ea typeface="ＭＳ Ｐゴシック" panose="020B0600070205080204" pitchFamily="34" charset="-128"/>
            </a:endParaRPr>
          </a:p>
        </p:txBody>
      </p:sp>
      <p:sp>
        <p:nvSpPr>
          <p:cNvPr id="5" name="Rectangle 2">
            <a:extLst>
              <a:ext uri="{FF2B5EF4-FFF2-40B4-BE49-F238E27FC236}">
                <a16:creationId xmlns:a16="http://schemas.microsoft.com/office/drawing/2014/main" id="{BD45B10C-481F-188F-72A1-9A6871864DC6}"/>
              </a:ext>
            </a:extLst>
          </p:cNvPr>
          <p:cNvSpPr>
            <a:spLocks noChangeArrowheads="1"/>
          </p:cNvSpPr>
          <p:nvPr/>
        </p:nvSpPr>
        <p:spPr bwMode="auto">
          <a:xfrm>
            <a:off x="1256760" y="823088"/>
            <a:ext cx="6738377" cy="4016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44000" indent="-285750">
              <a:lnSpc>
                <a:spcPts val="1800"/>
              </a:lnSpc>
              <a:spcBef>
                <a:spcPts val="600"/>
              </a:spcBef>
              <a:buFont typeface="Arial" panose="020B0604020202020204" pitchFamily="34" charset="0"/>
              <a:buChar char="•"/>
            </a:pPr>
            <a:r>
              <a:rPr lang="en-US" sz="1800" dirty="0">
                <a:latin typeface="Bookman Old Style" panose="02050604050505020204" pitchFamily="18" charset="0"/>
              </a:rPr>
              <a:t>Introduction</a:t>
            </a:r>
          </a:p>
          <a:p>
            <a:pPr marL="144000" indent="-285750">
              <a:lnSpc>
                <a:spcPts val="1800"/>
              </a:lnSpc>
              <a:spcBef>
                <a:spcPts val="600"/>
              </a:spcBef>
              <a:buFont typeface="Arial" panose="020B0604020202020204" pitchFamily="34" charset="0"/>
              <a:buChar char="•"/>
            </a:pPr>
            <a:r>
              <a:rPr lang="en-US" sz="1800" dirty="0">
                <a:latin typeface="Bookman Old Style" panose="02050604050505020204" pitchFamily="18" charset="0"/>
              </a:rPr>
              <a:t>Literature Review</a:t>
            </a:r>
          </a:p>
          <a:p>
            <a:pPr marL="144000" indent="-285750">
              <a:lnSpc>
                <a:spcPts val="1800"/>
              </a:lnSpc>
              <a:spcBef>
                <a:spcPts val="600"/>
              </a:spcBef>
              <a:buFont typeface="Arial" panose="020B0604020202020204" pitchFamily="34" charset="0"/>
              <a:buChar char="•"/>
            </a:pPr>
            <a:r>
              <a:rPr lang="en-US" sz="1800" dirty="0">
                <a:latin typeface="Bookman Old Style" panose="02050604050505020204" pitchFamily="18" charset="0"/>
              </a:rPr>
              <a:t>Motivation</a:t>
            </a:r>
          </a:p>
          <a:p>
            <a:pPr marL="144000" indent="-285750">
              <a:lnSpc>
                <a:spcPts val="1800"/>
              </a:lnSpc>
              <a:spcBef>
                <a:spcPts val="600"/>
              </a:spcBef>
              <a:buFont typeface="Arial" panose="020B0604020202020204" pitchFamily="34" charset="0"/>
              <a:buChar char="•"/>
            </a:pPr>
            <a:r>
              <a:rPr lang="en-US" sz="1800" dirty="0">
                <a:latin typeface="Bookman Old Style" panose="02050604050505020204" pitchFamily="18" charset="0"/>
              </a:rPr>
              <a:t>Problem Statement</a:t>
            </a:r>
          </a:p>
          <a:p>
            <a:pPr marL="144000" indent="-285750">
              <a:lnSpc>
                <a:spcPts val="1800"/>
              </a:lnSpc>
              <a:spcBef>
                <a:spcPts val="600"/>
              </a:spcBef>
              <a:buFont typeface="Arial" panose="020B0604020202020204" pitchFamily="34" charset="0"/>
              <a:buChar char="•"/>
            </a:pPr>
            <a:r>
              <a:rPr lang="en-US" sz="1800" dirty="0">
                <a:latin typeface="Bookman Old Style" panose="02050604050505020204" pitchFamily="18" charset="0"/>
              </a:rPr>
              <a:t>Objectives</a:t>
            </a:r>
          </a:p>
          <a:p>
            <a:pPr marL="144000" indent="-285750">
              <a:lnSpc>
                <a:spcPts val="1800"/>
              </a:lnSpc>
              <a:spcBef>
                <a:spcPts val="600"/>
              </a:spcBef>
              <a:buFont typeface="Arial" panose="020B0604020202020204" pitchFamily="34" charset="0"/>
              <a:buChar char="•"/>
            </a:pPr>
            <a:r>
              <a:rPr lang="en-US" sz="1800" dirty="0">
                <a:latin typeface="Bookman Old Style" panose="02050604050505020204" pitchFamily="18" charset="0"/>
              </a:rPr>
              <a:t>Specifications</a:t>
            </a:r>
          </a:p>
          <a:p>
            <a:pPr marL="144000" indent="-285750">
              <a:lnSpc>
                <a:spcPts val="1800"/>
              </a:lnSpc>
              <a:spcBef>
                <a:spcPts val="600"/>
              </a:spcBef>
              <a:buFont typeface="Arial" panose="020B0604020202020204" pitchFamily="34" charset="0"/>
              <a:buChar char="•"/>
            </a:pPr>
            <a:r>
              <a:rPr lang="en-US" sz="1800" dirty="0">
                <a:latin typeface="Bookman Old Style" panose="02050604050505020204" pitchFamily="18" charset="0"/>
              </a:rPr>
              <a:t>Design Methodology</a:t>
            </a:r>
          </a:p>
          <a:p>
            <a:pPr marL="144000" indent="-285750">
              <a:lnSpc>
                <a:spcPts val="1800"/>
              </a:lnSpc>
              <a:spcBef>
                <a:spcPts val="600"/>
              </a:spcBef>
              <a:buFont typeface="Arial" panose="020B0604020202020204" pitchFamily="34" charset="0"/>
              <a:buChar char="•"/>
            </a:pPr>
            <a:r>
              <a:rPr lang="en-US" sz="1800" dirty="0">
                <a:latin typeface="Bookman Old Style" panose="02050604050505020204" pitchFamily="18" charset="0"/>
              </a:rPr>
              <a:t>Implementation and Testing</a:t>
            </a:r>
          </a:p>
          <a:p>
            <a:pPr marL="144000" indent="-285750">
              <a:lnSpc>
                <a:spcPts val="1800"/>
              </a:lnSpc>
              <a:spcBef>
                <a:spcPts val="600"/>
              </a:spcBef>
              <a:buFont typeface="Arial" panose="020B0604020202020204" pitchFamily="34" charset="0"/>
              <a:buChar char="•"/>
            </a:pPr>
            <a:r>
              <a:rPr lang="en-US" sz="1800" dirty="0">
                <a:latin typeface="Bookman Old Style" panose="02050604050505020204" pitchFamily="18" charset="0"/>
              </a:rPr>
              <a:t>Results, Analysis and Discussion</a:t>
            </a:r>
          </a:p>
          <a:p>
            <a:pPr marL="144000" indent="-285750">
              <a:lnSpc>
                <a:spcPts val="1800"/>
              </a:lnSpc>
              <a:spcBef>
                <a:spcPts val="600"/>
              </a:spcBef>
              <a:buFont typeface="Arial" panose="020B0604020202020204" pitchFamily="34" charset="0"/>
              <a:buChar char="•"/>
            </a:pPr>
            <a:r>
              <a:rPr lang="en-US" sz="1800" dirty="0">
                <a:latin typeface="Bookman Old Style" panose="02050604050505020204" pitchFamily="18" charset="0"/>
              </a:rPr>
              <a:t>Demo of the Project</a:t>
            </a:r>
          </a:p>
          <a:p>
            <a:pPr marL="144000" indent="-285750">
              <a:lnSpc>
                <a:spcPts val="1800"/>
              </a:lnSpc>
              <a:spcBef>
                <a:spcPts val="600"/>
              </a:spcBef>
              <a:buFont typeface="Arial" panose="020B0604020202020204" pitchFamily="34" charset="0"/>
              <a:buChar char="•"/>
            </a:pPr>
            <a:r>
              <a:rPr lang="en-US" sz="1800" dirty="0">
                <a:latin typeface="Bookman Old Style" panose="02050604050505020204" pitchFamily="18" charset="0"/>
              </a:rPr>
              <a:t>SDG Mapping/ Outcomes </a:t>
            </a:r>
          </a:p>
          <a:p>
            <a:pPr marL="144000" indent="-285750">
              <a:lnSpc>
                <a:spcPts val="1800"/>
              </a:lnSpc>
              <a:spcBef>
                <a:spcPts val="600"/>
              </a:spcBef>
              <a:buFont typeface="Arial" panose="020B0604020202020204" pitchFamily="34" charset="0"/>
              <a:buChar char="•"/>
            </a:pPr>
            <a:r>
              <a:rPr lang="en-US" sz="1800" dirty="0">
                <a:latin typeface="Bookman Old Style" panose="02050604050505020204" pitchFamily="18" charset="0"/>
              </a:rPr>
              <a:t>Online Course Certification</a:t>
            </a:r>
          </a:p>
          <a:p>
            <a:pPr marL="144000" indent="-285750">
              <a:lnSpc>
                <a:spcPts val="1800"/>
              </a:lnSpc>
              <a:spcBef>
                <a:spcPts val="600"/>
              </a:spcBef>
              <a:buFont typeface="Arial" panose="020B0604020202020204" pitchFamily="34" charset="0"/>
              <a:buChar char="•"/>
            </a:pPr>
            <a:r>
              <a:rPr lang="en-US" sz="1800" dirty="0">
                <a:latin typeface="Bookman Old Style" panose="02050604050505020204" pitchFamily="18" charset="0"/>
              </a:rPr>
              <a:t>References</a:t>
            </a:r>
          </a:p>
        </p:txBody>
      </p:sp>
    </p:spTree>
    <p:extLst>
      <p:ext uri="{BB962C8B-B14F-4D97-AF65-F5344CB8AC3E}">
        <p14:creationId xmlns:p14="http://schemas.microsoft.com/office/powerpoint/2010/main" val="1275726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59">
          <a:extLst>
            <a:ext uri="{FF2B5EF4-FFF2-40B4-BE49-F238E27FC236}">
              <a16:creationId xmlns:a16="http://schemas.microsoft.com/office/drawing/2014/main" id="{918BEA65-4D8E-E9E4-1C7E-E1FA109D81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2804A8-5F0B-00BD-A17B-3257BD8F85E3}"/>
              </a:ext>
            </a:extLst>
          </p:cNvPr>
          <p:cNvSpPr>
            <a:spLocks noGrp="1"/>
          </p:cNvSpPr>
          <p:nvPr>
            <p:ph type="title"/>
          </p:nvPr>
        </p:nvSpPr>
        <p:spPr/>
        <p:txBody>
          <a:bodyPr>
            <a:noAutofit/>
          </a:bodyPr>
          <a:lstStyle/>
          <a:p>
            <a:pPr algn="ctr"/>
            <a:r>
              <a:rPr lang="en-US" sz="2000" b="1" dirty="0">
                <a:solidFill>
                  <a:schemeClr val="accent1">
                    <a:lumMod val="50000"/>
                  </a:schemeClr>
                </a:solidFill>
                <a:latin typeface="Bookman Old Style" panose="02050604050505020204" pitchFamily="18" charset="0"/>
                <a:ea typeface="ＭＳ Ｐゴシック" panose="020B0600070205080204" pitchFamily="34" charset="-128"/>
              </a:rPr>
              <a:t>Introduction</a:t>
            </a:r>
          </a:p>
        </p:txBody>
      </p:sp>
      <p:sp>
        <p:nvSpPr>
          <p:cNvPr id="3" name="Text Placeholder 2">
            <a:extLst>
              <a:ext uri="{FF2B5EF4-FFF2-40B4-BE49-F238E27FC236}">
                <a16:creationId xmlns:a16="http://schemas.microsoft.com/office/drawing/2014/main" id="{C199A24C-A5B9-BE2A-2EE6-A4312AF42C8D}"/>
              </a:ext>
            </a:extLst>
          </p:cNvPr>
          <p:cNvSpPr>
            <a:spLocks noGrp="1"/>
          </p:cNvSpPr>
          <p:nvPr>
            <p:ph type="body" idx="1"/>
          </p:nvPr>
        </p:nvSpPr>
        <p:spPr>
          <a:xfrm>
            <a:off x="296832" y="1048397"/>
            <a:ext cx="8520600" cy="3416400"/>
          </a:xfrm>
        </p:spPr>
        <p:txBody>
          <a:bodyPr>
            <a:normAutofit fontScale="92500" lnSpcReduction="10000"/>
          </a:bodyPr>
          <a:lstStyle/>
          <a:p>
            <a:pPr marL="114300" indent="0" algn="just">
              <a:lnSpc>
                <a:spcPct val="170000"/>
              </a:lnSpc>
              <a:buNone/>
            </a:pPr>
            <a:r>
              <a:rPr lang="en-IN" sz="1400" dirty="0">
                <a:solidFill>
                  <a:schemeClr val="tx1"/>
                </a:solidFill>
                <a:latin typeface="+mj-lt"/>
                <a:ea typeface="Calibri" panose="020F0502020204030204" pitchFamily="34" charset="0"/>
                <a:cs typeface="Calibri" panose="020F0502020204030204" pitchFamily="34" charset="0"/>
              </a:rPr>
              <a:t>Malaria is a serious infectious disease that requires early and accurate diagnosis for effective treatment and prevention. Traditional microscopic examination of blood smear images is time-consuming, labour-intensive, and highly </a:t>
            </a:r>
            <a:r>
              <a:rPr lang="en-IN" sz="1400" dirty="0">
                <a:solidFill>
                  <a:schemeClr val="tx1"/>
                </a:solidFill>
                <a:latin typeface="Calibri" panose="020F0502020204030204" pitchFamily="34" charset="0"/>
                <a:ea typeface="Calibri" panose="020F0502020204030204" pitchFamily="34" charset="0"/>
                <a:cs typeface="Calibri" panose="020F0502020204030204" pitchFamily="34" charset="0"/>
              </a:rPr>
              <a:t>dependent</a:t>
            </a:r>
            <a:r>
              <a:rPr lang="en-IN" sz="1400" dirty="0">
                <a:solidFill>
                  <a:schemeClr val="tx1"/>
                </a:solidFill>
                <a:latin typeface="+mj-lt"/>
                <a:ea typeface="Calibri" panose="020F0502020204030204" pitchFamily="34" charset="0"/>
                <a:cs typeface="Calibri" panose="020F0502020204030204" pitchFamily="34" charset="0"/>
              </a:rPr>
              <a:t> on skilled laboratory professionals. To address these challenges, this project proposes an automated malaria parasite recognition system using Deep Learning and Convolutional Neural Networks (CNN) with the VGG16 transfer learning model. The developed framework performs image preprocessing, feature extraction, and binary classification of microscopic blood smear images into parasitized and uninfected categories. A Flask-based web application is integrated to provide real-time prediction results and confidence scores through an interactive interface. The proposed system improves diagnostic efficiency, reduces manual effort, and demonstrates the practical application of Artificial Intelligence in medical image analysis and computer-aided healthcare diagnosis.</a:t>
            </a:r>
            <a:endParaRPr lang="en-US" sz="1400" dirty="0">
              <a:solidFill>
                <a:schemeClr val="tx1"/>
              </a:solidFill>
              <a:latin typeface="+mj-lt"/>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FB9ACDDF-7039-2A8A-3B0F-7EA28E01414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4</a:t>
            </a:fld>
            <a:endParaRPr lang="en-GB"/>
          </a:p>
        </p:txBody>
      </p:sp>
      <p:sp>
        <p:nvSpPr>
          <p:cNvPr id="6" name="Date Placeholder 3">
            <a:extLst>
              <a:ext uri="{FF2B5EF4-FFF2-40B4-BE49-F238E27FC236}">
                <a16:creationId xmlns:a16="http://schemas.microsoft.com/office/drawing/2014/main" id="{F75A7B6D-C456-3564-5D58-98BDD698CCDF}"/>
              </a:ext>
            </a:extLst>
          </p:cNvPr>
          <p:cNvSpPr>
            <a:spLocks noGrp="1"/>
          </p:cNvSpPr>
          <p:nvPr/>
        </p:nvSpPr>
        <p:spPr>
          <a:xfrm>
            <a:off x="311785" y="4483735"/>
            <a:ext cx="212598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Date</a:t>
            </a:r>
          </a:p>
        </p:txBody>
      </p:sp>
      <p:sp>
        <p:nvSpPr>
          <p:cNvPr id="7" name="Footer Placeholder 4">
            <a:extLst>
              <a:ext uri="{FF2B5EF4-FFF2-40B4-BE49-F238E27FC236}">
                <a16:creationId xmlns:a16="http://schemas.microsoft.com/office/drawing/2014/main" id="{08759520-9102-4141-8115-56B9DD967745}"/>
              </a:ext>
            </a:extLst>
          </p:cNvPr>
          <p:cNvSpPr>
            <a:spLocks noGrp="1"/>
          </p:cNvSpPr>
          <p:nvPr/>
        </p:nvSpPr>
        <p:spPr>
          <a:xfrm>
            <a:off x="3512185" y="4483735"/>
            <a:ext cx="318833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RV COLLEGE OF ENGINEERING</a:t>
            </a:r>
          </a:p>
        </p:txBody>
      </p:sp>
    </p:spTree>
    <p:extLst>
      <p:ext uri="{BB962C8B-B14F-4D97-AF65-F5344CB8AC3E}">
        <p14:creationId xmlns:p14="http://schemas.microsoft.com/office/powerpoint/2010/main" val="420102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59">
          <a:extLst>
            <a:ext uri="{FF2B5EF4-FFF2-40B4-BE49-F238E27FC236}">
              <a16:creationId xmlns:a16="http://schemas.microsoft.com/office/drawing/2014/main" id="{9B0F695F-A27C-0331-E718-32D01690D9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6CDB4E-0B0F-5A8A-1E98-3A68D587AA35}"/>
              </a:ext>
            </a:extLst>
          </p:cNvPr>
          <p:cNvSpPr>
            <a:spLocks noGrp="1"/>
          </p:cNvSpPr>
          <p:nvPr>
            <p:ph type="title"/>
          </p:nvPr>
        </p:nvSpPr>
        <p:spPr/>
        <p:txBody>
          <a:bodyPr>
            <a:noAutofit/>
          </a:bodyPr>
          <a:lstStyle/>
          <a:p>
            <a:pPr algn="ctr"/>
            <a:r>
              <a:rPr lang="en-US" sz="2000" b="1" dirty="0">
                <a:solidFill>
                  <a:schemeClr val="accent1">
                    <a:lumMod val="50000"/>
                  </a:schemeClr>
                </a:solidFill>
                <a:latin typeface="Bookman Old Style" panose="02050604050505020204" pitchFamily="18" charset="0"/>
                <a:ea typeface="ＭＳ Ｐゴシック" panose="020B0600070205080204" pitchFamily="34" charset="-128"/>
              </a:rPr>
              <a:t>Literature Review</a:t>
            </a:r>
            <a:br>
              <a:rPr lang="en-US" sz="2000" b="1" dirty="0">
                <a:solidFill>
                  <a:schemeClr val="accent1">
                    <a:lumMod val="50000"/>
                  </a:schemeClr>
                </a:solidFill>
                <a:latin typeface="Bookman Old Style" panose="02050604050505020204" pitchFamily="18" charset="0"/>
                <a:ea typeface="ＭＳ Ｐゴシック" panose="020B0600070205080204" pitchFamily="34" charset="-128"/>
              </a:rPr>
            </a:br>
            <a:endParaRPr lang="en-US" altLang="en-US" sz="2000" b="1" dirty="0">
              <a:solidFill>
                <a:schemeClr val="accent1">
                  <a:lumMod val="50000"/>
                </a:schemeClr>
              </a:solidFill>
              <a:latin typeface="Bookman Old Style" panose="02050604050505020204" pitchFamily="18" charset="0"/>
              <a:ea typeface="ＭＳ Ｐゴシック" panose="020B0600070205080204" pitchFamily="34" charset="-128"/>
            </a:endParaRPr>
          </a:p>
        </p:txBody>
      </p:sp>
      <p:sp>
        <p:nvSpPr>
          <p:cNvPr id="4" name="Slide Number Placeholder 3">
            <a:extLst>
              <a:ext uri="{FF2B5EF4-FFF2-40B4-BE49-F238E27FC236}">
                <a16:creationId xmlns:a16="http://schemas.microsoft.com/office/drawing/2014/main" id="{FA5CC916-9B05-C6AF-A667-095048345FB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5</a:t>
            </a:fld>
            <a:endParaRPr lang="en-GB"/>
          </a:p>
        </p:txBody>
      </p:sp>
      <p:sp>
        <p:nvSpPr>
          <p:cNvPr id="6" name="Date Placeholder 3">
            <a:extLst>
              <a:ext uri="{FF2B5EF4-FFF2-40B4-BE49-F238E27FC236}">
                <a16:creationId xmlns:a16="http://schemas.microsoft.com/office/drawing/2014/main" id="{268CB849-C8E2-7773-1537-2F871B7D4119}"/>
              </a:ext>
            </a:extLst>
          </p:cNvPr>
          <p:cNvSpPr>
            <a:spLocks noGrp="1"/>
          </p:cNvSpPr>
          <p:nvPr/>
        </p:nvSpPr>
        <p:spPr>
          <a:xfrm>
            <a:off x="311785" y="4483735"/>
            <a:ext cx="212598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Date</a:t>
            </a:r>
          </a:p>
        </p:txBody>
      </p:sp>
      <p:sp>
        <p:nvSpPr>
          <p:cNvPr id="7" name="Footer Placeholder 4">
            <a:extLst>
              <a:ext uri="{FF2B5EF4-FFF2-40B4-BE49-F238E27FC236}">
                <a16:creationId xmlns:a16="http://schemas.microsoft.com/office/drawing/2014/main" id="{6F395893-632B-4B6A-30FE-D6134CA172E5}"/>
              </a:ext>
            </a:extLst>
          </p:cNvPr>
          <p:cNvSpPr>
            <a:spLocks noGrp="1"/>
          </p:cNvSpPr>
          <p:nvPr/>
        </p:nvSpPr>
        <p:spPr>
          <a:xfrm>
            <a:off x="3512185" y="4483735"/>
            <a:ext cx="318833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RV COLLEGE OF ENGINEERING</a:t>
            </a:r>
          </a:p>
        </p:txBody>
      </p:sp>
      <p:graphicFrame>
        <p:nvGraphicFramePr>
          <p:cNvPr id="10" name="Table 9">
            <a:extLst>
              <a:ext uri="{FF2B5EF4-FFF2-40B4-BE49-F238E27FC236}">
                <a16:creationId xmlns:a16="http://schemas.microsoft.com/office/drawing/2014/main" id="{89ED1FFE-D9FF-ADF1-585E-6B295D7D516E}"/>
              </a:ext>
            </a:extLst>
          </p:cNvPr>
          <p:cNvGraphicFramePr>
            <a:graphicFrameLocks noGrp="1"/>
          </p:cNvGraphicFramePr>
          <p:nvPr>
            <p:extLst>
              <p:ext uri="{D42A27DB-BD31-4B8C-83A1-F6EECF244321}">
                <p14:modId xmlns:p14="http://schemas.microsoft.com/office/powerpoint/2010/main" val="1301764018"/>
              </p:ext>
            </p:extLst>
          </p:nvPr>
        </p:nvGraphicFramePr>
        <p:xfrm>
          <a:off x="185854" y="1127045"/>
          <a:ext cx="8891239" cy="3638289"/>
        </p:xfrm>
        <a:graphic>
          <a:graphicData uri="http://schemas.openxmlformats.org/drawingml/2006/table">
            <a:tbl>
              <a:tblPr firstRow="1" bandRow="1">
                <a:tableStyleId>{5C22544A-7EE6-4342-B048-85BDC9FD1C3A}</a:tableStyleId>
              </a:tblPr>
              <a:tblGrid>
                <a:gridCol w="661639">
                  <a:extLst>
                    <a:ext uri="{9D8B030D-6E8A-4147-A177-3AD203B41FA5}">
                      <a16:colId xmlns:a16="http://schemas.microsoft.com/office/drawing/2014/main" val="2461943782"/>
                    </a:ext>
                  </a:extLst>
                </a:gridCol>
                <a:gridCol w="2274849">
                  <a:extLst>
                    <a:ext uri="{9D8B030D-6E8A-4147-A177-3AD203B41FA5}">
                      <a16:colId xmlns:a16="http://schemas.microsoft.com/office/drawing/2014/main" val="1457117476"/>
                    </a:ext>
                  </a:extLst>
                </a:gridCol>
                <a:gridCol w="1040781">
                  <a:extLst>
                    <a:ext uri="{9D8B030D-6E8A-4147-A177-3AD203B41FA5}">
                      <a16:colId xmlns:a16="http://schemas.microsoft.com/office/drawing/2014/main" val="4294507771"/>
                    </a:ext>
                  </a:extLst>
                </a:gridCol>
                <a:gridCol w="2981092">
                  <a:extLst>
                    <a:ext uri="{9D8B030D-6E8A-4147-A177-3AD203B41FA5}">
                      <a16:colId xmlns:a16="http://schemas.microsoft.com/office/drawing/2014/main" val="239289293"/>
                    </a:ext>
                  </a:extLst>
                </a:gridCol>
                <a:gridCol w="1932878">
                  <a:extLst>
                    <a:ext uri="{9D8B030D-6E8A-4147-A177-3AD203B41FA5}">
                      <a16:colId xmlns:a16="http://schemas.microsoft.com/office/drawing/2014/main" val="3768467519"/>
                    </a:ext>
                  </a:extLst>
                </a:gridCol>
              </a:tblGrid>
              <a:tr h="742689">
                <a:tc>
                  <a:txBody>
                    <a:bodyPr/>
                    <a:lstStyle/>
                    <a:p>
                      <a:r>
                        <a:rPr lang="en-IN" sz="1000" dirty="0"/>
                        <a:t>Sl. No</a:t>
                      </a:r>
                    </a:p>
                  </a:txBody>
                  <a:tcPr/>
                </a:tc>
                <a:tc>
                  <a:txBody>
                    <a:bodyPr/>
                    <a:lstStyle/>
                    <a:p>
                      <a:pPr algn="ctr"/>
                      <a:r>
                        <a:rPr lang="en-IN" sz="1000" dirty="0"/>
                        <a:t>Title of the Paper</a:t>
                      </a:r>
                    </a:p>
                  </a:txBody>
                  <a:tcPr/>
                </a:tc>
                <a:tc>
                  <a:txBody>
                    <a:bodyPr/>
                    <a:lstStyle/>
                    <a:p>
                      <a:pPr algn="ctr"/>
                      <a:r>
                        <a:rPr lang="en-IN" sz="1000" dirty="0"/>
                        <a:t>Authors</a:t>
                      </a:r>
                    </a:p>
                  </a:txBody>
                  <a:tcPr/>
                </a:tc>
                <a:tc>
                  <a:txBody>
                    <a:bodyPr/>
                    <a:lstStyle/>
                    <a:p>
                      <a:pPr algn="ctr"/>
                      <a:r>
                        <a:rPr lang="en-IN" sz="1000" dirty="0"/>
                        <a:t>Journal/ Conference Details</a:t>
                      </a:r>
                    </a:p>
                  </a:txBody>
                  <a:tcPr/>
                </a:tc>
                <a:tc>
                  <a:txBody>
                    <a:bodyPr/>
                    <a:lstStyle/>
                    <a:p>
                      <a:pPr algn="ctr"/>
                      <a:r>
                        <a:rPr lang="en-IN" sz="1000" dirty="0"/>
                        <a:t>Inference</a:t>
                      </a:r>
                    </a:p>
                  </a:txBody>
                  <a:tcPr/>
                </a:tc>
                <a:extLst>
                  <a:ext uri="{0D108BD9-81ED-4DB2-BD59-A6C34878D82A}">
                    <a16:rowId xmlns:a16="http://schemas.microsoft.com/office/drawing/2014/main" val="3540308817"/>
                  </a:ext>
                </a:extLst>
              </a:tr>
              <a:tr h="531532">
                <a:tc>
                  <a:txBody>
                    <a:bodyPr/>
                    <a:lstStyle/>
                    <a:p>
                      <a:pPr>
                        <a:buNone/>
                      </a:pPr>
                      <a:r>
                        <a:rPr lang="en-IN" sz="1000" dirty="0"/>
                        <a:t>1</a:t>
                      </a:r>
                    </a:p>
                  </a:txBody>
                  <a:tcPr anchor="ctr"/>
                </a:tc>
                <a:tc>
                  <a:txBody>
                    <a:bodyPr/>
                    <a:lstStyle/>
                    <a:p>
                      <a:pPr>
                        <a:buNone/>
                      </a:pPr>
                      <a:r>
                        <a:rPr lang="en-IN" sz="1000"/>
                        <a:t>Deep Learning-Based Malaria Parasite Detection: CNN Model for Accurate Species Identification</a:t>
                      </a:r>
                    </a:p>
                  </a:txBody>
                  <a:tcPr anchor="ctr"/>
                </a:tc>
                <a:tc>
                  <a:txBody>
                    <a:bodyPr/>
                    <a:lstStyle/>
                    <a:p>
                      <a:pPr>
                        <a:buNone/>
                      </a:pPr>
                      <a:r>
                        <a:rPr lang="en-IN" sz="1000"/>
                        <a:t>Diego A. Ramos-Briceño et al.</a:t>
                      </a:r>
                    </a:p>
                  </a:txBody>
                  <a:tcPr anchor="ctr"/>
                </a:tc>
                <a:tc>
                  <a:txBody>
                    <a:bodyPr/>
                    <a:lstStyle/>
                    <a:p>
                      <a:pPr>
                        <a:buNone/>
                      </a:pPr>
                      <a:r>
                        <a:rPr lang="en-IN" sz="1000"/>
                        <a:t>Scientific Reports, 2025</a:t>
                      </a:r>
                    </a:p>
                  </a:txBody>
                  <a:tcPr anchor="ctr"/>
                </a:tc>
                <a:tc>
                  <a:txBody>
                    <a:bodyPr/>
                    <a:lstStyle/>
                    <a:p>
                      <a:pPr>
                        <a:buNone/>
                      </a:pPr>
                      <a:r>
                        <a:rPr lang="en-IN" sz="1000" dirty="0"/>
                        <a:t>CNN with image preprocessing achieved for multiclass malaria species classification. </a:t>
                      </a:r>
                    </a:p>
                  </a:txBody>
                  <a:tcPr anchor="ctr"/>
                </a:tc>
                <a:extLst>
                  <a:ext uri="{0D108BD9-81ED-4DB2-BD59-A6C34878D82A}">
                    <a16:rowId xmlns:a16="http://schemas.microsoft.com/office/drawing/2014/main" val="909627433"/>
                  </a:ext>
                </a:extLst>
              </a:tr>
              <a:tr h="531532">
                <a:tc>
                  <a:txBody>
                    <a:bodyPr/>
                    <a:lstStyle/>
                    <a:p>
                      <a:pPr>
                        <a:buNone/>
                      </a:pPr>
                      <a:r>
                        <a:rPr lang="en-IN" sz="1000" dirty="0"/>
                        <a:t>2</a:t>
                      </a:r>
                    </a:p>
                  </a:txBody>
                  <a:tcPr anchor="ctr"/>
                </a:tc>
                <a:tc>
                  <a:txBody>
                    <a:bodyPr/>
                    <a:lstStyle/>
                    <a:p>
                      <a:pPr>
                        <a:buNone/>
                      </a:pPr>
                      <a:r>
                        <a:rPr lang="en-IN" sz="1000" dirty="0"/>
                        <a:t>Performance Analysis of Deep Learning Algorithms in Diagnosis of Malaria Disease</a:t>
                      </a:r>
                    </a:p>
                  </a:txBody>
                  <a:tcPr anchor="ctr"/>
                </a:tc>
                <a:tc>
                  <a:txBody>
                    <a:bodyPr/>
                    <a:lstStyle/>
                    <a:p>
                      <a:r>
                        <a:rPr lang="en-IN" sz="1000" dirty="0"/>
                        <a:t>K. Hemachandran et al.</a:t>
                      </a:r>
                    </a:p>
                  </a:txBody>
                  <a:tcPr/>
                </a:tc>
                <a:tc>
                  <a:txBody>
                    <a:bodyPr/>
                    <a:lstStyle/>
                    <a:p>
                      <a:r>
                        <a:rPr lang="en-IN" sz="1000" dirty="0"/>
                        <a:t>Diagnostics, 2023</a:t>
                      </a:r>
                    </a:p>
                  </a:txBody>
                  <a:tcPr/>
                </a:tc>
                <a:tc>
                  <a:txBody>
                    <a:bodyPr/>
                    <a:lstStyle/>
                    <a:p>
                      <a:r>
                        <a:rPr lang="en-IN" sz="1000" dirty="0"/>
                        <a:t>Compared multiple DL models; CNN-based approaches showed high detection performance.</a:t>
                      </a:r>
                    </a:p>
                  </a:txBody>
                  <a:tcPr/>
                </a:tc>
                <a:extLst>
                  <a:ext uri="{0D108BD9-81ED-4DB2-BD59-A6C34878D82A}">
                    <a16:rowId xmlns:a16="http://schemas.microsoft.com/office/drawing/2014/main" val="1141603833"/>
                  </a:ext>
                </a:extLst>
              </a:tr>
              <a:tr h="531532">
                <a:tc>
                  <a:txBody>
                    <a:bodyPr/>
                    <a:lstStyle/>
                    <a:p>
                      <a:r>
                        <a:rPr lang="en-IN" sz="1000" dirty="0"/>
                        <a:t>3</a:t>
                      </a:r>
                    </a:p>
                  </a:txBody>
                  <a:tcPr/>
                </a:tc>
                <a:tc>
                  <a:txBody>
                    <a:bodyPr/>
                    <a:lstStyle/>
                    <a:p>
                      <a:pPr>
                        <a:buNone/>
                      </a:pPr>
                      <a:r>
                        <a:rPr lang="en-IN" sz="1000" dirty="0"/>
                        <a:t>Malaria Detection Using Advanced Deep Learning Architecture</a:t>
                      </a:r>
                    </a:p>
                  </a:txBody>
                  <a:tcPr anchor="ctr"/>
                </a:tc>
                <a:tc>
                  <a:txBody>
                    <a:bodyPr/>
                    <a:lstStyle/>
                    <a:p>
                      <a:r>
                        <a:rPr lang="en-IN" sz="1000" dirty="0"/>
                        <a:t>W. </a:t>
                      </a:r>
                      <a:r>
                        <a:rPr lang="en-IN" sz="1000" dirty="0" err="1"/>
                        <a:t>Siłka</a:t>
                      </a:r>
                      <a:r>
                        <a:rPr lang="en-IN" sz="1000" dirty="0"/>
                        <a:t> et al.</a:t>
                      </a:r>
                    </a:p>
                  </a:txBody>
                  <a:tcPr/>
                </a:tc>
                <a:tc>
                  <a:txBody>
                    <a:bodyPr/>
                    <a:lstStyle/>
                    <a:p>
                      <a:r>
                        <a:rPr lang="en-IN" sz="1000" dirty="0"/>
                        <a:t>Sensors, 2023</a:t>
                      </a:r>
                    </a:p>
                  </a:txBody>
                  <a:tcPr/>
                </a:tc>
                <a:tc>
                  <a:txBody>
                    <a:bodyPr/>
                    <a:lstStyle/>
                    <a:p>
                      <a:r>
                        <a:rPr lang="en-IN" sz="1000" dirty="0"/>
                        <a:t>Advanced CNN architecture improved automated malaria detection accuracy.</a:t>
                      </a:r>
                    </a:p>
                  </a:txBody>
                  <a:tcPr/>
                </a:tc>
                <a:extLst>
                  <a:ext uri="{0D108BD9-81ED-4DB2-BD59-A6C34878D82A}">
                    <a16:rowId xmlns:a16="http://schemas.microsoft.com/office/drawing/2014/main" val="954208698"/>
                  </a:ext>
                </a:extLst>
              </a:tr>
              <a:tr h="531532">
                <a:tc>
                  <a:txBody>
                    <a:bodyPr/>
                    <a:lstStyle/>
                    <a:p>
                      <a:r>
                        <a:rPr lang="en-IN" sz="1000" dirty="0"/>
                        <a:t>4</a:t>
                      </a:r>
                    </a:p>
                  </a:txBody>
                  <a:tcPr/>
                </a:tc>
                <a:tc>
                  <a:txBody>
                    <a:bodyPr/>
                    <a:lstStyle/>
                    <a:p>
                      <a:r>
                        <a:rPr lang="en-IN" sz="1000" dirty="0"/>
                        <a:t>Diagnosis of Malaria Using CNN Feature Extraction and Extreme Learning Machine</a:t>
                      </a:r>
                    </a:p>
                  </a:txBody>
                  <a:tcPr/>
                </a:tc>
                <a:tc>
                  <a:txBody>
                    <a:bodyPr/>
                    <a:lstStyle/>
                    <a:p>
                      <a:r>
                        <a:rPr lang="en-IN" sz="1000" dirty="0"/>
                        <a:t>M.O.F. Goni et al.</a:t>
                      </a:r>
                    </a:p>
                  </a:txBody>
                  <a:tcPr/>
                </a:tc>
                <a:tc>
                  <a:txBody>
                    <a:bodyPr/>
                    <a:lstStyle/>
                    <a:p>
                      <a:r>
                        <a:rPr lang="en-IN" sz="1000" dirty="0"/>
                        <a:t>IEEE Access, 2023</a:t>
                      </a:r>
                    </a:p>
                  </a:txBody>
                  <a:tcPr/>
                </a:tc>
                <a:tc>
                  <a:txBody>
                    <a:bodyPr/>
                    <a:lstStyle/>
                    <a:p>
                      <a:r>
                        <a:rPr lang="en-IN" sz="1000" dirty="0"/>
                        <a:t>Combined CNN and ELM classifier for efficient parasite detection.</a:t>
                      </a:r>
                    </a:p>
                  </a:txBody>
                  <a:tcPr/>
                </a:tc>
                <a:extLst>
                  <a:ext uri="{0D108BD9-81ED-4DB2-BD59-A6C34878D82A}">
                    <a16:rowId xmlns:a16="http://schemas.microsoft.com/office/drawing/2014/main" val="274307017"/>
                  </a:ext>
                </a:extLst>
              </a:tr>
              <a:tr h="531532">
                <a:tc>
                  <a:txBody>
                    <a:bodyPr/>
                    <a:lstStyle/>
                    <a:p>
                      <a:r>
                        <a:rPr lang="en-IN" sz="1000" dirty="0"/>
                        <a:t>5</a:t>
                      </a:r>
                    </a:p>
                  </a:txBody>
                  <a:tcPr/>
                </a:tc>
                <a:tc>
                  <a:txBody>
                    <a:bodyPr/>
                    <a:lstStyle/>
                    <a:p>
                      <a:r>
                        <a:rPr lang="en-IN" sz="1000" dirty="0"/>
                        <a:t>Deep Learning Based Automatic Malaria Parasite Detection from Blood</a:t>
                      </a:r>
                    </a:p>
                  </a:txBody>
                  <a:tcPr/>
                </a:tc>
                <a:tc>
                  <a:txBody>
                    <a:bodyPr/>
                    <a:lstStyle/>
                    <a:p>
                      <a:r>
                        <a:rPr lang="en-IN" sz="1000" dirty="0"/>
                        <a:t>K.M.F. </a:t>
                      </a:r>
                      <a:r>
                        <a:rPr lang="en-IN" sz="1000" dirty="0" err="1"/>
                        <a:t>Fuhad</a:t>
                      </a:r>
                      <a:r>
                        <a:rPr lang="en-IN" sz="1000" dirty="0"/>
                        <a:t> et al.</a:t>
                      </a:r>
                    </a:p>
                  </a:txBody>
                  <a:tcPr/>
                </a:tc>
                <a:tc>
                  <a:txBody>
                    <a:bodyPr/>
                    <a:lstStyle/>
                    <a:p>
                      <a:r>
                        <a:rPr lang="en-IN" sz="1000" dirty="0"/>
                        <a:t>Diagnostics, 2020</a:t>
                      </a:r>
                    </a:p>
                  </a:txBody>
                  <a:tcPr/>
                </a:tc>
                <a:tc>
                  <a:txBody>
                    <a:bodyPr/>
                    <a:lstStyle/>
                    <a:p>
                      <a:r>
                        <a:rPr lang="en-IN" sz="1000" dirty="0"/>
                        <a:t>Smartphone-assisted malaria diagnosis with high accuracy and specificity.</a:t>
                      </a:r>
                    </a:p>
                  </a:txBody>
                  <a:tcPr/>
                </a:tc>
                <a:extLst>
                  <a:ext uri="{0D108BD9-81ED-4DB2-BD59-A6C34878D82A}">
                    <a16:rowId xmlns:a16="http://schemas.microsoft.com/office/drawing/2014/main" val="2641514587"/>
                  </a:ext>
                </a:extLst>
              </a:tr>
            </a:tbl>
          </a:graphicData>
        </a:graphic>
      </p:graphicFrame>
    </p:spTree>
    <p:extLst>
      <p:ext uri="{BB962C8B-B14F-4D97-AF65-F5344CB8AC3E}">
        <p14:creationId xmlns:p14="http://schemas.microsoft.com/office/powerpoint/2010/main" val="2901150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59">
          <a:extLst>
            <a:ext uri="{FF2B5EF4-FFF2-40B4-BE49-F238E27FC236}">
              <a16:creationId xmlns:a16="http://schemas.microsoft.com/office/drawing/2014/main" id="{3F198251-9274-AA65-2300-44D5DD221C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A8F658-641C-261D-2C2C-6776643A069F}"/>
              </a:ext>
            </a:extLst>
          </p:cNvPr>
          <p:cNvSpPr>
            <a:spLocks noGrp="1"/>
          </p:cNvSpPr>
          <p:nvPr>
            <p:ph type="title"/>
          </p:nvPr>
        </p:nvSpPr>
        <p:spPr/>
        <p:txBody>
          <a:bodyPr>
            <a:noAutofit/>
          </a:bodyPr>
          <a:lstStyle/>
          <a:p>
            <a:pPr algn="ctr"/>
            <a:r>
              <a:rPr lang="en-US" sz="2000" b="1" dirty="0">
                <a:solidFill>
                  <a:schemeClr val="accent1">
                    <a:lumMod val="50000"/>
                  </a:schemeClr>
                </a:solidFill>
                <a:latin typeface="Bookman Old Style" panose="02050604050505020204" pitchFamily="18" charset="0"/>
                <a:ea typeface="ＭＳ Ｐゴシック" panose="020B0600070205080204" pitchFamily="34" charset="-128"/>
              </a:rPr>
              <a:t>Literature Review</a:t>
            </a:r>
            <a:br>
              <a:rPr lang="en-US" sz="2000" b="1" dirty="0">
                <a:solidFill>
                  <a:schemeClr val="accent1">
                    <a:lumMod val="50000"/>
                  </a:schemeClr>
                </a:solidFill>
                <a:latin typeface="Bookman Old Style" panose="02050604050505020204" pitchFamily="18" charset="0"/>
                <a:ea typeface="ＭＳ Ｐゴシック" panose="020B0600070205080204" pitchFamily="34" charset="-128"/>
              </a:rPr>
            </a:br>
            <a:endParaRPr lang="en-US" altLang="en-US" sz="2000" b="1" dirty="0">
              <a:solidFill>
                <a:schemeClr val="accent1">
                  <a:lumMod val="50000"/>
                </a:schemeClr>
              </a:solidFill>
              <a:latin typeface="Bookman Old Style" panose="02050604050505020204" pitchFamily="18" charset="0"/>
              <a:ea typeface="ＭＳ Ｐゴシック" panose="020B0600070205080204" pitchFamily="34" charset="-128"/>
            </a:endParaRPr>
          </a:p>
        </p:txBody>
      </p:sp>
      <p:sp>
        <p:nvSpPr>
          <p:cNvPr id="4" name="Slide Number Placeholder 3">
            <a:extLst>
              <a:ext uri="{FF2B5EF4-FFF2-40B4-BE49-F238E27FC236}">
                <a16:creationId xmlns:a16="http://schemas.microsoft.com/office/drawing/2014/main" id="{A7BF4E2C-8973-922E-DA9A-994B28A5461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6</a:t>
            </a:fld>
            <a:endParaRPr lang="en-GB"/>
          </a:p>
        </p:txBody>
      </p:sp>
      <p:sp>
        <p:nvSpPr>
          <p:cNvPr id="6" name="Date Placeholder 3">
            <a:extLst>
              <a:ext uri="{FF2B5EF4-FFF2-40B4-BE49-F238E27FC236}">
                <a16:creationId xmlns:a16="http://schemas.microsoft.com/office/drawing/2014/main" id="{83DF0F33-F615-119E-FE46-21EBF44EBBE2}"/>
              </a:ext>
            </a:extLst>
          </p:cNvPr>
          <p:cNvSpPr>
            <a:spLocks noGrp="1"/>
          </p:cNvSpPr>
          <p:nvPr/>
        </p:nvSpPr>
        <p:spPr>
          <a:xfrm>
            <a:off x="311785" y="4483735"/>
            <a:ext cx="212598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Date</a:t>
            </a:r>
          </a:p>
        </p:txBody>
      </p:sp>
      <p:sp>
        <p:nvSpPr>
          <p:cNvPr id="7" name="Footer Placeholder 4">
            <a:extLst>
              <a:ext uri="{FF2B5EF4-FFF2-40B4-BE49-F238E27FC236}">
                <a16:creationId xmlns:a16="http://schemas.microsoft.com/office/drawing/2014/main" id="{ECF3EC98-97E3-E2E2-964A-D9F9769D9638}"/>
              </a:ext>
            </a:extLst>
          </p:cNvPr>
          <p:cNvSpPr>
            <a:spLocks noGrp="1"/>
          </p:cNvSpPr>
          <p:nvPr/>
        </p:nvSpPr>
        <p:spPr>
          <a:xfrm>
            <a:off x="3512185" y="4483735"/>
            <a:ext cx="318833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RV COLLEGE OF ENGINEERING</a:t>
            </a:r>
          </a:p>
        </p:txBody>
      </p:sp>
      <p:graphicFrame>
        <p:nvGraphicFramePr>
          <p:cNvPr id="10" name="Table 9">
            <a:extLst>
              <a:ext uri="{FF2B5EF4-FFF2-40B4-BE49-F238E27FC236}">
                <a16:creationId xmlns:a16="http://schemas.microsoft.com/office/drawing/2014/main" id="{33B027E2-DF65-C70E-490D-21BB54AFDD67}"/>
              </a:ext>
            </a:extLst>
          </p:cNvPr>
          <p:cNvGraphicFramePr>
            <a:graphicFrameLocks noGrp="1"/>
          </p:cNvGraphicFramePr>
          <p:nvPr>
            <p:extLst>
              <p:ext uri="{D42A27DB-BD31-4B8C-83A1-F6EECF244321}">
                <p14:modId xmlns:p14="http://schemas.microsoft.com/office/powerpoint/2010/main" val="1084659525"/>
              </p:ext>
            </p:extLst>
          </p:nvPr>
        </p:nvGraphicFramePr>
        <p:xfrm>
          <a:off x="252761" y="1000665"/>
          <a:ext cx="8891239" cy="3485889"/>
        </p:xfrm>
        <a:graphic>
          <a:graphicData uri="http://schemas.openxmlformats.org/drawingml/2006/table">
            <a:tbl>
              <a:tblPr firstRow="1" bandRow="1">
                <a:tableStyleId>{5C22544A-7EE6-4342-B048-85BDC9FD1C3A}</a:tableStyleId>
              </a:tblPr>
              <a:tblGrid>
                <a:gridCol w="661639">
                  <a:extLst>
                    <a:ext uri="{9D8B030D-6E8A-4147-A177-3AD203B41FA5}">
                      <a16:colId xmlns:a16="http://schemas.microsoft.com/office/drawing/2014/main" val="2461943782"/>
                    </a:ext>
                  </a:extLst>
                </a:gridCol>
                <a:gridCol w="2274849">
                  <a:extLst>
                    <a:ext uri="{9D8B030D-6E8A-4147-A177-3AD203B41FA5}">
                      <a16:colId xmlns:a16="http://schemas.microsoft.com/office/drawing/2014/main" val="1457117476"/>
                    </a:ext>
                  </a:extLst>
                </a:gridCol>
                <a:gridCol w="1040781">
                  <a:extLst>
                    <a:ext uri="{9D8B030D-6E8A-4147-A177-3AD203B41FA5}">
                      <a16:colId xmlns:a16="http://schemas.microsoft.com/office/drawing/2014/main" val="4294507771"/>
                    </a:ext>
                  </a:extLst>
                </a:gridCol>
                <a:gridCol w="2981092">
                  <a:extLst>
                    <a:ext uri="{9D8B030D-6E8A-4147-A177-3AD203B41FA5}">
                      <a16:colId xmlns:a16="http://schemas.microsoft.com/office/drawing/2014/main" val="239289293"/>
                    </a:ext>
                  </a:extLst>
                </a:gridCol>
                <a:gridCol w="1932878">
                  <a:extLst>
                    <a:ext uri="{9D8B030D-6E8A-4147-A177-3AD203B41FA5}">
                      <a16:colId xmlns:a16="http://schemas.microsoft.com/office/drawing/2014/main" val="3768467519"/>
                    </a:ext>
                  </a:extLst>
                </a:gridCol>
              </a:tblGrid>
              <a:tr h="742689">
                <a:tc>
                  <a:txBody>
                    <a:bodyPr/>
                    <a:lstStyle/>
                    <a:p>
                      <a:r>
                        <a:rPr lang="en-IN" sz="1000" dirty="0"/>
                        <a:t>Sl. No</a:t>
                      </a:r>
                    </a:p>
                  </a:txBody>
                  <a:tcPr/>
                </a:tc>
                <a:tc>
                  <a:txBody>
                    <a:bodyPr/>
                    <a:lstStyle/>
                    <a:p>
                      <a:pPr algn="ctr"/>
                      <a:r>
                        <a:rPr lang="en-IN" sz="1000" dirty="0"/>
                        <a:t>Title of the Paper</a:t>
                      </a:r>
                    </a:p>
                  </a:txBody>
                  <a:tcPr/>
                </a:tc>
                <a:tc>
                  <a:txBody>
                    <a:bodyPr/>
                    <a:lstStyle/>
                    <a:p>
                      <a:pPr algn="ctr"/>
                      <a:r>
                        <a:rPr lang="en-IN" sz="1000" dirty="0"/>
                        <a:t>Authors</a:t>
                      </a:r>
                    </a:p>
                  </a:txBody>
                  <a:tcPr/>
                </a:tc>
                <a:tc>
                  <a:txBody>
                    <a:bodyPr/>
                    <a:lstStyle/>
                    <a:p>
                      <a:pPr algn="ctr"/>
                      <a:r>
                        <a:rPr lang="en-IN" sz="1000" dirty="0"/>
                        <a:t>Journal/ Conference Details</a:t>
                      </a:r>
                    </a:p>
                  </a:txBody>
                  <a:tcPr/>
                </a:tc>
                <a:tc>
                  <a:txBody>
                    <a:bodyPr/>
                    <a:lstStyle/>
                    <a:p>
                      <a:pPr algn="ctr"/>
                      <a:r>
                        <a:rPr lang="en-IN" sz="1000" dirty="0"/>
                        <a:t>Inference</a:t>
                      </a:r>
                    </a:p>
                  </a:txBody>
                  <a:tcPr/>
                </a:tc>
                <a:extLst>
                  <a:ext uri="{0D108BD9-81ED-4DB2-BD59-A6C34878D82A}">
                    <a16:rowId xmlns:a16="http://schemas.microsoft.com/office/drawing/2014/main" val="3540308817"/>
                  </a:ext>
                </a:extLst>
              </a:tr>
              <a:tr h="531532">
                <a:tc>
                  <a:txBody>
                    <a:bodyPr/>
                    <a:lstStyle/>
                    <a:p>
                      <a:pPr>
                        <a:buNone/>
                      </a:pPr>
                      <a:r>
                        <a:rPr lang="en-IN" sz="1000" dirty="0"/>
                        <a:t>6</a:t>
                      </a:r>
                    </a:p>
                  </a:txBody>
                  <a:tcPr anchor="ctr"/>
                </a:tc>
                <a:tc>
                  <a:txBody>
                    <a:bodyPr/>
                    <a:lstStyle/>
                    <a:p>
                      <a:pPr>
                        <a:buNone/>
                      </a:pPr>
                      <a:r>
                        <a:rPr lang="en-IN" sz="1000" dirty="0"/>
                        <a:t>Deep Learning for Smartphone-Based Malaria Parasite Detection in Thick Blood Smears</a:t>
                      </a:r>
                    </a:p>
                  </a:txBody>
                  <a:tcPr anchor="ctr"/>
                </a:tc>
                <a:tc>
                  <a:txBody>
                    <a:bodyPr/>
                    <a:lstStyle/>
                    <a:p>
                      <a:pPr>
                        <a:buNone/>
                      </a:pPr>
                      <a:r>
                        <a:rPr lang="en-IN" sz="1000" dirty="0"/>
                        <a:t>F. Yang et al.</a:t>
                      </a:r>
                    </a:p>
                  </a:txBody>
                  <a:tcPr anchor="ctr"/>
                </a:tc>
                <a:tc>
                  <a:txBody>
                    <a:bodyPr/>
                    <a:lstStyle/>
                    <a:p>
                      <a:pPr>
                        <a:buNone/>
                      </a:pPr>
                      <a:r>
                        <a:rPr lang="en-IN" sz="1000" dirty="0"/>
                        <a:t>IEEE Journal of Biomedical and Health Informatics, 2020</a:t>
                      </a:r>
                    </a:p>
                  </a:txBody>
                  <a:tcPr anchor="ctr"/>
                </a:tc>
                <a:tc>
                  <a:txBody>
                    <a:bodyPr/>
                    <a:lstStyle/>
                    <a:p>
                      <a:pPr>
                        <a:buNone/>
                      </a:pPr>
                      <a:r>
                        <a:rPr lang="en-IN" sz="1000" dirty="0"/>
                        <a:t>Demonstrated mobile-based malaria diagnosis in resource-limited areas.. </a:t>
                      </a:r>
                    </a:p>
                  </a:txBody>
                  <a:tcPr anchor="ctr"/>
                </a:tc>
                <a:extLst>
                  <a:ext uri="{0D108BD9-81ED-4DB2-BD59-A6C34878D82A}">
                    <a16:rowId xmlns:a16="http://schemas.microsoft.com/office/drawing/2014/main" val="909627433"/>
                  </a:ext>
                </a:extLst>
              </a:tr>
              <a:tr h="531532">
                <a:tc>
                  <a:txBody>
                    <a:bodyPr/>
                    <a:lstStyle/>
                    <a:p>
                      <a:pPr>
                        <a:buNone/>
                      </a:pPr>
                      <a:r>
                        <a:rPr lang="en-IN" sz="1000" dirty="0"/>
                        <a:t>7</a:t>
                      </a:r>
                    </a:p>
                  </a:txBody>
                  <a:tcPr anchor="ctr"/>
                </a:tc>
                <a:tc>
                  <a:txBody>
                    <a:bodyPr/>
                    <a:lstStyle/>
                    <a:p>
                      <a:pPr>
                        <a:buNone/>
                      </a:pPr>
                      <a:r>
                        <a:rPr lang="en-IN" sz="1000" dirty="0"/>
                        <a:t>Transfer Learning for Malaria Cell Classification Using InceptionResNet-V2</a:t>
                      </a:r>
                    </a:p>
                  </a:txBody>
                  <a:tcPr anchor="ctr"/>
                </a:tc>
                <a:tc>
                  <a:txBody>
                    <a:bodyPr/>
                    <a:lstStyle/>
                    <a:p>
                      <a:r>
                        <a:rPr lang="en-IN" sz="1000" dirty="0"/>
                        <a:t>S. Rajaraman et al.</a:t>
                      </a:r>
                    </a:p>
                  </a:txBody>
                  <a:tcPr/>
                </a:tc>
                <a:tc>
                  <a:txBody>
                    <a:bodyPr/>
                    <a:lstStyle/>
                    <a:p>
                      <a:r>
                        <a:rPr lang="en-IN" sz="1000" dirty="0"/>
                        <a:t>IEEE EMBC, 2019</a:t>
                      </a:r>
                    </a:p>
                  </a:txBody>
                  <a:tcPr/>
                </a:tc>
                <a:tc>
                  <a:txBody>
                    <a:bodyPr/>
                    <a:lstStyle/>
                    <a:p>
                      <a:r>
                        <a:rPr lang="en-IN" sz="1000" dirty="0"/>
                        <a:t>Transfer learning achieved very high binary classification accuracy.</a:t>
                      </a:r>
                    </a:p>
                  </a:txBody>
                  <a:tcPr/>
                </a:tc>
                <a:extLst>
                  <a:ext uri="{0D108BD9-81ED-4DB2-BD59-A6C34878D82A}">
                    <a16:rowId xmlns:a16="http://schemas.microsoft.com/office/drawing/2014/main" val="1141603833"/>
                  </a:ext>
                </a:extLst>
              </a:tr>
              <a:tr h="531532">
                <a:tc>
                  <a:txBody>
                    <a:bodyPr/>
                    <a:lstStyle/>
                    <a:p>
                      <a:r>
                        <a:rPr lang="en-IN" sz="1000" dirty="0"/>
                        <a:t>8</a:t>
                      </a:r>
                    </a:p>
                  </a:txBody>
                  <a:tcPr/>
                </a:tc>
                <a:tc>
                  <a:txBody>
                    <a:bodyPr/>
                    <a:lstStyle/>
                    <a:p>
                      <a:pPr>
                        <a:buNone/>
                      </a:pPr>
                      <a:r>
                        <a:rPr lang="en-IN" sz="1000" dirty="0"/>
                        <a:t>Automated Malaria Parasite Detection Using CNN-Based Classification</a:t>
                      </a:r>
                    </a:p>
                  </a:txBody>
                  <a:tcPr anchor="ctr"/>
                </a:tc>
                <a:tc>
                  <a:txBody>
                    <a:bodyPr/>
                    <a:lstStyle/>
                    <a:p>
                      <a:r>
                        <a:rPr lang="en-IN" sz="1000" dirty="0"/>
                        <a:t>Vijayalakshmi et al.</a:t>
                      </a:r>
                    </a:p>
                  </a:txBody>
                  <a:tcPr/>
                </a:tc>
                <a:tc>
                  <a:txBody>
                    <a:bodyPr/>
                    <a:lstStyle/>
                    <a:p>
                      <a:r>
                        <a:rPr lang="en-IN" sz="1000" dirty="0"/>
                        <a:t>International Journal, 2020</a:t>
                      </a:r>
                    </a:p>
                  </a:txBody>
                  <a:tcPr/>
                </a:tc>
                <a:tc>
                  <a:txBody>
                    <a:bodyPr/>
                    <a:lstStyle/>
                    <a:p>
                      <a:r>
                        <a:rPr lang="en-IN" sz="1000" dirty="0"/>
                        <a:t>CNN model detected infected and uninfected blood cells effectively.</a:t>
                      </a:r>
                    </a:p>
                  </a:txBody>
                  <a:tcPr/>
                </a:tc>
                <a:extLst>
                  <a:ext uri="{0D108BD9-81ED-4DB2-BD59-A6C34878D82A}">
                    <a16:rowId xmlns:a16="http://schemas.microsoft.com/office/drawing/2014/main" val="954208698"/>
                  </a:ext>
                </a:extLst>
              </a:tr>
              <a:tr h="531532">
                <a:tc>
                  <a:txBody>
                    <a:bodyPr/>
                    <a:lstStyle/>
                    <a:p>
                      <a:r>
                        <a:rPr lang="en-IN" sz="1000" dirty="0"/>
                        <a:t>9</a:t>
                      </a:r>
                    </a:p>
                  </a:txBody>
                  <a:tcPr/>
                </a:tc>
                <a:tc>
                  <a:txBody>
                    <a:bodyPr/>
                    <a:lstStyle/>
                    <a:p>
                      <a:r>
                        <a:rPr lang="en-IN" sz="1000" dirty="0"/>
                        <a:t>Computer-Aided Malaria Parasite Detection Using Image Processing and Machine Learning</a:t>
                      </a:r>
                    </a:p>
                  </a:txBody>
                  <a:tcPr/>
                </a:tc>
                <a:tc>
                  <a:txBody>
                    <a:bodyPr/>
                    <a:lstStyle/>
                    <a:p>
                      <a:r>
                        <a:rPr lang="en-IN" sz="1000" dirty="0"/>
                        <a:t>Dong et al.</a:t>
                      </a:r>
                    </a:p>
                  </a:txBody>
                  <a:tcPr/>
                </a:tc>
                <a:tc>
                  <a:txBody>
                    <a:bodyPr/>
                    <a:lstStyle/>
                    <a:p>
                      <a:r>
                        <a:rPr lang="en-IN" sz="1000" dirty="0"/>
                        <a:t>Biomedical Signal Processing, 2018</a:t>
                      </a:r>
                    </a:p>
                  </a:txBody>
                  <a:tcPr/>
                </a:tc>
                <a:tc>
                  <a:txBody>
                    <a:bodyPr/>
                    <a:lstStyle/>
                    <a:p>
                      <a:r>
                        <a:rPr lang="en-IN" sz="1000" dirty="0"/>
                        <a:t>Traditional image processing required handcrafted feature extraction.</a:t>
                      </a:r>
                    </a:p>
                  </a:txBody>
                  <a:tcPr/>
                </a:tc>
                <a:extLst>
                  <a:ext uri="{0D108BD9-81ED-4DB2-BD59-A6C34878D82A}">
                    <a16:rowId xmlns:a16="http://schemas.microsoft.com/office/drawing/2014/main" val="274307017"/>
                  </a:ext>
                </a:extLst>
              </a:tr>
              <a:tr h="531532">
                <a:tc>
                  <a:txBody>
                    <a:bodyPr/>
                    <a:lstStyle/>
                    <a:p>
                      <a:r>
                        <a:rPr lang="en-IN" sz="1000" dirty="0"/>
                        <a:t>10</a:t>
                      </a:r>
                    </a:p>
                  </a:txBody>
                  <a:tcPr/>
                </a:tc>
                <a:tc>
                  <a:txBody>
                    <a:bodyPr/>
                    <a:lstStyle/>
                    <a:p>
                      <a:r>
                        <a:rPr lang="en-IN" sz="1000" dirty="0"/>
                        <a:t>Malaria Cell Image Classification Using Deep Convolutional Neural Networks</a:t>
                      </a:r>
                    </a:p>
                  </a:txBody>
                  <a:tcPr/>
                </a:tc>
                <a:tc>
                  <a:txBody>
                    <a:bodyPr/>
                    <a:lstStyle/>
                    <a:p>
                      <a:r>
                        <a:rPr lang="en-IN" sz="1000" dirty="0"/>
                        <a:t>Bibin D. Nair et al.</a:t>
                      </a:r>
                    </a:p>
                  </a:txBody>
                  <a:tcPr/>
                </a:tc>
                <a:tc>
                  <a:txBody>
                    <a:bodyPr/>
                    <a:lstStyle/>
                    <a:p>
                      <a:r>
                        <a:rPr lang="en-IN" sz="1000" dirty="0"/>
                        <a:t>Procedia Computer Science, 2018</a:t>
                      </a:r>
                    </a:p>
                  </a:txBody>
                  <a:tcPr/>
                </a:tc>
                <a:tc>
                  <a:txBody>
                    <a:bodyPr/>
                    <a:lstStyle/>
                    <a:p>
                      <a:r>
                        <a:rPr lang="en-IN" sz="1000" dirty="0"/>
                        <a:t>Demonstrated superiority of CNNs over conventional ML methods.</a:t>
                      </a:r>
                    </a:p>
                  </a:txBody>
                  <a:tcPr/>
                </a:tc>
                <a:extLst>
                  <a:ext uri="{0D108BD9-81ED-4DB2-BD59-A6C34878D82A}">
                    <a16:rowId xmlns:a16="http://schemas.microsoft.com/office/drawing/2014/main" val="2641514587"/>
                  </a:ext>
                </a:extLst>
              </a:tr>
            </a:tbl>
          </a:graphicData>
        </a:graphic>
      </p:graphicFrame>
    </p:spTree>
    <p:extLst>
      <p:ext uri="{BB962C8B-B14F-4D97-AF65-F5344CB8AC3E}">
        <p14:creationId xmlns:p14="http://schemas.microsoft.com/office/powerpoint/2010/main" val="1347774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59">
          <a:extLst>
            <a:ext uri="{FF2B5EF4-FFF2-40B4-BE49-F238E27FC236}">
              <a16:creationId xmlns:a16="http://schemas.microsoft.com/office/drawing/2014/main" id="{5CC1A221-A191-BCC3-E06C-D4FD646B1F8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29BEBAC-8CF0-3AB4-6245-7F4085F9CDA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7</a:t>
            </a:fld>
            <a:endParaRPr lang="en-GB"/>
          </a:p>
        </p:txBody>
      </p:sp>
      <p:sp>
        <p:nvSpPr>
          <p:cNvPr id="6" name="Date Placeholder 3">
            <a:extLst>
              <a:ext uri="{FF2B5EF4-FFF2-40B4-BE49-F238E27FC236}">
                <a16:creationId xmlns:a16="http://schemas.microsoft.com/office/drawing/2014/main" id="{AF777359-AE00-88D1-12DC-08D5F92496CF}"/>
              </a:ext>
            </a:extLst>
          </p:cNvPr>
          <p:cNvSpPr>
            <a:spLocks noGrp="1"/>
          </p:cNvSpPr>
          <p:nvPr/>
        </p:nvSpPr>
        <p:spPr>
          <a:xfrm>
            <a:off x="311785" y="4483735"/>
            <a:ext cx="212598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Date</a:t>
            </a:r>
          </a:p>
        </p:txBody>
      </p:sp>
      <p:sp>
        <p:nvSpPr>
          <p:cNvPr id="7" name="Footer Placeholder 4">
            <a:extLst>
              <a:ext uri="{FF2B5EF4-FFF2-40B4-BE49-F238E27FC236}">
                <a16:creationId xmlns:a16="http://schemas.microsoft.com/office/drawing/2014/main" id="{B7B5F577-1EF0-C06E-C552-423CD5B07557}"/>
              </a:ext>
            </a:extLst>
          </p:cNvPr>
          <p:cNvSpPr>
            <a:spLocks noGrp="1"/>
          </p:cNvSpPr>
          <p:nvPr/>
        </p:nvSpPr>
        <p:spPr>
          <a:xfrm>
            <a:off x="3512185" y="4483735"/>
            <a:ext cx="318833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RV COLLEGE OF ENGINEERING</a:t>
            </a:r>
          </a:p>
        </p:txBody>
      </p:sp>
      <p:sp>
        <p:nvSpPr>
          <p:cNvPr id="2" name="Title 1">
            <a:extLst>
              <a:ext uri="{FF2B5EF4-FFF2-40B4-BE49-F238E27FC236}">
                <a16:creationId xmlns:a16="http://schemas.microsoft.com/office/drawing/2014/main" id="{F93D10A5-5DDF-BEA9-17B4-9DA865D9C22A}"/>
              </a:ext>
            </a:extLst>
          </p:cNvPr>
          <p:cNvSpPr>
            <a:spLocks noGrp="1"/>
          </p:cNvSpPr>
          <p:nvPr>
            <p:ph type="title"/>
          </p:nvPr>
        </p:nvSpPr>
        <p:spPr>
          <a:xfrm>
            <a:off x="1948909" y="172463"/>
            <a:ext cx="4751612" cy="540337"/>
          </a:xfrm>
        </p:spPr>
        <p:txBody>
          <a:bodyPr>
            <a:noAutofit/>
          </a:bodyPr>
          <a:lstStyle/>
          <a:p>
            <a:pPr algn="ctr"/>
            <a:r>
              <a:rPr lang="en-US" sz="2000" b="1" dirty="0">
                <a:solidFill>
                  <a:schemeClr val="accent1">
                    <a:lumMod val="50000"/>
                  </a:schemeClr>
                </a:solidFill>
                <a:latin typeface="Bookman Old Style" panose="02050604050505020204" pitchFamily="18" charset="0"/>
                <a:ea typeface="ＭＳ Ｐゴシック" panose="020B0600070205080204" pitchFamily="34" charset="-128"/>
              </a:rPr>
              <a:t>Motivation</a:t>
            </a:r>
            <a:endParaRPr lang="en-US" altLang="en-US" sz="2000" b="1" dirty="0">
              <a:solidFill>
                <a:schemeClr val="accent1">
                  <a:lumMod val="50000"/>
                </a:schemeClr>
              </a:solidFill>
              <a:latin typeface="Bookman Old Style" panose="02050604050505020204" pitchFamily="18" charset="0"/>
              <a:ea typeface="ＭＳ Ｐゴシック" panose="020B0600070205080204" pitchFamily="34" charset="-128"/>
            </a:endParaRPr>
          </a:p>
        </p:txBody>
      </p:sp>
      <p:graphicFrame>
        <p:nvGraphicFramePr>
          <p:cNvPr id="9" name="Table 8">
            <a:extLst>
              <a:ext uri="{FF2B5EF4-FFF2-40B4-BE49-F238E27FC236}">
                <a16:creationId xmlns:a16="http://schemas.microsoft.com/office/drawing/2014/main" id="{6BFFA918-6A79-A946-A118-213257D7BD99}"/>
              </a:ext>
            </a:extLst>
          </p:cNvPr>
          <p:cNvGraphicFramePr>
            <a:graphicFrameLocks noGrp="1"/>
          </p:cNvGraphicFramePr>
          <p:nvPr/>
        </p:nvGraphicFramePr>
        <p:xfrm>
          <a:off x="311150" y="2708275"/>
          <a:ext cx="8521700" cy="304800"/>
        </p:xfrm>
        <a:graphic>
          <a:graphicData uri="http://schemas.openxmlformats.org/drawingml/2006/table">
            <a:tbl>
              <a:tblPr/>
              <a:tblGrid>
                <a:gridCol w="8521700">
                  <a:extLst>
                    <a:ext uri="{9D8B030D-6E8A-4147-A177-3AD203B41FA5}">
                      <a16:colId xmlns:a16="http://schemas.microsoft.com/office/drawing/2014/main" val="4255603464"/>
                    </a:ext>
                  </a:extLst>
                </a:gridCol>
              </a:tblGrid>
              <a:tr h="0">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88395821"/>
                  </a:ext>
                </a:extLst>
              </a:tr>
            </a:tbl>
          </a:graphicData>
        </a:graphic>
      </p:graphicFrame>
      <p:graphicFrame>
        <p:nvGraphicFramePr>
          <p:cNvPr id="10" name="Table 9">
            <a:extLst>
              <a:ext uri="{FF2B5EF4-FFF2-40B4-BE49-F238E27FC236}">
                <a16:creationId xmlns:a16="http://schemas.microsoft.com/office/drawing/2014/main" id="{2445998B-D420-CF9B-21A5-4C25404D6AFF}"/>
              </a:ext>
            </a:extLst>
          </p:cNvPr>
          <p:cNvGraphicFramePr>
            <a:graphicFrameLocks noGrp="1"/>
          </p:cNvGraphicFramePr>
          <p:nvPr>
            <p:extLst>
              <p:ext uri="{D42A27DB-BD31-4B8C-83A1-F6EECF244321}">
                <p14:modId xmlns:p14="http://schemas.microsoft.com/office/powerpoint/2010/main" val="303051877"/>
              </p:ext>
            </p:extLst>
          </p:nvPr>
        </p:nvGraphicFramePr>
        <p:xfrm>
          <a:off x="304801" y="1238580"/>
          <a:ext cx="8341112" cy="3142107"/>
        </p:xfrm>
        <a:graphic>
          <a:graphicData uri="http://schemas.openxmlformats.org/drawingml/2006/table">
            <a:tbl>
              <a:tblPr/>
              <a:tblGrid>
                <a:gridCol w="8341112">
                  <a:extLst>
                    <a:ext uri="{9D8B030D-6E8A-4147-A177-3AD203B41FA5}">
                      <a16:colId xmlns:a16="http://schemas.microsoft.com/office/drawing/2014/main" val="1685709384"/>
                    </a:ext>
                  </a:extLst>
                </a:gridCol>
              </a:tblGrid>
              <a:tr h="1981358">
                <a:tc>
                  <a:txBody>
                    <a:bodyPr/>
                    <a:lstStyle/>
                    <a:p>
                      <a:pPr>
                        <a:lnSpc>
                          <a:spcPct val="150000"/>
                        </a:lnSpc>
                        <a:buNone/>
                      </a:pPr>
                      <a:r>
                        <a:rPr lang="en-US" sz="1500" b="0" i="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Arial" panose="020B0604020202020204"/>
                        </a:rPr>
                        <a:t>The proposed Malaria Parasite Recognition System utilizes Deep Learning and the VGG16 Convolutional Neural Network (CNN) architecture to automatically detect malaria-infected blood cells from microscopic blood smear images. The system performs image preprocessing, feature extraction, and binary classification to distinguish between parasitized and uninfected cells with high accuracy. A Flask-based web application provides a user-friendly interface for uploading blood smear images and obtaining real-time prediction results along with confidence scores. By reducing dependence on manual microscopic examination, the proposed solution improves diagnostic efficiency, supports early disease detection, and demonstrates the practical application of Artificial Intelligence in healthcare and medical image analysis.</a:t>
                      </a:r>
                    </a:p>
                    <a:p>
                      <a:pPr>
                        <a:lnSpc>
                          <a:spcPct val="150000"/>
                        </a:lnSpc>
                        <a:buNone/>
                      </a:pPr>
                      <a:endParaRPr lang="en-US" sz="1500" b="0" i="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Arial" panose="020B0604020202020204"/>
                      </a:endParaRPr>
                    </a:p>
                  </a:txBody>
                  <a:tcPr anchor="ctr">
                    <a:lnL>
                      <a:noFill/>
                    </a:lnL>
                    <a:lnR>
                      <a:noFill/>
                    </a:lnR>
                    <a:lnT>
                      <a:noFill/>
                    </a:lnT>
                    <a:lnB>
                      <a:noFill/>
                    </a:lnB>
                    <a:noFill/>
                  </a:tcPr>
                </a:tc>
                <a:extLst>
                  <a:ext uri="{0D108BD9-81ED-4DB2-BD59-A6C34878D82A}">
                    <a16:rowId xmlns:a16="http://schemas.microsoft.com/office/drawing/2014/main" val="299456145"/>
                  </a:ext>
                </a:extLst>
              </a:tr>
            </a:tbl>
          </a:graphicData>
        </a:graphic>
      </p:graphicFrame>
    </p:spTree>
    <p:extLst>
      <p:ext uri="{BB962C8B-B14F-4D97-AF65-F5344CB8AC3E}">
        <p14:creationId xmlns:p14="http://schemas.microsoft.com/office/powerpoint/2010/main" val="5196592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59">
          <a:extLst>
            <a:ext uri="{FF2B5EF4-FFF2-40B4-BE49-F238E27FC236}">
              <a16:creationId xmlns:a16="http://schemas.microsoft.com/office/drawing/2014/main" id="{BF9B8DB7-95C5-D431-76E4-CB01B0E32C3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0A02722-226F-E77F-EB88-9946D2D849B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8</a:t>
            </a:fld>
            <a:endParaRPr lang="en-GB"/>
          </a:p>
        </p:txBody>
      </p:sp>
      <p:sp>
        <p:nvSpPr>
          <p:cNvPr id="6" name="Date Placeholder 3">
            <a:extLst>
              <a:ext uri="{FF2B5EF4-FFF2-40B4-BE49-F238E27FC236}">
                <a16:creationId xmlns:a16="http://schemas.microsoft.com/office/drawing/2014/main" id="{99FFFD87-20BF-E90A-F2A3-2AD8E06E43F8}"/>
              </a:ext>
            </a:extLst>
          </p:cNvPr>
          <p:cNvSpPr>
            <a:spLocks noGrp="1"/>
          </p:cNvSpPr>
          <p:nvPr/>
        </p:nvSpPr>
        <p:spPr>
          <a:xfrm>
            <a:off x="311785" y="4483735"/>
            <a:ext cx="212598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Date</a:t>
            </a:r>
          </a:p>
        </p:txBody>
      </p:sp>
      <p:sp>
        <p:nvSpPr>
          <p:cNvPr id="7" name="Footer Placeholder 4">
            <a:extLst>
              <a:ext uri="{FF2B5EF4-FFF2-40B4-BE49-F238E27FC236}">
                <a16:creationId xmlns:a16="http://schemas.microsoft.com/office/drawing/2014/main" id="{BC1F81C0-A87E-B22B-B432-11D443C155FE}"/>
              </a:ext>
            </a:extLst>
          </p:cNvPr>
          <p:cNvSpPr>
            <a:spLocks noGrp="1"/>
          </p:cNvSpPr>
          <p:nvPr/>
        </p:nvSpPr>
        <p:spPr>
          <a:xfrm>
            <a:off x="3512185" y="4483735"/>
            <a:ext cx="318833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RV COLLEGE OF ENGINEERING</a:t>
            </a:r>
          </a:p>
        </p:txBody>
      </p:sp>
      <p:sp>
        <p:nvSpPr>
          <p:cNvPr id="2" name="Title 1">
            <a:extLst>
              <a:ext uri="{FF2B5EF4-FFF2-40B4-BE49-F238E27FC236}">
                <a16:creationId xmlns:a16="http://schemas.microsoft.com/office/drawing/2014/main" id="{BE386296-F9DF-66CA-15A5-66ACB23B3C25}"/>
              </a:ext>
            </a:extLst>
          </p:cNvPr>
          <p:cNvSpPr>
            <a:spLocks noGrp="1"/>
          </p:cNvSpPr>
          <p:nvPr>
            <p:ph type="title"/>
          </p:nvPr>
        </p:nvSpPr>
        <p:spPr>
          <a:xfrm>
            <a:off x="1948909" y="172463"/>
            <a:ext cx="4751612" cy="540337"/>
          </a:xfrm>
        </p:spPr>
        <p:txBody>
          <a:bodyPr>
            <a:noAutofit/>
          </a:bodyPr>
          <a:lstStyle/>
          <a:p>
            <a:pPr algn="ctr"/>
            <a:r>
              <a:rPr lang="en-US" sz="2000" b="1" dirty="0">
                <a:solidFill>
                  <a:schemeClr val="accent1">
                    <a:lumMod val="50000"/>
                  </a:schemeClr>
                </a:solidFill>
                <a:latin typeface="Bookman Old Style" panose="02050604050505020204" pitchFamily="18" charset="0"/>
                <a:ea typeface="ＭＳ Ｐゴシック" panose="020B0600070205080204" pitchFamily="34" charset="-128"/>
              </a:rPr>
              <a:t>Problem Statement</a:t>
            </a:r>
          </a:p>
        </p:txBody>
      </p:sp>
      <p:graphicFrame>
        <p:nvGraphicFramePr>
          <p:cNvPr id="3" name="Table 2">
            <a:extLst>
              <a:ext uri="{FF2B5EF4-FFF2-40B4-BE49-F238E27FC236}">
                <a16:creationId xmlns:a16="http://schemas.microsoft.com/office/drawing/2014/main" id="{9FE4D9E3-FCEB-F6C0-1C95-9672AB5739AC}"/>
              </a:ext>
            </a:extLst>
          </p:cNvPr>
          <p:cNvGraphicFramePr>
            <a:graphicFrameLocks noGrp="1"/>
          </p:cNvGraphicFramePr>
          <p:nvPr/>
        </p:nvGraphicFramePr>
        <p:xfrm>
          <a:off x="311150" y="2708275"/>
          <a:ext cx="8521700" cy="304800"/>
        </p:xfrm>
        <a:graphic>
          <a:graphicData uri="http://schemas.openxmlformats.org/drawingml/2006/table">
            <a:tbl>
              <a:tblPr/>
              <a:tblGrid>
                <a:gridCol w="8521700">
                  <a:extLst>
                    <a:ext uri="{9D8B030D-6E8A-4147-A177-3AD203B41FA5}">
                      <a16:colId xmlns:a16="http://schemas.microsoft.com/office/drawing/2014/main" val="2570761638"/>
                    </a:ext>
                  </a:extLst>
                </a:gridCol>
              </a:tblGrid>
              <a:tr h="0">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2199561024"/>
                  </a:ext>
                </a:extLst>
              </a:tr>
            </a:tbl>
          </a:graphicData>
        </a:graphic>
      </p:graphicFrame>
      <p:graphicFrame>
        <p:nvGraphicFramePr>
          <p:cNvPr id="8" name="Table 7">
            <a:extLst>
              <a:ext uri="{FF2B5EF4-FFF2-40B4-BE49-F238E27FC236}">
                <a16:creationId xmlns:a16="http://schemas.microsoft.com/office/drawing/2014/main" id="{A25C2595-58FC-7271-CE76-5281FEFBD098}"/>
              </a:ext>
            </a:extLst>
          </p:cNvPr>
          <p:cNvGraphicFramePr>
            <a:graphicFrameLocks noGrp="1"/>
          </p:cNvGraphicFramePr>
          <p:nvPr>
            <p:extLst>
              <p:ext uri="{D42A27DB-BD31-4B8C-83A1-F6EECF244321}">
                <p14:modId xmlns:p14="http://schemas.microsoft.com/office/powerpoint/2010/main" val="1000859565"/>
              </p:ext>
            </p:extLst>
          </p:nvPr>
        </p:nvGraphicFramePr>
        <p:xfrm>
          <a:off x="509716" y="1418016"/>
          <a:ext cx="8137280" cy="2517775"/>
        </p:xfrm>
        <a:graphic>
          <a:graphicData uri="http://schemas.openxmlformats.org/drawingml/2006/table">
            <a:tbl>
              <a:tblPr/>
              <a:tblGrid>
                <a:gridCol w="8137280">
                  <a:extLst>
                    <a:ext uri="{9D8B030D-6E8A-4147-A177-3AD203B41FA5}">
                      <a16:colId xmlns:a16="http://schemas.microsoft.com/office/drawing/2014/main" val="3741550652"/>
                    </a:ext>
                  </a:extLst>
                </a:gridCol>
              </a:tblGrid>
              <a:tr h="1284312">
                <a:tc>
                  <a:txBody>
                    <a:bodyPr/>
                    <a:lstStyle/>
                    <a:p>
                      <a:pPr>
                        <a:lnSpc>
                          <a:spcPct val="150000"/>
                        </a:lnSpc>
                        <a:buNone/>
                      </a:pPr>
                      <a:r>
                        <a:rPr lang="en-IN" sz="1800" dirty="0">
                          <a:latin typeface="Calibri" panose="020F0502020204030204" pitchFamily="34" charset="0"/>
                          <a:ea typeface="Calibri" panose="020F0502020204030204" pitchFamily="34" charset="0"/>
                          <a:cs typeface="Calibri" panose="020F0502020204030204" pitchFamily="34" charset="0"/>
                        </a:rPr>
                        <a:t>Malaria diagnosis through manual microscopic examination of blood smear images is time-consuming, </a:t>
                      </a:r>
                      <a:r>
                        <a:rPr lang="en-IN" sz="1800" dirty="0" err="1">
                          <a:latin typeface="Calibri" panose="020F0502020204030204" pitchFamily="34" charset="0"/>
                          <a:ea typeface="Calibri" panose="020F0502020204030204" pitchFamily="34" charset="0"/>
                          <a:cs typeface="Calibri" panose="020F0502020204030204" pitchFamily="34" charset="0"/>
                        </a:rPr>
                        <a:t>labor-intensive</a:t>
                      </a:r>
                      <a:r>
                        <a:rPr lang="en-IN" sz="1800" dirty="0">
                          <a:latin typeface="Calibri" panose="020F0502020204030204" pitchFamily="34" charset="0"/>
                          <a:ea typeface="Calibri" panose="020F0502020204030204" pitchFamily="34" charset="0"/>
                          <a:cs typeface="Calibri" panose="020F0502020204030204" pitchFamily="34" charset="0"/>
                        </a:rPr>
                        <a:t>, and prone to human error, particularly in resource-constrained healthcare settings. The project addresses this challenge by developing an automated deep learning-based system that accurately classifies blood smear images as parasitized or uninfected, enabling faster and more reliable malaria detection.</a:t>
                      </a:r>
                      <a:endParaRPr lang="en-US" sz="1800" b="0" i="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Arial" panose="020B0604020202020204"/>
                      </a:endParaRPr>
                    </a:p>
                  </a:txBody>
                  <a:tcPr anchor="ctr">
                    <a:lnL>
                      <a:noFill/>
                    </a:lnL>
                    <a:lnR>
                      <a:noFill/>
                    </a:lnR>
                    <a:lnT>
                      <a:noFill/>
                    </a:lnT>
                    <a:lnB>
                      <a:noFill/>
                    </a:lnB>
                    <a:noFill/>
                  </a:tcPr>
                </a:tc>
                <a:extLst>
                  <a:ext uri="{0D108BD9-81ED-4DB2-BD59-A6C34878D82A}">
                    <a16:rowId xmlns:a16="http://schemas.microsoft.com/office/drawing/2014/main" val="2506392504"/>
                  </a:ext>
                </a:extLst>
              </a:tr>
            </a:tbl>
          </a:graphicData>
        </a:graphic>
      </p:graphicFrame>
    </p:spTree>
    <p:extLst>
      <p:ext uri="{BB962C8B-B14F-4D97-AF65-F5344CB8AC3E}">
        <p14:creationId xmlns:p14="http://schemas.microsoft.com/office/powerpoint/2010/main" val="2364915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59">
          <a:extLst>
            <a:ext uri="{FF2B5EF4-FFF2-40B4-BE49-F238E27FC236}">
              <a16:creationId xmlns:a16="http://schemas.microsoft.com/office/drawing/2014/main" id="{319D1A10-E070-D5DB-D431-EC92EB921EC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CF33761-A58C-95C6-E688-517817F34AD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9</a:t>
            </a:fld>
            <a:endParaRPr lang="en-GB"/>
          </a:p>
        </p:txBody>
      </p:sp>
      <p:sp>
        <p:nvSpPr>
          <p:cNvPr id="6" name="Date Placeholder 3">
            <a:extLst>
              <a:ext uri="{FF2B5EF4-FFF2-40B4-BE49-F238E27FC236}">
                <a16:creationId xmlns:a16="http://schemas.microsoft.com/office/drawing/2014/main" id="{C5C6A9DD-9B53-28AB-9B25-15ABF8DD6B79}"/>
              </a:ext>
            </a:extLst>
          </p:cNvPr>
          <p:cNvSpPr>
            <a:spLocks noGrp="1"/>
          </p:cNvSpPr>
          <p:nvPr/>
        </p:nvSpPr>
        <p:spPr>
          <a:xfrm>
            <a:off x="311785" y="4483735"/>
            <a:ext cx="212598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Date</a:t>
            </a:r>
          </a:p>
        </p:txBody>
      </p:sp>
      <p:sp>
        <p:nvSpPr>
          <p:cNvPr id="7" name="Footer Placeholder 4">
            <a:extLst>
              <a:ext uri="{FF2B5EF4-FFF2-40B4-BE49-F238E27FC236}">
                <a16:creationId xmlns:a16="http://schemas.microsoft.com/office/drawing/2014/main" id="{7A6EA310-A9C1-6982-2569-599501A04174}"/>
              </a:ext>
            </a:extLst>
          </p:cNvPr>
          <p:cNvSpPr>
            <a:spLocks noGrp="1"/>
          </p:cNvSpPr>
          <p:nvPr/>
        </p:nvSpPr>
        <p:spPr>
          <a:xfrm>
            <a:off x="3512185" y="4483735"/>
            <a:ext cx="318833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RV COLLEGE OF ENGINEERING</a:t>
            </a:r>
          </a:p>
        </p:txBody>
      </p:sp>
      <p:sp>
        <p:nvSpPr>
          <p:cNvPr id="2" name="Title 1">
            <a:extLst>
              <a:ext uri="{FF2B5EF4-FFF2-40B4-BE49-F238E27FC236}">
                <a16:creationId xmlns:a16="http://schemas.microsoft.com/office/drawing/2014/main" id="{26B7CC4D-6D2D-D184-C0BD-D76F9F9D76CE}"/>
              </a:ext>
            </a:extLst>
          </p:cNvPr>
          <p:cNvSpPr>
            <a:spLocks noGrp="1"/>
          </p:cNvSpPr>
          <p:nvPr>
            <p:ph type="title"/>
          </p:nvPr>
        </p:nvSpPr>
        <p:spPr>
          <a:xfrm>
            <a:off x="1948909" y="172463"/>
            <a:ext cx="4751612" cy="540337"/>
          </a:xfrm>
        </p:spPr>
        <p:txBody>
          <a:bodyPr>
            <a:noAutofit/>
          </a:bodyPr>
          <a:lstStyle/>
          <a:p>
            <a:pPr algn="ctr"/>
            <a:r>
              <a:rPr lang="en-US" sz="2000" b="1" dirty="0">
                <a:solidFill>
                  <a:schemeClr val="accent1">
                    <a:lumMod val="50000"/>
                  </a:schemeClr>
                </a:solidFill>
                <a:latin typeface="Bookman Old Style" panose="02050604050505020204" pitchFamily="18" charset="0"/>
                <a:ea typeface="ＭＳ Ｐゴシック" panose="020B0600070205080204" pitchFamily="34" charset="-128"/>
              </a:rPr>
              <a:t>Objectives</a:t>
            </a:r>
          </a:p>
        </p:txBody>
      </p:sp>
      <p:sp>
        <p:nvSpPr>
          <p:cNvPr id="3" name="Rectangle 3">
            <a:extLst>
              <a:ext uri="{FF2B5EF4-FFF2-40B4-BE49-F238E27FC236}">
                <a16:creationId xmlns:a16="http://schemas.microsoft.com/office/drawing/2014/main" id="{5BD95CD3-A2BE-712F-2972-FDF94D3D5485}"/>
              </a:ext>
            </a:extLst>
          </p:cNvPr>
          <p:cNvSpPr>
            <a:spLocks noChangeArrowheads="1"/>
          </p:cNvSpPr>
          <p:nvPr/>
        </p:nvSpPr>
        <p:spPr bwMode="auto">
          <a:xfrm>
            <a:off x="356839" y="900222"/>
            <a:ext cx="9002751" cy="4243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342900" lvl="0" indent="-342900">
              <a:lnSpc>
                <a:spcPct val="200000"/>
              </a:lnSpc>
              <a:buClrTx/>
              <a:buFont typeface="Wingdings" panose="05000000000000000000" pitchFamily="2" charset="2"/>
              <a:buChar char="Ø"/>
            </a:pPr>
            <a:endParaRPr lang="en-US" altLang="en-US" dirty="0">
              <a:latin typeface="Times New Roman" panose="02020603050405020304" pitchFamily="18" charset="0"/>
              <a:cs typeface="Times New Roman" panose="02020603050405020304" pitchFamily="18" charset="0"/>
            </a:endParaRPr>
          </a:p>
          <a:p>
            <a:pPr marL="342900" lvl="0" indent="-342900">
              <a:lnSpc>
                <a:spcPct val="200000"/>
              </a:lnSpc>
              <a:buClrTx/>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To develop an automated malaria detection system using deep learning.</a:t>
            </a:r>
          </a:p>
          <a:p>
            <a:pPr marL="342900" lvl="0" indent="-342900">
              <a:lnSpc>
                <a:spcPct val="200000"/>
              </a:lnSpc>
              <a:buClrTx/>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To classify microscopic blood cell images as parasitized or uninfected.</a:t>
            </a:r>
          </a:p>
          <a:p>
            <a:pPr marL="342900" lvl="0" indent="-342900">
              <a:lnSpc>
                <a:spcPct val="200000"/>
              </a:lnSpc>
              <a:buClrTx/>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To reduce the time and effort required in manual malaria diagnosis.</a:t>
            </a:r>
          </a:p>
          <a:p>
            <a:pPr marL="342900" lvl="0" indent="-342900">
              <a:lnSpc>
                <a:spcPct val="200000"/>
              </a:lnSpc>
              <a:buClrTx/>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To improve diagnostic accuracy and consistency using a CNN model.</a:t>
            </a:r>
          </a:p>
          <a:p>
            <a:pPr marL="342900" lvl="0" indent="-342900">
              <a:lnSpc>
                <a:spcPct val="200000"/>
              </a:lnSpc>
              <a:buClrTx/>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To build a Flask-based web application for easy image upload and prediction.</a:t>
            </a:r>
          </a:p>
          <a:p>
            <a:pPr marL="342900" lvl="0" indent="-342900">
              <a:lnSpc>
                <a:spcPct val="200000"/>
              </a:lnSpc>
              <a:buClrTx/>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To demonstrate the practical use of artificial intelligence in healthcare diagnosis.</a:t>
            </a:r>
          </a:p>
          <a:p>
            <a:pPr marL="342900" lvl="0" indent="-342900">
              <a:lnSpc>
                <a:spcPct val="200000"/>
              </a:lnSpc>
              <a:buClrTx/>
              <a:buFont typeface="Wingdings" panose="05000000000000000000" pitchFamily="2" charset="2"/>
              <a:buChar char="Ø"/>
            </a:pPr>
            <a:endParaRPr lang="en-US" altLang="en-US" dirty="0">
              <a:latin typeface="Times New Roman" panose="02020603050405020304" pitchFamily="18" charset="0"/>
              <a:cs typeface="Times New Roman" panose="02020603050405020304" pitchFamily="18" charset="0"/>
            </a:endParaRPr>
          </a:p>
          <a:p>
            <a:pPr marL="342900" lvl="0" indent="-342900">
              <a:lnSpc>
                <a:spcPct val="200000"/>
              </a:lnSpc>
              <a:buClrTx/>
              <a:buFont typeface="Wingdings" panose="05000000000000000000" pitchFamily="2" charset="2"/>
              <a:buChar char="Ø"/>
            </a:pPr>
            <a:endParaRPr lang="en-US" altLang="en-US" dirty="0">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6201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59">
          <a:extLst>
            <a:ext uri="{FF2B5EF4-FFF2-40B4-BE49-F238E27FC236}">
              <a16:creationId xmlns:a16="http://schemas.microsoft.com/office/drawing/2014/main" id="{D5D6AB70-933F-5612-ADF3-A8A3C909AAA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60ABAFC-F4CB-FD2A-5D3D-D39702C32B0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10</a:t>
            </a:fld>
            <a:endParaRPr lang="en-GB"/>
          </a:p>
        </p:txBody>
      </p:sp>
      <p:sp>
        <p:nvSpPr>
          <p:cNvPr id="6" name="Date Placeholder 3">
            <a:extLst>
              <a:ext uri="{FF2B5EF4-FFF2-40B4-BE49-F238E27FC236}">
                <a16:creationId xmlns:a16="http://schemas.microsoft.com/office/drawing/2014/main" id="{9FC56FDD-DE59-7005-6411-997378CB02E4}"/>
              </a:ext>
            </a:extLst>
          </p:cNvPr>
          <p:cNvSpPr>
            <a:spLocks noGrp="1"/>
          </p:cNvSpPr>
          <p:nvPr/>
        </p:nvSpPr>
        <p:spPr>
          <a:xfrm>
            <a:off x="311785" y="4483735"/>
            <a:ext cx="212598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Date</a:t>
            </a:r>
          </a:p>
        </p:txBody>
      </p:sp>
      <p:sp>
        <p:nvSpPr>
          <p:cNvPr id="7" name="Footer Placeholder 4">
            <a:extLst>
              <a:ext uri="{FF2B5EF4-FFF2-40B4-BE49-F238E27FC236}">
                <a16:creationId xmlns:a16="http://schemas.microsoft.com/office/drawing/2014/main" id="{584B76A6-94BA-FBFD-5791-84D5A96D9812}"/>
              </a:ext>
            </a:extLst>
          </p:cNvPr>
          <p:cNvSpPr>
            <a:spLocks noGrp="1"/>
          </p:cNvSpPr>
          <p:nvPr/>
        </p:nvSpPr>
        <p:spPr>
          <a:xfrm>
            <a:off x="3512185" y="4483735"/>
            <a:ext cx="318833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RV COLLEGE OF ENGINEERING</a:t>
            </a:r>
          </a:p>
        </p:txBody>
      </p:sp>
      <p:sp>
        <p:nvSpPr>
          <p:cNvPr id="2" name="Title 1">
            <a:extLst>
              <a:ext uri="{FF2B5EF4-FFF2-40B4-BE49-F238E27FC236}">
                <a16:creationId xmlns:a16="http://schemas.microsoft.com/office/drawing/2014/main" id="{0C9EC002-977F-050B-4DF7-E86107C8D870}"/>
              </a:ext>
            </a:extLst>
          </p:cNvPr>
          <p:cNvSpPr>
            <a:spLocks noGrp="1"/>
          </p:cNvSpPr>
          <p:nvPr>
            <p:ph type="title"/>
          </p:nvPr>
        </p:nvSpPr>
        <p:spPr>
          <a:xfrm>
            <a:off x="1948909" y="172463"/>
            <a:ext cx="4751612" cy="540337"/>
          </a:xfrm>
        </p:spPr>
        <p:txBody>
          <a:bodyPr>
            <a:noAutofit/>
          </a:bodyPr>
          <a:lstStyle/>
          <a:p>
            <a:pPr algn="ctr"/>
            <a:r>
              <a:rPr lang="en-US" sz="2000" b="1" dirty="0">
                <a:solidFill>
                  <a:schemeClr val="accent1">
                    <a:lumMod val="50000"/>
                  </a:schemeClr>
                </a:solidFill>
                <a:latin typeface="Bookman Old Style" panose="02050604050505020204" pitchFamily="18" charset="0"/>
                <a:ea typeface="ＭＳ Ｐゴシック" panose="020B0600070205080204" pitchFamily="34" charset="-128"/>
              </a:rPr>
              <a:t>Specifications</a:t>
            </a:r>
          </a:p>
        </p:txBody>
      </p:sp>
      <p:sp>
        <p:nvSpPr>
          <p:cNvPr id="8" name="TextBox 7">
            <a:extLst>
              <a:ext uri="{FF2B5EF4-FFF2-40B4-BE49-F238E27FC236}">
                <a16:creationId xmlns:a16="http://schemas.microsoft.com/office/drawing/2014/main" id="{E31D79F6-B209-1BF0-A99A-09AB79A16561}"/>
              </a:ext>
            </a:extLst>
          </p:cNvPr>
          <p:cNvSpPr txBox="1"/>
          <p:nvPr/>
        </p:nvSpPr>
        <p:spPr>
          <a:xfrm>
            <a:off x="130098" y="1296357"/>
            <a:ext cx="4572000" cy="954107"/>
          </a:xfrm>
          <a:prstGeom prst="rect">
            <a:avLst/>
          </a:prstGeom>
          <a:noFill/>
        </p:spPr>
        <p:txBody>
          <a:bodyPr wrap="square">
            <a:spAutoFit/>
          </a:bodyPr>
          <a:lstStyle/>
          <a:p>
            <a:pPr>
              <a:buNone/>
            </a:pPr>
            <a:r>
              <a:rPr lang="en-IN" b="1" dirty="0">
                <a:latin typeface="Calibri" panose="020F0502020204030204" pitchFamily="34" charset="0"/>
                <a:ea typeface="Calibri" panose="020F0502020204030204" pitchFamily="34" charset="0"/>
                <a:cs typeface="Calibri" panose="020F0502020204030204" pitchFamily="34" charset="0"/>
              </a:rPr>
              <a:t>Hardware Requirements</a:t>
            </a:r>
          </a:p>
          <a:p>
            <a:pPr>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Processor: Intel Core i5 or higher </a:t>
            </a:r>
          </a:p>
          <a:p>
            <a:pPr>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RAM: 8 GB  </a:t>
            </a:r>
          </a:p>
          <a:p>
            <a:pPr>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Storage: Minimum 20 GB free disk space </a:t>
            </a:r>
          </a:p>
        </p:txBody>
      </p:sp>
      <p:sp>
        <p:nvSpPr>
          <p:cNvPr id="10" name="TextBox 9">
            <a:extLst>
              <a:ext uri="{FF2B5EF4-FFF2-40B4-BE49-F238E27FC236}">
                <a16:creationId xmlns:a16="http://schemas.microsoft.com/office/drawing/2014/main" id="{01F96AAE-2017-5544-0683-77887C1AE5E4}"/>
              </a:ext>
            </a:extLst>
          </p:cNvPr>
          <p:cNvSpPr txBox="1"/>
          <p:nvPr/>
        </p:nvSpPr>
        <p:spPr>
          <a:xfrm>
            <a:off x="144966" y="2430137"/>
            <a:ext cx="4572000" cy="2031325"/>
          </a:xfrm>
          <a:prstGeom prst="rect">
            <a:avLst/>
          </a:prstGeom>
          <a:noFill/>
        </p:spPr>
        <p:txBody>
          <a:bodyPr wrap="square">
            <a:spAutoFit/>
          </a:bodyPr>
          <a:lstStyle/>
          <a:p>
            <a:pPr>
              <a:buNone/>
            </a:pPr>
            <a:r>
              <a:rPr lang="en-IN" b="1" dirty="0">
                <a:latin typeface="Calibri" panose="020F0502020204030204" pitchFamily="34" charset="0"/>
                <a:ea typeface="Calibri" panose="020F0502020204030204" pitchFamily="34" charset="0"/>
                <a:cs typeface="Calibri" panose="020F0502020204030204" pitchFamily="34" charset="0"/>
              </a:rPr>
              <a:t>Software Requirements</a:t>
            </a:r>
          </a:p>
          <a:p>
            <a:pPr>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Operating System: Windows 10</a:t>
            </a:r>
          </a:p>
          <a:p>
            <a:pPr>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Python 3.10</a:t>
            </a:r>
          </a:p>
          <a:p>
            <a:pPr>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TensorFlow and </a:t>
            </a:r>
            <a:r>
              <a:rPr lang="en-IN" dirty="0" err="1">
                <a:latin typeface="Calibri" panose="020F0502020204030204" pitchFamily="34" charset="0"/>
                <a:ea typeface="Calibri" panose="020F0502020204030204" pitchFamily="34" charset="0"/>
                <a:cs typeface="Calibri" panose="020F0502020204030204" pitchFamily="34" charset="0"/>
              </a:rPr>
              <a:t>Keras</a:t>
            </a:r>
            <a:r>
              <a:rPr lang="en-IN" dirty="0">
                <a:latin typeface="Calibri" panose="020F0502020204030204" pitchFamily="34" charset="0"/>
                <a:ea typeface="Calibri" panose="020F0502020204030204" pitchFamily="34" charset="0"/>
                <a:cs typeface="Calibri" panose="020F0502020204030204" pitchFamily="34" charset="0"/>
              </a:rPr>
              <a:t> </a:t>
            </a:r>
          </a:p>
          <a:p>
            <a:pPr>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Flask Web Framework </a:t>
            </a:r>
          </a:p>
          <a:p>
            <a:pPr>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MySQL Database Server </a:t>
            </a:r>
          </a:p>
          <a:p>
            <a:pPr>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Visual Studio Code </a:t>
            </a:r>
          </a:p>
          <a:p>
            <a:pPr>
              <a:buFont typeface="Arial" panose="020B0604020202020204" pitchFamily="34" charset="0"/>
              <a:buChar char="•"/>
            </a:pPr>
            <a:r>
              <a:rPr lang="en-IN" dirty="0" err="1">
                <a:latin typeface="Calibri" panose="020F0502020204030204" pitchFamily="34" charset="0"/>
                <a:ea typeface="Calibri" panose="020F0502020204030204" pitchFamily="34" charset="0"/>
                <a:cs typeface="Calibri" panose="020F0502020204030204" pitchFamily="34" charset="0"/>
              </a:rPr>
              <a:t>Jupyter</a:t>
            </a:r>
            <a:r>
              <a:rPr lang="en-IN" dirty="0">
                <a:latin typeface="Calibri" panose="020F0502020204030204" pitchFamily="34" charset="0"/>
                <a:ea typeface="Calibri" panose="020F0502020204030204" pitchFamily="34" charset="0"/>
                <a:cs typeface="Calibri" panose="020F0502020204030204" pitchFamily="34" charset="0"/>
              </a:rPr>
              <a:t> Notebook (for model development) </a:t>
            </a:r>
          </a:p>
          <a:p>
            <a:pPr>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Git and GitHub (Version Control) </a:t>
            </a:r>
          </a:p>
        </p:txBody>
      </p:sp>
      <p:sp>
        <p:nvSpPr>
          <p:cNvPr id="12" name="TextBox 11">
            <a:extLst>
              <a:ext uri="{FF2B5EF4-FFF2-40B4-BE49-F238E27FC236}">
                <a16:creationId xmlns:a16="http://schemas.microsoft.com/office/drawing/2014/main" id="{4A39B260-0E5E-A38E-6FF7-A0A21D247282}"/>
              </a:ext>
            </a:extLst>
          </p:cNvPr>
          <p:cNvSpPr txBox="1"/>
          <p:nvPr/>
        </p:nvSpPr>
        <p:spPr>
          <a:xfrm>
            <a:off x="4334108" y="1232946"/>
            <a:ext cx="4572000" cy="1384995"/>
          </a:xfrm>
          <a:prstGeom prst="rect">
            <a:avLst/>
          </a:prstGeom>
          <a:noFill/>
        </p:spPr>
        <p:txBody>
          <a:bodyPr wrap="square">
            <a:spAutoFit/>
          </a:bodyPr>
          <a:lstStyle/>
          <a:p>
            <a:pPr>
              <a:buNone/>
            </a:pPr>
            <a:r>
              <a:rPr lang="en-IN" b="1" dirty="0">
                <a:latin typeface="Calibri" panose="020F0502020204030204" pitchFamily="34" charset="0"/>
                <a:ea typeface="Calibri" panose="020F0502020204030204" pitchFamily="34" charset="0"/>
                <a:cs typeface="Calibri" panose="020F0502020204030204" pitchFamily="34" charset="0"/>
              </a:rPr>
              <a:t>Programming Languages Used</a:t>
            </a:r>
          </a:p>
          <a:p>
            <a:pPr>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Python </a:t>
            </a:r>
          </a:p>
          <a:p>
            <a:pPr>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HTML </a:t>
            </a:r>
          </a:p>
          <a:p>
            <a:pPr>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CSS </a:t>
            </a:r>
          </a:p>
          <a:p>
            <a:pPr>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JavaScript </a:t>
            </a:r>
          </a:p>
          <a:p>
            <a:pPr>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SQL</a:t>
            </a:r>
          </a:p>
        </p:txBody>
      </p:sp>
    </p:spTree>
    <p:extLst>
      <p:ext uri="{BB962C8B-B14F-4D97-AF65-F5344CB8AC3E}">
        <p14:creationId xmlns:p14="http://schemas.microsoft.com/office/powerpoint/2010/main" val="793139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59">
          <a:extLst>
            <a:ext uri="{FF2B5EF4-FFF2-40B4-BE49-F238E27FC236}">
              <a16:creationId xmlns:a16="http://schemas.microsoft.com/office/drawing/2014/main" id="{1AB6D10B-A77A-5B13-466B-588692F0F82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CBE0889-868C-9DE0-AAD8-565C75B318C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11</a:t>
            </a:fld>
            <a:endParaRPr lang="en-GB"/>
          </a:p>
        </p:txBody>
      </p:sp>
      <p:sp>
        <p:nvSpPr>
          <p:cNvPr id="6" name="Date Placeholder 3">
            <a:extLst>
              <a:ext uri="{FF2B5EF4-FFF2-40B4-BE49-F238E27FC236}">
                <a16:creationId xmlns:a16="http://schemas.microsoft.com/office/drawing/2014/main" id="{936CD18A-2715-6FAA-C178-D1D11765417D}"/>
              </a:ext>
            </a:extLst>
          </p:cNvPr>
          <p:cNvSpPr>
            <a:spLocks noGrp="1"/>
          </p:cNvSpPr>
          <p:nvPr/>
        </p:nvSpPr>
        <p:spPr>
          <a:xfrm>
            <a:off x="311785" y="4483735"/>
            <a:ext cx="212598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Date</a:t>
            </a:r>
          </a:p>
        </p:txBody>
      </p:sp>
      <p:sp>
        <p:nvSpPr>
          <p:cNvPr id="7" name="Footer Placeholder 4">
            <a:extLst>
              <a:ext uri="{FF2B5EF4-FFF2-40B4-BE49-F238E27FC236}">
                <a16:creationId xmlns:a16="http://schemas.microsoft.com/office/drawing/2014/main" id="{88728B2B-E8DB-0CB1-99F7-3CF0B0B1AD9F}"/>
              </a:ext>
            </a:extLst>
          </p:cNvPr>
          <p:cNvSpPr>
            <a:spLocks noGrp="1"/>
          </p:cNvSpPr>
          <p:nvPr/>
        </p:nvSpPr>
        <p:spPr>
          <a:xfrm>
            <a:off x="3512185" y="4483735"/>
            <a:ext cx="318833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RV COLLEGE OF ENGINEERING</a:t>
            </a:r>
          </a:p>
        </p:txBody>
      </p:sp>
      <p:sp>
        <p:nvSpPr>
          <p:cNvPr id="2" name="Title 1">
            <a:extLst>
              <a:ext uri="{FF2B5EF4-FFF2-40B4-BE49-F238E27FC236}">
                <a16:creationId xmlns:a16="http://schemas.microsoft.com/office/drawing/2014/main" id="{D323E4C4-213F-1BF8-7F49-8433C5E6166D}"/>
              </a:ext>
            </a:extLst>
          </p:cNvPr>
          <p:cNvSpPr>
            <a:spLocks noGrp="1"/>
          </p:cNvSpPr>
          <p:nvPr>
            <p:ph type="title"/>
          </p:nvPr>
        </p:nvSpPr>
        <p:spPr>
          <a:xfrm>
            <a:off x="1948909" y="172463"/>
            <a:ext cx="4751612" cy="540337"/>
          </a:xfrm>
        </p:spPr>
        <p:txBody>
          <a:bodyPr>
            <a:noAutofit/>
          </a:bodyPr>
          <a:lstStyle/>
          <a:p>
            <a:pPr algn="ctr"/>
            <a:r>
              <a:rPr lang="en-US" sz="2000" b="1" dirty="0">
                <a:solidFill>
                  <a:schemeClr val="accent1">
                    <a:lumMod val="50000"/>
                  </a:schemeClr>
                </a:solidFill>
                <a:latin typeface="Bookman Old Style" panose="02050604050505020204" pitchFamily="18" charset="0"/>
                <a:ea typeface="ＭＳ Ｐゴシック" panose="020B0600070205080204" pitchFamily="34" charset="-128"/>
              </a:rPr>
              <a:t>Dataset</a:t>
            </a:r>
          </a:p>
        </p:txBody>
      </p:sp>
      <p:pic>
        <p:nvPicPr>
          <p:cNvPr id="3" name="Picture 2">
            <a:extLst>
              <a:ext uri="{FF2B5EF4-FFF2-40B4-BE49-F238E27FC236}">
                <a16:creationId xmlns:a16="http://schemas.microsoft.com/office/drawing/2014/main" id="{A4F636C2-1C40-DB31-4710-619C292B4374}"/>
              </a:ext>
            </a:extLst>
          </p:cNvPr>
          <p:cNvPicPr>
            <a:picLocks noChangeAspect="1"/>
          </p:cNvPicPr>
          <p:nvPr/>
        </p:nvPicPr>
        <p:blipFill>
          <a:blip r:embed="rId4"/>
          <a:stretch>
            <a:fillRect/>
          </a:stretch>
        </p:blipFill>
        <p:spPr>
          <a:xfrm>
            <a:off x="683941" y="1073569"/>
            <a:ext cx="7516251" cy="3267973"/>
          </a:xfrm>
          <a:prstGeom prst="rect">
            <a:avLst/>
          </a:prstGeom>
        </p:spPr>
      </p:pic>
    </p:spTree>
    <p:extLst>
      <p:ext uri="{BB962C8B-B14F-4D97-AF65-F5344CB8AC3E}">
        <p14:creationId xmlns:p14="http://schemas.microsoft.com/office/powerpoint/2010/main" val="128940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59">
          <a:extLst>
            <a:ext uri="{FF2B5EF4-FFF2-40B4-BE49-F238E27FC236}">
              <a16:creationId xmlns:a16="http://schemas.microsoft.com/office/drawing/2014/main" id="{74930A1B-BCCD-3D56-99AE-E7CF7D6976B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74C52FE-DD6C-96B4-5BBD-9647A9FA64B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12</a:t>
            </a:fld>
            <a:endParaRPr lang="en-GB"/>
          </a:p>
        </p:txBody>
      </p:sp>
      <p:sp>
        <p:nvSpPr>
          <p:cNvPr id="6" name="Date Placeholder 3">
            <a:extLst>
              <a:ext uri="{FF2B5EF4-FFF2-40B4-BE49-F238E27FC236}">
                <a16:creationId xmlns:a16="http://schemas.microsoft.com/office/drawing/2014/main" id="{E939664B-45C6-F87E-990A-AF35CE2D9291}"/>
              </a:ext>
            </a:extLst>
          </p:cNvPr>
          <p:cNvSpPr>
            <a:spLocks noGrp="1"/>
          </p:cNvSpPr>
          <p:nvPr/>
        </p:nvSpPr>
        <p:spPr>
          <a:xfrm>
            <a:off x="311785" y="4483735"/>
            <a:ext cx="212598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Date</a:t>
            </a:r>
          </a:p>
        </p:txBody>
      </p:sp>
      <p:sp>
        <p:nvSpPr>
          <p:cNvPr id="7" name="Footer Placeholder 4">
            <a:extLst>
              <a:ext uri="{FF2B5EF4-FFF2-40B4-BE49-F238E27FC236}">
                <a16:creationId xmlns:a16="http://schemas.microsoft.com/office/drawing/2014/main" id="{90069C74-A00E-76F4-653C-AC3635924EC7}"/>
              </a:ext>
            </a:extLst>
          </p:cNvPr>
          <p:cNvSpPr>
            <a:spLocks noGrp="1"/>
          </p:cNvSpPr>
          <p:nvPr/>
        </p:nvSpPr>
        <p:spPr>
          <a:xfrm>
            <a:off x="3512185" y="4483735"/>
            <a:ext cx="318833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RV COLLEGE OF ENGINEERING</a:t>
            </a:r>
          </a:p>
        </p:txBody>
      </p:sp>
      <p:sp>
        <p:nvSpPr>
          <p:cNvPr id="2" name="Title 1">
            <a:extLst>
              <a:ext uri="{FF2B5EF4-FFF2-40B4-BE49-F238E27FC236}">
                <a16:creationId xmlns:a16="http://schemas.microsoft.com/office/drawing/2014/main" id="{BE5DAC1F-0B6D-140F-2B99-1B41115A97A8}"/>
              </a:ext>
            </a:extLst>
          </p:cNvPr>
          <p:cNvSpPr>
            <a:spLocks noGrp="1"/>
          </p:cNvSpPr>
          <p:nvPr>
            <p:ph type="title"/>
          </p:nvPr>
        </p:nvSpPr>
        <p:spPr>
          <a:xfrm>
            <a:off x="1948909" y="172463"/>
            <a:ext cx="4751612" cy="540337"/>
          </a:xfrm>
        </p:spPr>
        <p:txBody>
          <a:bodyPr>
            <a:noAutofit/>
          </a:bodyPr>
          <a:lstStyle/>
          <a:p>
            <a:pPr algn="ctr"/>
            <a:r>
              <a:rPr lang="en-US" sz="2000" b="1" dirty="0">
                <a:solidFill>
                  <a:schemeClr val="accent1">
                    <a:lumMod val="50000"/>
                  </a:schemeClr>
                </a:solidFill>
                <a:latin typeface="Bookman Old Style" panose="02050604050505020204" pitchFamily="18" charset="0"/>
                <a:ea typeface="ＭＳ Ｐゴシック" panose="020B0600070205080204" pitchFamily="34" charset="-128"/>
              </a:rPr>
              <a:t>Design Methodology</a:t>
            </a:r>
          </a:p>
        </p:txBody>
      </p:sp>
      <p:pic>
        <p:nvPicPr>
          <p:cNvPr id="8" name="Picture 7">
            <a:extLst>
              <a:ext uri="{FF2B5EF4-FFF2-40B4-BE49-F238E27FC236}">
                <a16:creationId xmlns:a16="http://schemas.microsoft.com/office/drawing/2014/main" id="{3620EA7F-DB11-E57F-5ED4-BE677105D595}"/>
              </a:ext>
            </a:extLst>
          </p:cNvPr>
          <p:cNvPicPr>
            <a:picLocks noChangeAspect="1"/>
          </p:cNvPicPr>
          <p:nvPr/>
        </p:nvPicPr>
        <p:blipFill>
          <a:blip r:embed="rId4"/>
          <a:stretch>
            <a:fillRect/>
          </a:stretch>
        </p:blipFill>
        <p:spPr>
          <a:xfrm>
            <a:off x="1382750" y="911457"/>
            <a:ext cx="6542049" cy="3229363"/>
          </a:xfrm>
          <a:prstGeom prst="rect">
            <a:avLst/>
          </a:prstGeom>
        </p:spPr>
      </p:pic>
    </p:spTree>
    <p:extLst>
      <p:ext uri="{BB962C8B-B14F-4D97-AF65-F5344CB8AC3E}">
        <p14:creationId xmlns:p14="http://schemas.microsoft.com/office/powerpoint/2010/main" val="41662150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59">
          <a:extLst>
            <a:ext uri="{FF2B5EF4-FFF2-40B4-BE49-F238E27FC236}">
              <a16:creationId xmlns:a16="http://schemas.microsoft.com/office/drawing/2014/main" id="{4FAB0FB2-3E7F-A6B4-B768-CE4BC850EBF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D27EBD7-EAA6-0135-97CF-8BBD0CE542A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13</a:t>
            </a:fld>
            <a:endParaRPr lang="en-GB"/>
          </a:p>
        </p:txBody>
      </p:sp>
      <p:sp>
        <p:nvSpPr>
          <p:cNvPr id="6" name="Date Placeholder 3">
            <a:extLst>
              <a:ext uri="{FF2B5EF4-FFF2-40B4-BE49-F238E27FC236}">
                <a16:creationId xmlns:a16="http://schemas.microsoft.com/office/drawing/2014/main" id="{6769517C-C638-4C09-4A37-6D01436DB0B4}"/>
              </a:ext>
            </a:extLst>
          </p:cNvPr>
          <p:cNvSpPr>
            <a:spLocks noGrp="1"/>
          </p:cNvSpPr>
          <p:nvPr/>
        </p:nvSpPr>
        <p:spPr>
          <a:xfrm>
            <a:off x="311785" y="4483735"/>
            <a:ext cx="212598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Date</a:t>
            </a:r>
          </a:p>
        </p:txBody>
      </p:sp>
      <p:sp>
        <p:nvSpPr>
          <p:cNvPr id="7" name="Footer Placeholder 4">
            <a:extLst>
              <a:ext uri="{FF2B5EF4-FFF2-40B4-BE49-F238E27FC236}">
                <a16:creationId xmlns:a16="http://schemas.microsoft.com/office/drawing/2014/main" id="{FC0BE9B8-49B3-6F36-DAC4-BCBA51085266}"/>
              </a:ext>
            </a:extLst>
          </p:cNvPr>
          <p:cNvSpPr>
            <a:spLocks noGrp="1"/>
          </p:cNvSpPr>
          <p:nvPr/>
        </p:nvSpPr>
        <p:spPr>
          <a:xfrm>
            <a:off x="3512185" y="4483735"/>
            <a:ext cx="318833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RV COLLEGE OF ENGINEERING</a:t>
            </a:r>
          </a:p>
        </p:txBody>
      </p:sp>
      <p:sp>
        <p:nvSpPr>
          <p:cNvPr id="2" name="Title 1">
            <a:extLst>
              <a:ext uri="{FF2B5EF4-FFF2-40B4-BE49-F238E27FC236}">
                <a16:creationId xmlns:a16="http://schemas.microsoft.com/office/drawing/2014/main" id="{84BFBEC7-7648-6DAE-5B8E-703A7F3FDCA9}"/>
              </a:ext>
            </a:extLst>
          </p:cNvPr>
          <p:cNvSpPr>
            <a:spLocks noGrp="1"/>
          </p:cNvSpPr>
          <p:nvPr>
            <p:ph type="title"/>
          </p:nvPr>
        </p:nvSpPr>
        <p:spPr>
          <a:xfrm>
            <a:off x="1948909" y="172463"/>
            <a:ext cx="4751612" cy="540337"/>
          </a:xfrm>
        </p:spPr>
        <p:txBody>
          <a:bodyPr>
            <a:noAutofit/>
          </a:bodyPr>
          <a:lstStyle/>
          <a:p>
            <a:pPr algn="ctr"/>
            <a:r>
              <a:rPr lang="en-US" sz="2000" b="1" dirty="0">
                <a:solidFill>
                  <a:schemeClr val="accent1">
                    <a:lumMod val="50000"/>
                  </a:schemeClr>
                </a:solidFill>
                <a:latin typeface="Bookman Old Style" panose="02050604050505020204" pitchFamily="18" charset="0"/>
                <a:ea typeface="ＭＳ Ｐゴシック" panose="020B0600070205080204" pitchFamily="34" charset="-128"/>
              </a:rPr>
              <a:t>Design Methodology</a:t>
            </a:r>
          </a:p>
        </p:txBody>
      </p:sp>
      <p:sp>
        <p:nvSpPr>
          <p:cNvPr id="5" name="TextBox 4">
            <a:extLst>
              <a:ext uri="{FF2B5EF4-FFF2-40B4-BE49-F238E27FC236}">
                <a16:creationId xmlns:a16="http://schemas.microsoft.com/office/drawing/2014/main" id="{076A3219-A61E-26F7-20DF-49FCE52A1063}"/>
              </a:ext>
            </a:extLst>
          </p:cNvPr>
          <p:cNvSpPr txBox="1"/>
          <p:nvPr/>
        </p:nvSpPr>
        <p:spPr>
          <a:xfrm>
            <a:off x="185853" y="1352188"/>
            <a:ext cx="8259337" cy="1169551"/>
          </a:xfrm>
          <a:prstGeom prst="rect">
            <a:avLst/>
          </a:prstGeom>
          <a:noFill/>
        </p:spPr>
        <p:txBody>
          <a:bodyPr wrap="square">
            <a:spAutoFit/>
          </a:bodyPr>
          <a:lstStyle/>
          <a:p>
            <a:r>
              <a:rPr lang="en-IN" dirty="0">
                <a:latin typeface="Calibri" panose="020F0502020204030204" pitchFamily="34" charset="0"/>
                <a:ea typeface="Calibri" panose="020F0502020204030204" pitchFamily="34" charset="0"/>
                <a:cs typeface="Calibri" panose="020F0502020204030204" pitchFamily="34" charset="0"/>
              </a:rPr>
              <a:t>The system utilizes </a:t>
            </a:r>
            <a:r>
              <a:rPr lang="en-IN" b="1" dirty="0">
                <a:latin typeface="Calibri" panose="020F0502020204030204" pitchFamily="34" charset="0"/>
                <a:ea typeface="Calibri" panose="020F0502020204030204" pitchFamily="34" charset="0"/>
                <a:cs typeface="Calibri" panose="020F0502020204030204" pitchFamily="34" charset="0"/>
              </a:rPr>
              <a:t>Convolutional Neural Networks (CNNs)</a:t>
            </a:r>
            <a:r>
              <a:rPr lang="en-IN" dirty="0">
                <a:latin typeface="Calibri" panose="020F0502020204030204" pitchFamily="34" charset="0"/>
                <a:ea typeface="Calibri" panose="020F0502020204030204" pitchFamily="34" charset="0"/>
                <a:cs typeface="Calibri" panose="020F0502020204030204" pitchFamily="34" charset="0"/>
              </a:rPr>
              <a:t> with </a:t>
            </a:r>
            <a:r>
              <a:rPr lang="en-IN" b="1" dirty="0">
                <a:latin typeface="Calibri" panose="020F0502020204030204" pitchFamily="34" charset="0"/>
                <a:ea typeface="Calibri" panose="020F0502020204030204" pitchFamily="34" charset="0"/>
                <a:cs typeface="Calibri" panose="020F0502020204030204" pitchFamily="34" charset="0"/>
              </a:rPr>
              <a:t>Transfer Learning based on the VGG16 architecture</a:t>
            </a:r>
            <a:r>
              <a:rPr lang="en-IN" dirty="0">
                <a:latin typeface="Calibri" panose="020F0502020204030204" pitchFamily="34" charset="0"/>
                <a:ea typeface="Calibri" panose="020F0502020204030204" pitchFamily="34" charset="0"/>
                <a:cs typeface="Calibri" panose="020F0502020204030204" pitchFamily="34" charset="0"/>
              </a:rPr>
              <a:t>. Image preprocessing techniques such as resizing, normalization, and RGB conversion are applied before model training. VGG16 extracts high-level visual features from blood smear images, and custom dense layers perform binary classification between parasitized and uninfected cells. The model is trained using the </a:t>
            </a:r>
            <a:r>
              <a:rPr lang="en-IN" b="1" dirty="0">
                <a:latin typeface="Calibri" panose="020F0502020204030204" pitchFamily="34" charset="0"/>
                <a:ea typeface="Calibri" panose="020F0502020204030204" pitchFamily="34" charset="0"/>
                <a:cs typeface="Calibri" panose="020F0502020204030204" pitchFamily="34" charset="0"/>
              </a:rPr>
              <a:t>Adam optimizer</a:t>
            </a:r>
            <a:r>
              <a:rPr lang="en-IN" dirty="0">
                <a:latin typeface="Calibri" panose="020F0502020204030204" pitchFamily="34" charset="0"/>
                <a:ea typeface="Calibri" panose="020F0502020204030204" pitchFamily="34" charset="0"/>
                <a:cs typeface="Calibri" panose="020F0502020204030204" pitchFamily="34" charset="0"/>
              </a:rPr>
              <a:t> and </a:t>
            </a:r>
            <a:r>
              <a:rPr lang="en-IN" b="1" dirty="0">
                <a:latin typeface="Calibri" panose="020F0502020204030204" pitchFamily="34" charset="0"/>
                <a:ea typeface="Calibri" panose="020F0502020204030204" pitchFamily="34" charset="0"/>
                <a:cs typeface="Calibri" panose="020F0502020204030204" pitchFamily="34" charset="0"/>
              </a:rPr>
              <a:t>Binary Cross-Entropy loss function</a:t>
            </a:r>
            <a:r>
              <a:rPr lang="en-IN" dirty="0">
                <a:latin typeface="Calibri" panose="020F0502020204030204" pitchFamily="34" charset="0"/>
                <a:ea typeface="Calibri" panose="020F0502020204030204" pitchFamily="34" charset="0"/>
                <a:cs typeface="Calibri" panose="020F0502020204030204" pitchFamily="34" charset="0"/>
              </a:rPr>
              <a:t> to achieve accurate predictions.</a:t>
            </a:r>
          </a:p>
        </p:txBody>
      </p:sp>
      <p:sp>
        <p:nvSpPr>
          <p:cNvPr id="10" name="TextBox 9">
            <a:extLst>
              <a:ext uri="{FF2B5EF4-FFF2-40B4-BE49-F238E27FC236}">
                <a16:creationId xmlns:a16="http://schemas.microsoft.com/office/drawing/2014/main" id="{5668A017-46C2-841A-1DCC-FF9E306C7C0D}"/>
              </a:ext>
            </a:extLst>
          </p:cNvPr>
          <p:cNvSpPr txBox="1"/>
          <p:nvPr/>
        </p:nvSpPr>
        <p:spPr>
          <a:xfrm>
            <a:off x="249043" y="1020706"/>
            <a:ext cx="4572000" cy="338554"/>
          </a:xfrm>
          <a:prstGeom prst="rect">
            <a:avLst/>
          </a:prstGeom>
          <a:noFill/>
        </p:spPr>
        <p:txBody>
          <a:bodyPr wrap="square">
            <a:spAutoFit/>
          </a:bodyPr>
          <a:lstStyle/>
          <a:p>
            <a:r>
              <a:rPr lang="en-IN" sz="1600" b="1" dirty="0"/>
              <a:t>1. Explanation of Algorithms Used</a:t>
            </a:r>
          </a:p>
        </p:txBody>
      </p:sp>
      <p:sp>
        <p:nvSpPr>
          <p:cNvPr id="12" name="TextBox 11">
            <a:extLst>
              <a:ext uri="{FF2B5EF4-FFF2-40B4-BE49-F238E27FC236}">
                <a16:creationId xmlns:a16="http://schemas.microsoft.com/office/drawing/2014/main" id="{C038DBB1-1C09-E45A-4F86-C2248415E50C}"/>
              </a:ext>
            </a:extLst>
          </p:cNvPr>
          <p:cNvSpPr txBox="1"/>
          <p:nvPr/>
        </p:nvSpPr>
        <p:spPr>
          <a:xfrm>
            <a:off x="174702" y="2574443"/>
            <a:ext cx="4572000" cy="338554"/>
          </a:xfrm>
          <a:prstGeom prst="rect">
            <a:avLst/>
          </a:prstGeom>
          <a:noFill/>
        </p:spPr>
        <p:txBody>
          <a:bodyPr wrap="square">
            <a:spAutoFit/>
          </a:bodyPr>
          <a:lstStyle/>
          <a:p>
            <a:r>
              <a:rPr lang="en-IN" sz="1600" b="1" dirty="0"/>
              <a:t>2. Justification for Chosen Design Approach</a:t>
            </a:r>
          </a:p>
        </p:txBody>
      </p:sp>
      <p:sp>
        <p:nvSpPr>
          <p:cNvPr id="14" name="TextBox 13">
            <a:extLst>
              <a:ext uri="{FF2B5EF4-FFF2-40B4-BE49-F238E27FC236}">
                <a16:creationId xmlns:a16="http://schemas.microsoft.com/office/drawing/2014/main" id="{20D2280A-C49B-701E-E2EC-36F6ECD0F5ED}"/>
              </a:ext>
            </a:extLst>
          </p:cNvPr>
          <p:cNvSpPr txBox="1"/>
          <p:nvPr/>
        </p:nvSpPr>
        <p:spPr>
          <a:xfrm>
            <a:off x="226740" y="2928371"/>
            <a:ext cx="7527073" cy="1600438"/>
          </a:xfrm>
          <a:prstGeom prst="rect">
            <a:avLst/>
          </a:prstGeom>
          <a:noFill/>
        </p:spPr>
        <p:txBody>
          <a:bodyPr wrap="square">
            <a:spAutoFit/>
          </a:bodyPr>
          <a:lstStyle/>
          <a:p>
            <a:r>
              <a:rPr lang="en-IN" dirty="0">
                <a:latin typeface="Calibri" panose="020F0502020204030204" pitchFamily="34" charset="0"/>
                <a:ea typeface="Calibri" panose="020F0502020204030204" pitchFamily="34" charset="0"/>
                <a:cs typeface="Calibri" panose="020F0502020204030204" pitchFamily="34" charset="0"/>
              </a:rPr>
              <a:t>The VGG16 transfer learning approach was selected because it provides powerful feature extraction capabilities while reducing training time and computational requirements. Flask was chosen for its lightweight architecture and seamless integration with machine learning models. MySQL provides reliable data storage for user authentication and application management. The web-based architecture improves accessibility, enabling users to perform malaria diagnosis through an intuitive interface. This design ensures scalability, accuracy, maintainability, and suitability for real-world healthcare applications.</a:t>
            </a:r>
          </a:p>
        </p:txBody>
      </p:sp>
    </p:spTree>
    <p:extLst>
      <p:ext uri="{BB962C8B-B14F-4D97-AF65-F5344CB8AC3E}">
        <p14:creationId xmlns:p14="http://schemas.microsoft.com/office/powerpoint/2010/main" val="25930824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59">
          <a:extLst>
            <a:ext uri="{FF2B5EF4-FFF2-40B4-BE49-F238E27FC236}">
              <a16:creationId xmlns:a16="http://schemas.microsoft.com/office/drawing/2014/main" id="{80601A93-B733-AB3F-00E4-FBB3A3065BA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EBB37A4-4FC9-DCB6-018C-13B635869C5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14</a:t>
            </a:fld>
            <a:endParaRPr lang="en-GB"/>
          </a:p>
        </p:txBody>
      </p:sp>
      <p:sp>
        <p:nvSpPr>
          <p:cNvPr id="6" name="Date Placeholder 3">
            <a:extLst>
              <a:ext uri="{FF2B5EF4-FFF2-40B4-BE49-F238E27FC236}">
                <a16:creationId xmlns:a16="http://schemas.microsoft.com/office/drawing/2014/main" id="{8210D49C-5B89-E054-5586-D475A98C6C2B}"/>
              </a:ext>
            </a:extLst>
          </p:cNvPr>
          <p:cNvSpPr>
            <a:spLocks noGrp="1"/>
          </p:cNvSpPr>
          <p:nvPr/>
        </p:nvSpPr>
        <p:spPr>
          <a:xfrm>
            <a:off x="311785" y="4483735"/>
            <a:ext cx="212598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Date</a:t>
            </a:r>
          </a:p>
        </p:txBody>
      </p:sp>
      <p:sp>
        <p:nvSpPr>
          <p:cNvPr id="7" name="Footer Placeholder 4">
            <a:extLst>
              <a:ext uri="{FF2B5EF4-FFF2-40B4-BE49-F238E27FC236}">
                <a16:creationId xmlns:a16="http://schemas.microsoft.com/office/drawing/2014/main" id="{BE0B10A0-06A1-0F30-A068-959EDE54F13E}"/>
              </a:ext>
            </a:extLst>
          </p:cNvPr>
          <p:cNvSpPr>
            <a:spLocks noGrp="1"/>
          </p:cNvSpPr>
          <p:nvPr/>
        </p:nvSpPr>
        <p:spPr>
          <a:xfrm>
            <a:off x="3512185" y="4483735"/>
            <a:ext cx="318833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RV COLLEGE OF ENGINEERING</a:t>
            </a:r>
          </a:p>
        </p:txBody>
      </p:sp>
      <p:sp>
        <p:nvSpPr>
          <p:cNvPr id="2" name="Title 1">
            <a:extLst>
              <a:ext uri="{FF2B5EF4-FFF2-40B4-BE49-F238E27FC236}">
                <a16:creationId xmlns:a16="http://schemas.microsoft.com/office/drawing/2014/main" id="{BABAF6FE-8522-F01F-2CA7-1DCFDCDE2EE0}"/>
              </a:ext>
            </a:extLst>
          </p:cNvPr>
          <p:cNvSpPr>
            <a:spLocks noGrp="1"/>
          </p:cNvSpPr>
          <p:nvPr>
            <p:ph type="title"/>
          </p:nvPr>
        </p:nvSpPr>
        <p:spPr>
          <a:xfrm>
            <a:off x="1948909" y="172463"/>
            <a:ext cx="4751612" cy="540337"/>
          </a:xfrm>
        </p:spPr>
        <p:txBody>
          <a:bodyPr>
            <a:noAutofit/>
          </a:bodyPr>
          <a:lstStyle/>
          <a:p>
            <a:pPr algn="ctr"/>
            <a:r>
              <a:rPr lang="en-US" sz="2000" b="1" dirty="0">
                <a:solidFill>
                  <a:schemeClr val="accent1">
                    <a:lumMod val="50000"/>
                  </a:schemeClr>
                </a:solidFill>
                <a:latin typeface="Bookman Old Style" panose="02050604050505020204" pitchFamily="18" charset="0"/>
                <a:ea typeface="ＭＳ Ｐゴシック" panose="020B0600070205080204" pitchFamily="34" charset="-128"/>
              </a:rPr>
              <a:t>Implementation and Testing</a:t>
            </a:r>
          </a:p>
        </p:txBody>
      </p:sp>
      <p:sp>
        <p:nvSpPr>
          <p:cNvPr id="5" name="Rectangle 2">
            <a:extLst>
              <a:ext uri="{FF2B5EF4-FFF2-40B4-BE49-F238E27FC236}">
                <a16:creationId xmlns:a16="http://schemas.microsoft.com/office/drawing/2014/main" id="{E74AD117-0807-E756-1A0F-CD3640B5E7BE}"/>
              </a:ext>
            </a:extLst>
          </p:cNvPr>
          <p:cNvSpPr>
            <a:spLocks noChangeArrowheads="1"/>
          </p:cNvSpPr>
          <p:nvPr/>
        </p:nvSpPr>
        <p:spPr bwMode="auto">
          <a:xfrm>
            <a:off x="0" y="843117"/>
            <a:ext cx="6738377" cy="72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a:spcBef>
                <a:spcPts val="600"/>
              </a:spcBef>
              <a:buSzPct val="103000"/>
            </a:pPr>
            <a:endParaRPr lang="en-US" sz="1800" b="1" dirty="0">
              <a:solidFill>
                <a:schemeClr val="tx1"/>
              </a:solidFill>
              <a:latin typeface="Bookman Old Style" panose="02050604050505020204" pitchFamily="18" charset="0"/>
              <a:ea typeface="+mn-ea"/>
            </a:endParaRPr>
          </a:p>
          <a:p>
            <a:pPr marL="285750">
              <a:spcBef>
                <a:spcPts val="600"/>
              </a:spcBef>
              <a:buSzPct val="103000"/>
            </a:pPr>
            <a:r>
              <a:rPr lang="en-US" sz="1800" b="1" dirty="0">
                <a:solidFill>
                  <a:schemeClr val="tx1"/>
                </a:solidFill>
                <a:latin typeface="Bookman Old Style" panose="02050604050505020204" pitchFamily="18" charset="0"/>
                <a:ea typeface="+mn-ea"/>
              </a:rPr>
              <a:t>Key modules implemented</a:t>
            </a:r>
          </a:p>
        </p:txBody>
      </p:sp>
      <p:sp>
        <p:nvSpPr>
          <p:cNvPr id="8" name="TextBox 7">
            <a:extLst>
              <a:ext uri="{FF2B5EF4-FFF2-40B4-BE49-F238E27FC236}">
                <a16:creationId xmlns:a16="http://schemas.microsoft.com/office/drawing/2014/main" id="{0AEA3198-AAE3-9B49-D3E6-33F41C2855C1}"/>
              </a:ext>
            </a:extLst>
          </p:cNvPr>
          <p:cNvSpPr txBox="1"/>
          <p:nvPr/>
        </p:nvSpPr>
        <p:spPr>
          <a:xfrm>
            <a:off x="197003" y="1657132"/>
            <a:ext cx="6248401" cy="2677656"/>
          </a:xfrm>
          <a:prstGeom prst="rect">
            <a:avLst/>
          </a:prstGeom>
          <a:noFill/>
        </p:spPr>
        <p:txBody>
          <a:bodyPr wrap="square">
            <a:spAutoFit/>
          </a:bodyPr>
          <a:lstStyle/>
          <a:p>
            <a:pPr marL="285750" indent="-285750">
              <a:buFont typeface="Wingdings" panose="05000000000000000000" pitchFamily="2" charset="2"/>
              <a:buChar char="Ø"/>
            </a:pPr>
            <a:r>
              <a:rPr lang="en-IN" b="1" dirty="0">
                <a:latin typeface="Calibri" panose="020F0502020204030204" pitchFamily="34" charset="0"/>
                <a:ea typeface="Calibri" panose="020F0502020204030204" pitchFamily="34" charset="0"/>
                <a:cs typeface="Calibri" panose="020F0502020204030204" pitchFamily="34" charset="0"/>
              </a:rPr>
              <a:t>User Authentication Module</a:t>
            </a:r>
            <a:r>
              <a:rPr lang="en-IN" dirty="0">
                <a:latin typeface="Calibri" panose="020F0502020204030204" pitchFamily="34" charset="0"/>
                <a:ea typeface="Calibri" panose="020F0502020204030204" pitchFamily="34" charset="0"/>
                <a:cs typeface="Calibri" panose="020F0502020204030204" pitchFamily="34" charset="0"/>
              </a:rPr>
              <a:t> – User registration, login, JWT-based authentication, and access management.</a:t>
            </a:r>
          </a:p>
          <a:p>
            <a:pPr marL="285750" indent="-285750">
              <a:buFont typeface="Wingdings" panose="05000000000000000000" pitchFamily="2" charset="2"/>
              <a:buChar char="Ø"/>
            </a:pPr>
            <a:r>
              <a:rPr lang="en-IN" dirty="0">
                <a:latin typeface="Calibri" panose="020F0502020204030204" pitchFamily="34" charset="0"/>
                <a:ea typeface="Calibri" panose="020F0502020204030204" pitchFamily="34" charset="0"/>
                <a:cs typeface="Calibri" panose="020F0502020204030204" pitchFamily="34" charset="0"/>
              </a:rPr>
              <a:t> </a:t>
            </a:r>
            <a:r>
              <a:rPr lang="en-IN" b="1" dirty="0">
                <a:latin typeface="Calibri" panose="020F0502020204030204" pitchFamily="34" charset="0"/>
                <a:ea typeface="Calibri" panose="020F0502020204030204" pitchFamily="34" charset="0"/>
                <a:cs typeface="Calibri" panose="020F0502020204030204" pitchFamily="34" charset="0"/>
              </a:rPr>
              <a:t>Image Upload Module</a:t>
            </a:r>
            <a:r>
              <a:rPr lang="en-IN" dirty="0">
                <a:latin typeface="Calibri" panose="020F0502020204030204" pitchFamily="34" charset="0"/>
                <a:ea typeface="Calibri" panose="020F0502020204030204" pitchFamily="34" charset="0"/>
                <a:cs typeface="Calibri" panose="020F0502020204030204" pitchFamily="34" charset="0"/>
              </a:rPr>
              <a:t> – Allows users to upload microscopic blood smear images through the web interface.</a:t>
            </a:r>
          </a:p>
          <a:p>
            <a:pPr marL="285750" indent="-285750">
              <a:buFont typeface="Wingdings" panose="05000000000000000000" pitchFamily="2" charset="2"/>
              <a:buChar char="Ø"/>
            </a:pPr>
            <a:r>
              <a:rPr lang="en-IN" dirty="0">
                <a:latin typeface="Calibri" panose="020F0502020204030204" pitchFamily="34" charset="0"/>
                <a:ea typeface="Calibri" panose="020F0502020204030204" pitchFamily="34" charset="0"/>
                <a:cs typeface="Calibri" panose="020F0502020204030204" pitchFamily="34" charset="0"/>
              </a:rPr>
              <a:t> </a:t>
            </a:r>
            <a:r>
              <a:rPr lang="en-IN" b="1" dirty="0">
                <a:latin typeface="Calibri" panose="020F0502020204030204" pitchFamily="34" charset="0"/>
                <a:ea typeface="Calibri" panose="020F0502020204030204" pitchFamily="34" charset="0"/>
                <a:cs typeface="Calibri" panose="020F0502020204030204" pitchFamily="34" charset="0"/>
              </a:rPr>
              <a:t>Image Preprocessing Module</a:t>
            </a:r>
            <a:r>
              <a:rPr lang="en-IN" dirty="0">
                <a:latin typeface="Calibri" panose="020F0502020204030204" pitchFamily="34" charset="0"/>
                <a:ea typeface="Calibri" panose="020F0502020204030204" pitchFamily="34" charset="0"/>
                <a:cs typeface="Calibri" panose="020F0502020204030204" pitchFamily="34" charset="0"/>
              </a:rPr>
              <a:t> – Performs image resizing, normalization, and RGB conversion. </a:t>
            </a:r>
          </a:p>
          <a:p>
            <a:pPr marL="285750" indent="-285750">
              <a:buFont typeface="Wingdings" panose="05000000000000000000" pitchFamily="2" charset="2"/>
              <a:buChar char="Ø"/>
            </a:pPr>
            <a:r>
              <a:rPr lang="en-IN" b="1" dirty="0">
                <a:latin typeface="Calibri" panose="020F0502020204030204" pitchFamily="34" charset="0"/>
                <a:ea typeface="Calibri" panose="020F0502020204030204" pitchFamily="34" charset="0"/>
                <a:cs typeface="Calibri" panose="020F0502020204030204" pitchFamily="34" charset="0"/>
              </a:rPr>
              <a:t>Malaria Prediction Module</a:t>
            </a:r>
            <a:r>
              <a:rPr lang="en-IN" dirty="0">
                <a:latin typeface="Calibri" panose="020F0502020204030204" pitchFamily="34" charset="0"/>
                <a:ea typeface="Calibri" panose="020F0502020204030204" pitchFamily="34" charset="0"/>
                <a:cs typeface="Calibri" panose="020F0502020204030204" pitchFamily="34" charset="0"/>
              </a:rPr>
              <a:t> – Uses the trained VGG16 CNN model to classify images as parasitized or uninfected. </a:t>
            </a:r>
          </a:p>
          <a:p>
            <a:pPr marL="285750" indent="-285750">
              <a:buFont typeface="Wingdings" panose="05000000000000000000" pitchFamily="2" charset="2"/>
              <a:buChar char="Ø"/>
            </a:pPr>
            <a:r>
              <a:rPr lang="en-IN" b="1" dirty="0">
                <a:latin typeface="Calibri" panose="020F0502020204030204" pitchFamily="34" charset="0"/>
                <a:ea typeface="Calibri" panose="020F0502020204030204" pitchFamily="34" charset="0"/>
                <a:cs typeface="Calibri" panose="020F0502020204030204" pitchFamily="34" charset="0"/>
              </a:rPr>
              <a:t>Result Visualization Module</a:t>
            </a:r>
            <a:r>
              <a:rPr lang="en-IN" dirty="0">
                <a:latin typeface="Calibri" panose="020F0502020204030204" pitchFamily="34" charset="0"/>
                <a:ea typeface="Calibri" panose="020F0502020204030204" pitchFamily="34" charset="0"/>
                <a:cs typeface="Calibri" panose="020F0502020204030204" pitchFamily="34" charset="0"/>
              </a:rPr>
              <a:t> – Displays prediction results and confidence scores to users. </a:t>
            </a:r>
          </a:p>
          <a:p>
            <a:pPr marL="285750" indent="-285750">
              <a:buFont typeface="Wingdings" panose="05000000000000000000" pitchFamily="2" charset="2"/>
              <a:buChar char="Ø"/>
            </a:pPr>
            <a:r>
              <a:rPr lang="en-IN" b="1" dirty="0">
                <a:latin typeface="Calibri" panose="020F0502020204030204" pitchFamily="34" charset="0"/>
                <a:ea typeface="Calibri" panose="020F0502020204030204" pitchFamily="34" charset="0"/>
                <a:cs typeface="Calibri" panose="020F0502020204030204" pitchFamily="34" charset="0"/>
              </a:rPr>
              <a:t>Database Management Module</a:t>
            </a:r>
            <a:r>
              <a:rPr lang="en-IN" dirty="0">
                <a:latin typeface="Calibri" panose="020F0502020204030204" pitchFamily="34" charset="0"/>
                <a:ea typeface="Calibri" panose="020F0502020204030204" pitchFamily="34" charset="0"/>
                <a:cs typeface="Calibri" panose="020F0502020204030204" pitchFamily="34" charset="0"/>
              </a:rPr>
              <a:t> – Stores user information and authentication data in MySQL.</a:t>
            </a:r>
          </a:p>
        </p:txBody>
      </p:sp>
    </p:spTree>
    <p:extLst>
      <p:ext uri="{BB962C8B-B14F-4D97-AF65-F5344CB8AC3E}">
        <p14:creationId xmlns:p14="http://schemas.microsoft.com/office/powerpoint/2010/main" val="12250915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59">
          <a:extLst>
            <a:ext uri="{FF2B5EF4-FFF2-40B4-BE49-F238E27FC236}">
              <a16:creationId xmlns:a16="http://schemas.microsoft.com/office/drawing/2014/main" id="{DD03A63C-F06D-41E2-961D-89393C9E950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164429A-C0EF-CA4D-4817-EAFDCB9BF0E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15</a:t>
            </a:fld>
            <a:endParaRPr lang="en-GB"/>
          </a:p>
        </p:txBody>
      </p:sp>
      <p:sp>
        <p:nvSpPr>
          <p:cNvPr id="6" name="Date Placeholder 3">
            <a:extLst>
              <a:ext uri="{FF2B5EF4-FFF2-40B4-BE49-F238E27FC236}">
                <a16:creationId xmlns:a16="http://schemas.microsoft.com/office/drawing/2014/main" id="{8AFBE382-A60B-634C-0BAE-611F12927E6B}"/>
              </a:ext>
            </a:extLst>
          </p:cNvPr>
          <p:cNvSpPr>
            <a:spLocks noGrp="1"/>
          </p:cNvSpPr>
          <p:nvPr/>
        </p:nvSpPr>
        <p:spPr>
          <a:xfrm>
            <a:off x="311785" y="4483735"/>
            <a:ext cx="212598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Date</a:t>
            </a:r>
          </a:p>
        </p:txBody>
      </p:sp>
      <p:sp>
        <p:nvSpPr>
          <p:cNvPr id="7" name="Footer Placeholder 4">
            <a:extLst>
              <a:ext uri="{FF2B5EF4-FFF2-40B4-BE49-F238E27FC236}">
                <a16:creationId xmlns:a16="http://schemas.microsoft.com/office/drawing/2014/main" id="{061FCE7C-22A6-C6D6-1058-20E03375E280}"/>
              </a:ext>
            </a:extLst>
          </p:cNvPr>
          <p:cNvSpPr>
            <a:spLocks noGrp="1"/>
          </p:cNvSpPr>
          <p:nvPr/>
        </p:nvSpPr>
        <p:spPr>
          <a:xfrm>
            <a:off x="3512185" y="4483735"/>
            <a:ext cx="318833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RV COLLEGE OF ENGINEERING</a:t>
            </a:r>
          </a:p>
        </p:txBody>
      </p:sp>
      <p:sp>
        <p:nvSpPr>
          <p:cNvPr id="2" name="Title 1">
            <a:extLst>
              <a:ext uri="{FF2B5EF4-FFF2-40B4-BE49-F238E27FC236}">
                <a16:creationId xmlns:a16="http://schemas.microsoft.com/office/drawing/2014/main" id="{6B1652D2-16FD-44F5-73C4-1BA72B50CC35}"/>
              </a:ext>
            </a:extLst>
          </p:cNvPr>
          <p:cNvSpPr>
            <a:spLocks noGrp="1"/>
          </p:cNvSpPr>
          <p:nvPr>
            <p:ph type="title"/>
          </p:nvPr>
        </p:nvSpPr>
        <p:spPr>
          <a:xfrm>
            <a:off x="1948909" y="172463"/>
            <a:ext cx="4751612" cy="540337"/>
          </a:xfrm>
        </p:spPr>
        <p:txBody>
          <a:bodyPr>
            <a:noAutofit/>
          </a:bodyPr>
          <a:lstStyle/>
          <a:p>
            <a:pPr algn="ctr"/>
            <a:r>
              <a:rPr lang="en-US" sz="2000" b="1" dirty="0">
                <a:solidFill>
                  <a:schemeClr val="accent1">
                    <a:lumMod val="50000"/>
                  </a:schemeClr>
                </a:solidFill>
                <a:latin typeface="Bookman Old Style" panose="02050604050505020204" pitchFamily="18" charset="0"/>
                <a:ea typeface="ＭＳ Ｐゴシック" panose="020B0600070205080204" pitchFamily="34" charset="-128"/>
              </a:rPr>
              <a:t>Implementation and Testing</a:t>
            </a:r>
          </a:p>
        </p:txBody>
      </p:sp>
      <p:pic>
        <p:nvPicPr>
          <p:cNvPr id="3" name="Picture 2">
            <a:extLst>
              <a:ext uri="{FF2B5EF4-FFF2-40B4-BE49-F238E27FC236}">
                <a16:creationId xmlns:a16="http://schemas.microsoft.com/office/drawing/2014/main" id="{7BD8EF39-5A7E-7E81-BB88-4425F54BD5E7}"/>
              </a:ext>
            </a:extLst>
          </p:cNvPr>
          <p:cNvPicPr>
            <a:picLocks noChangeAspect="1"/>
          </p:cNvPicPr>
          <p:nvPr/>
        </p:nvPicPr>
        <p:blipFill>
          <a:blip r:embed="rId4"/>
          <a:stretch>
            <a:fillRect/>
          </a:stretch>
        </p:blipFill>
        <p:spPr>
          <a:xfrm>
            <a:off x="1098704" y="1011543"/>
            <a:ext cx="6539242" cy="3255657"/>
          </a:xfrm>
          <a:prstGeom prst="rect">
            <a:avLst/>
          </a:prstGeom>
        </p:spPr>
      </p:pic>
    </p:spTree>
    <p:extLst>
      <p:ext uri="{BB962C8B-B14F-4D97-AF65-F5344CB8AC3E}">
        <p14:creationId xmlns:p14="http://schemas.microsoft.com/office/powerpoint/2010/main" val="22474919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59">
          <a:extLst>
            <a:ext uri="{FF2B5EF4-FFF2-40B4-BE49-F238E27FC236}">
              <a16:creationId xmlns:a16="http://schemas.microsoft.com/office/drawing/2014/main" id="{090F09B0-DA12-8453-C767-EA4336D07B1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2FDC5C9-EDC5-8F26-7C86-1B1CC9664E9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16</a:t>
            </a:fld>
            <a:endParaRPr lang="en-GB"/>
          </a:p>
        </p:txBody>
      </p:sp>
      <p:sp>
        <p:nvSpPr>
          <p:cNvPr id="6" name="Date Placeholder 3">
            <a:extLst>
              <a:ext uri="{FF2B5EF4-FFF2-40B4-BE49-F238E27FC236}">
                <a16:creationId xmlns:a16="http://schemas.microsoft.com/office/drawing/2014/main" id="{323A9A86-7773-F344-8256-22DC03DCB0D9}"/>
              </a:ext>
            </a:extLst>
          </p:cNvPr>
          <p:cNvSpPr>
            <a:spLocks noGrp="1"/>
          </p:cNvSpPr>
          <p:nvPr/>
        </p:nvSpPr>
        <p:spPr>
          <a:xfrm>
            <a:off x="311785" y="4483735"/>
            <a:ext cx="212598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Date</a:t>
            </a:r>
          </a:p>
        </p:txBody>
      </p:sp>
      <p:sp>
        <p:nvSpPr>
          <p:cNvPr id="7" name="Footer Placeholder 4">
            <a:extLst>
              <a:ext uri="{FF2B5EF4-FFF2-40B4-BE49-F238E27FC236}">
                <a16:creationId xmlns:a16="http://schemas.microsoft.com/office/drawing/2014/main" id="{82C4168B-494E-5BCC-77E9-0329C7A7AB64}"/>
              </a:ext>
            </a:extLst>
          </p:cNvPr>
          <p:cNvSpPr>
            <a:spLocks noGrp="1"/>
          </p:cNvSpPr>
          <p:nvPr/>
        </p:nvSpPr>
        <p:spPr>
          <a:xfrm>
            <a:off x="3512185" y="4483735"/>
            <a:ext cx="318833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RV COLLEGE OF ENGINEERING</a:t>
            </a:r>
          </a:p>
        </p:txBody>
      </p:sp>
      <p:sp>
        <p:nvSpPr>
          <p:cNvPr id="2" name="Title 1">
            <a:extLst>
              <a:ext uri="{FF2B5EF4-FFF2-40B4-BE49-F238E27FC236}">
                <a16:creationId xmlns:a16="http://schemas.microsoft.com/office/drawing/2014/main" id="{004AFDA9-0829-9A64-6F61-555124114FDD}"/>
              </a:ext>
            </a:extLst>
          </p:cNvPr>
          <p:cNvSpPr>
            <a:spLocks noGrp="1"/>
          </p:cNvSpPr>
          <p:nvPr>
            <p:ph type="title"/>
          </p:nvPr>
        </p:nvSpPr>
        <p:spPr>
          <a:xfrm>
            <a:off x="1948909" y="172463"/>
            <a:ext cx="4751612" cy="540337"/>
          </a:xfrm>
        </p:spPr>
        <p:txBody>
          <a:bodyPr>
            <a:noAutofit/>
          </a:bodyPr>
          <a:lstStyle/>
          <a:p>
            <a:pPr algn="ctr"/>
            <a:r>
              <a:rPr lang="en-US" sz="2000" b="1" dirty="0">
                <a:solidFill>
                  <a:schemeClr val="accent1">
                    <a:lumMod val="50000"/>
                  </a:schemeClr>
                </a:solidFill>
                <a:latin typeface="Bookman Old Style" panose="02050604050505020204" pitchFamily="18" charset="0"/>
                <a:ea typeface="ＭＳ Ｐゴシック" panose="020B0600070205080204" pitchFamily="34" charset="-128"/>
              </a:rPr>
              <a:t>Implementation and Testing</a:t>
            </a:r>
          </a:p>
        </p:txBody>
      </p:sp>
      <p:pic>
        <p:nvPicPr>
          <p:cNvPr id="3" name="Picture 2">
            <a:extLst>
              <a:ext uri="{FF2B5EF4-FFF2-40B4-BE49-F238E27FC236}">
                <a16:creationId xmlns:a16="http://schemas.microsoft.com/office/drawing/2014/main" id="{D893D53B-3A59-2055-B821-F42F432E15D5}"/>
              </a:ext>
            </a:extLst>
          </p:cNvPr>
          <p:cNvPicPr>
            <a:picLocks noChangeAspect="1"/>
          </p:cNvPicPr>
          <p:nvPr/>
        </p:nvPicPr>
        <p:blipFill>
          <a:blip r:embed="rId4"/>
          <a:stretch>
            <a:fillRect/>
          </a:stretch>
        </p:blipFill>
        <p:spPr>
          <a:xfrm>
            <a:off x="1114097" y="981307"/>
            <a:ext cx="6696897" cy="3535327"/>
          </a:xfrm>
          <a:prstGeom prst="rect">
            <a:avLst/>
          </a:prstGeom>
        </p:spPr>
      </p:pic>
    </p:spTree>
    <p:extLst>
      <p:ext uri="{BB962C8B-B14F-4D97-AF65-F5344CB8AC3E}">
        <p14:creationId xmlns:p14="http://schemas.microsoft.com/office/powerpoint/2010/main" val="21302085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59">
          <a:extLst>
            <a:ext uri="{FF2B5EF4-FFF2-40B4-BE49-F238E27FC236}">
              <a16:creationId xmlns:a16="http://schemas.microsoft.com/office/drawing/2014/main" id="{C18B3FDE-864E-9FAF-5D66-9A17C6A719E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775C820-8411-B172-E3C3-97440CCCA80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17</a:t>
            </a:fld>
            <a:endParaRPr lang="en-GB"/>
          </a:p>
        </p:txBody>
      </p:sp>
      <p:sp>
        <p:nvSpPr>
          <p:cNvPr id="6" name="Date Placeholder 3">
            <a:extLst>
              <a:ext uri="{FF2B5EF4-FFF2-40B4-BE49-F238E27FC236}">
                <a16:creationId xmlns:a16="http://schemas.microsoft.com/office/drawing/2014/main" id="{084F63B7-8F8D-CC63-2EAE-5DC6F7F60E6F}"/>
              </a:ext>
            </a:extLst>
          </p:cNvPr>
          <p:cNvSpPr>
            <a:spLocks noGrp="1"/>
          </p:cNvSpPr>
          <p:nvPr/>
        </p:nvSpPr>
        <p:spPr>
          <a:xfrm>
            <a:off x="311785" y="4483735"/>
            <a:ext cx="212598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Date</a:t>
            </a:r>
          </a:p>
        </p:txBody>
      </p:sp>
      <p:sp>
        <p:nvSpPr>
          <p:cNvPr id="7" name="Footer Placeholder 4">
            <a:extLst>
              <a:ext uri="{FF2B5EF4-FFF2-40B4-BE49-F238E27FC236}">
                <a16:creationId xmlns:a16="http://schemas.microsoft.com/office/drawing/2014/main" id="{3C6631A8-0FC7-6AC3-EF40-D084AE2BFADB}"/>
              </a:ext>
            </a:extLst>
          </p:cNvPr>
          <p:cNvSpPr>
            <a:spLocks noGrp="1"/>
          </p:cNvSpPr>
          <p:nvPr/>
        </p:nvSpPr>
        <p:spPr>
          <a:xfrm>
            <a:off x="3512185" y="4483735"/>
            <a:ext cx="318833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RV COLLEGE OF ENGINEERING</a:t>
            </a:r>
          </a:p>
        </p:txBody>
      </p:sp>
      <p:sp>
        <p:nvSpPr>
          <p:cNvPr id="2" name="Title 1">
            <a:extLst>
              <a:ext uri="{FF2B5EF4-FFF2-40B4-BE49-F238E27FC236}">
                <a16:creationId xmlns:a16="http://schemas.microsoft.com/office/drawing/2014/main" id="{B54211AC-98A4-EF42-2B8B-CB8A22897077}"/>
              </a:ext>
            </a:extLst>
          </p:cNvPr>
          <p:cNvSpPr>
            <a:spLocks noGrp="1"/>
          </p:cNvSpPr>
          <p:nvPr>
            <p:ph type="title"/>
          </p:nvPr>
        </p:nvSpPr>
        <p:spPr>
          <a:xfrm>
            <a:off x="1948909" y="172463"/>
            <a:ext cx="4751612" cy="540337"/>
          </a:xfrm>
        </p:spPr>
        <p:txBody>
          <a:bodyPr>
            <a:noAutofit/>
          </a:bodyPr>
          <a:lstStyle/>
          <a:p>
            <a:pPr algn="ctr"/>
            <a:r>
              <a:rPr lang="en-US" sz="2000" b="1" dirty="0">
                <a:solidFill>
                  <a:schemeClr val="accent1">
                    <a:lumMod val="50000"/>
                  </a:schemeClr>
                </a:solidFill>
                <a:latin typeface="Bookman Old Style" panose="02050604050505020204" pitchFamily="18" charset="0"/>
                <a:ea typeface="ＭＳ Ｐゴシック" panose="020B0600070205080204" pitchFamily="34" charset="-128"/>
              </a:rPr>
              <a:t>Implementation and Testing</a:t>
            </a:r>
          </a:p>
        </p:txBody>
      </p:sp>
      <p:pic>
        <p:nvPicPr>
          <p:cNvPr id="3" name="Picture 2">
            <a:extLst>
              <a:ext uri="{FF2B5EF4-FFF2-40B4-BE49-F238E27FC236}">
                <a16:creationId xmlns:a16="http://schemas.microsoft.com/office/drawing/2014/main" id="{47CD2849-1DBD-BE03-BF05-2053A172E691}"/>
              </a:ext>
            </a:extLst>
          </p:cNvPr>
          <p:cNvPicPr>
            <a:picLocks noChangeAspect="1"/>
          </p:cNvPicPr>
          <p:nvPr/>
        </p:nvPicPr>
        <p:blipFill>
          <a:blip r:embed="rId4"/>
          <a:stretch>
            <a:fillRect/>
          </a:stretch>
        </p:blipFill>
        <p:spPr>
          <a:xfrm>
            <a:off x="1709343" y="835263"/>
            <a:ext cx="5385821" cy="3702000"/>
          </a:xfrm>
          <a:prstGeom prst="rect">
            <a:avLst/>
          </a:prstGeom>
        </p:spPr>
      </p:pic>
    </p:spTree>
    <p:extLst>
      <p:ext uri="{BB962C8B-B14F-4D97-AF65-F5344CB8AC3E}">
        <p14:creationId xmlns:p14="http://schemas.microsoft.com/office/powerpoint/2010/main" val="24834443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59">
          <a:extLst>
            <a:ext uri="{FF2B5EF4-FFF2-40B4-BE49-F238E27FC236}">
              <a16:creationId xmlns:a16="http://schemas.microsoft.com/office/drawing/2014/main" id="{6F9BDBD5-5466-06DA-2D33-2ECBBAD437C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4552166-7569-8398-4E64-B34510A2027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18</a:t>
            </a:fld>
            <a:endParaRPr lang="en-GB"/>
          </a:p>
        </p:txBody>
      </p:sp>
      <p:sp>
        <p:nvSpPr>
          <p:cNvPr id="6" name="Date Placeholder 3">
            <a:extLst>
              <a:ext uri="{FF2B5EF4-FFF2-40B4-BE49-F238E27FC236}">
                <a16:creationId xmlns:a16="http://schemas.microsoft.com/office/drawing/2014/main" id="{1A7590ED-C3E7-3A52-70F0-D7FA4324C76F}"/>
              </a:ext>
            </a:extLst>
          </p:cNvPr>
          <p:cNvSpPr>
            <a:spLocks noGrp="1"/>
          </p:cNvSpPr>
          <p:nvPr/>
        </p:nvSpPr>
        <p:spPr>
          <a:xfrm>
            <a:off x="311785" y="4483735"/>
            <a:ext cx="212598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Date</a:t>
            </a:r>
          </a:p>
        </p:txBody>
      </p:sp>
      <p:sp>
        <p:nvSpPr>
          <p:cNvPr id="7" name="Footer Placeholder 4">
            <a:extLst>
              <a:ext uri="{FF2B5EF4-FFF2-40B4-BE49-F238E27FC236}">
                <a16:creationId xmlns:a16="http://schemas.microsoft.com/office/drawing/2014/main" id="{61AF9552-019F-29B6-AF38-1D211B21DAAA}"/>
              </a:ext>
            </a:extLst>
          </p:cNvPr>
          <p:cNvSpPr>
            <a:spLocks noGrp="1"/>
          </p:cNvSpPr>
          <p:nvPr/>
        </p:nvSpPr>
        <p:spPr>
          <a:xfrm>
            <a:off x="3512185" y="4483735"/>
            <a:ext cx="318833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RV COLLEGE OF ENGINEERING</a:t>
            </a:r>
          </a:p>
        </p:txBody>
      </p:sp>
      <p:sp>
        <p:nvSpPr>
          <p:cNvPr id="2" name="Title 1">
            <a:extLst>
              <a:ext uri="{FF2B5EF4-FFF2-40B4-BE49-F238E27FC236}">
                <a16:creationId xmlns:a16="http://schemas.microsoft.com/office/drawing/2014/main" id="{20358906-EF13-CDD0-552D-D6DC0027685D}"/>
              </a:ext>
            </a:extLst>
          </p:cNvPr>
          <p:cNvSpPr>
            <a:spLocks noGrp="1"/>
          </p:cNvSpPr>
          <p:nvPr>
            <p:ph type="title"/>
          </p:nvPr>
        </p:nvSpPr>
        <p:spPr>
          <a:xfrm>
            <a:off x="1948909" y="172463"/>
            <a:ext cx="4751612" cy="540337"/>
          </a:xfrm>
        </p:spPr>
        <p:txBody>
          <a:bodyPr>
            <a:noAutofit/>
          </a:bodyPr>
          <a:lstStyle/>
          <a:p>
            <a:pPr algn="ctr"/>
            <a:r>
              <a:rPr lang="en-US" sz="2000" b="1" dirty="0">
                <a:solidFill>
                  <a:schemeClr val="accent1">
                    <a:lumMod val="50000"/>
                  </a:schemeClr>
                </a:solidFill>
                <a:latin typeface="Bookman Old Style" panose="02050604050505020204" pitchFamily="18" charset="0"/>
                <a:ea typeface="ＭＳ Ｐゴシック" panose="020B0600070205080204" pitchFamily="34" charset="-128"/>
              </a:rPr>
              <a:t>Implementation and Testing</a:t>
            </a:r>
          </a:p>
        </p:txBody>
      </p:sp>
      <p:pic>
        <p:nvPicPr>
          <p:cNvPr id="9" name="Picture 8">
            <a:extLst>
              <a:ext uri="{FF2B5EF4-FFF2-40B4-BE49-F238E27FC236}">
                <a16:creationId xmlns:a16="http://schemas.microsoft.com/office/drawing/2014/main" id="{21BCFF73-DEF3-F2D3-8069-B60FC8D96F8A}"/>
              </a:ext>
            </a:extLst>
          </p:cNvPr>
          <p:cNvPicPr>
            <a:picLocks noChangeAspect="1"/>
          </p:cNvPicPr>
          <p:nvPr/>
        </p:nvPicPr>
        <p:blipFill>
          <a:blip r:embed="rId4"/>
          <a:stretch>
            <a:fillRect/>
          </a:stretch>
        </p:blipFill>
        <p:spPr>
          <a:xfrm>
            <a:off x="1817734" y="996738"/>
            <a:ext cx="5389586" cy="3233291"/>
          </a:xfrm>
          <a:prstGeom prst="rect">
            <a:avLst/>
          </a:prstGeom>
        </p:spPr>
      </p:pic>
    </p:spTree>
    <p:extLst>
      <p:ext uri="{BB962C8B-B14F-4D97-AF65-F5344CB8AC3E}">
        <p14:creationId xmlns:p14="http://schemas.microsoft.com/office/powerpoint/2010/main" val="12646594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59">
          <a:extLst>
            <a:ext uri="{FF2B5EF4-FFF2-40B4-BE49-F238E27FC236}">
              <a16:creationId xmlns:a16="http://schemas.microsoft.com/office/drawing/2014/main" id="{849F3281-25A5-B1AB-5708-FFD21AB2A5B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AA71917-E1F0-B800-4946-C9F10644003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19</a:t>
            </a:fld>
            <a:endParaRPr lang="en-GB"/>
          </a:p>
        </p:txBody>
      </p:sp>
      <p:sp>
        <p:nvSpPr>
          <p:cNvPr id="6" name="Date Placeholder 3">
            <a:extLst>
              <a:ext uri="{FF2B5EF4-FFF2-40B4-BE49-F238E27FC236}">
                <a16:creationId xmlns:a16="http://schemas.microsoft.com/office/drawing/2014/main" id="{E6907564-0E07-E3FC-2931-3F0C17CD00E1}"/>
              </a:ext>
            </a:extLst>
          </p:cNvPr>
          <p:cNvSpPr>
            <a:spLocks noGrp="1"/>
          </p:cNvSpPr>
          <p:nvPr/>
        </p:nvSpPr>
        <p:spPr>
          <a:xfrm>
            <a:off x="311785" y="4483735"/>
            <a:ext cx="212598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Date</a:t>
            </a:r>
          </a:p>
        </p:txBody>
      </p:sp>
      <p:sp>
        <p:nvSpPr>
          <p:cNvPr id="7" name="Footer Placeholder 4">
            <a:extLst>
              <a:ext uri="{FF2B5EF4-FFF2-40B4-BE49-F238E27FC236}">
                <a16:creationId xmlns:a16="http://schemas.microsoft.com/office/drawing/2014/main" id="{79C06A05-1326-67A5-C327-C0C7DEBCF683}"/>
              </a:ext>
            </a:extLst>
          </p:cNvPr>
          <p:cNvSpPr>
            <a:spLocks noGrp="1"/>
          </p:cNvSpPr>
          <p:nvPr/>
        </p:nvSpPr>
        <p:spPr>
          <a:xfrm>
            <a:off x="3512185" y="4483735"/>
            <a:ext cx="318833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RV COLLEGE OF ENGINEERING</a:t>
            </a:r>
          </a:p>
        </p:txBody>
      </p:sp>
      <p:sp>
        <p:nvSpPr>
          <p:cNvPr id="2" name="Title 1">
            <a:extLst>
              <a:ext uri="{FF2B5EF4-FFF2-40B4-BE49-F238E27FC236}">
                <a16:creationId xmlns:a16="http://schemas.microsoft.com/office/drawing/2014/main" id="{85025E9A-A4A7-E4E8-C185-C0CDDA9B1329}"/>
              </a:ext>
            </a:extLst>
          </p:cNvPr>
          <p:cNvSpPr>
            <a:spLocks noGrp="1"/>
          </p:cNvSpPr>
          <p:nvPr>
            <p:ph type="title"/>
          </p:nvPr>
        </p:nvSpPr>
        <p:spPr>
          <a:xfrm>
            <a:off x="1948909" y="172463"/>
            <a:ext cx="4751612" cy="540337"/>
          </a:xfrm>
        </p:spPr>
        <p:txBody>
          <a:bodyPr>
            <a:noAutofit/>
          </a:bodyPr>
          <a:lstStyle/>
          <a:p>
            <a:pPr algn="ctr"/>
            <a:r>
              <a:rPr lang="en-US" sz="2000" b="1" dirty="0">
                <a:solidFill>
                  <a:schemeClr val="accent1">
                    <a:lumMod val="50000"/>
                  </a:schemeClr>
                </a:solidFill>
                <a:latin typeface="Bookman Old Style" panose="02050604050505020204" pitchFamily="18" charset="0"/>
                <a:ea typeface="ＭＳ Ｐゴシック" panose="020B0600070205080204" pitchFamily="34" charset="-128"/>
              </a:rPr>
              <a:t>Implementation and Testing</a:t>
            </a:r>
          </a:p>
        </p:txBody>
      </p:sp>
      <p:pic>
        <p:nvPicPr>
          <p:cNvPr id="3" name="Picture 2">
            <a:extLst>
              <a:ext uri="{FF2B5EF4-FFF2-40B4-BE49-F238E27FC236}">
                <a16:creationId xmlns:a16="http://schemas.microsoft.com/office/drawing/2014/main" id="{9345C905-04D7-8F8D-EBB4-56DC3539E678}"/>
              </a:ext>
            </a:extLst>
          </p:cNvPr>
          <p:cNvPicPr>
            <a:picLocks noChangeAspect="1"/>
          </p:cNvPicPr>
          <p:nvPr/>
        </p:nvPicPr>
        <p:blipFill>
          <a:blip r:embed="rId4"/>
          <a:stretch>
            <a:fillRect/>
          </a:stretch>
        </p:blipFill>
        <p:spPr>
          <a:xfrm>
            <a:off x="1399417" y="1248936"/>
            <a:ext cx="6449245" cy="3278459"/>
          </a:xfrm>
          <a:prstGeom prst="rect">
            <a:avLst/>
          </a:prstGeom>
        </p:spPr>
      </p:pic>
    </p:spTree>
    <p:extLst>
      <p:ext uri="{BB962C8B-B14F-4D97-AF65-F5344CB8AC3E}">
        <p14:creationId xmlns:p14="http://schemas.microsoft.com/office/powerpoint/2010/main" val="31860246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59">
          <a:extLst>
            <a:ext uri="{FF2B5EF4-FFF2-40B4-BE49-F238E27FC236}">
              <a16:creationId xmlns:a16="http://schemas.microsoft.com/office/drawing/2014/main" id="{EAD26B37-43EE-1949-DBFF-3CE217957E2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9FCC4F0-7D32-AF78-BC04-8E13B39CE6C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20</a:t>
            </a:fld>
            <a:endParaRPr lang="en-GB"/>
          </a:p>
        </p:txBody>
      </p:sp>
      <p:sp>
        <p:nvSpPr>
          <p:cNvPr id="6" name="Date Placeholder 3">
            <a:extLst>
              <a:ext uri="{FF2B5EF4-FFF2-40B4-BE49-F238E27FC236}">
                <a16:creationId xmlns:a16="http://schemas.microsoft.com/office/drawing/2014/main" id="{3D55CC75-CCD7-2D47-BC13-AA1C3CCF1AA0}"/>
              </a:ext>
            </a:extLst>
          </p:cNvPr>
          <p:cNvSpPr>
            <a:spLocks noGrp="1"/>
          </p:cNvSpPr>
          <p:nvPr/>
        </p:nvSpPr>
        <p:spPr>
          <a:xfrm>
            <a:off x="311785" y="4483735"/>
            <a:ext cx="212598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Date</a:t>
            </a:r>
          </a:p>
        </p:txBody>
      </p:sp>
      <p:sp>
        <p:nvSpPr>
          <p:cNvPr id="7" name="Footer Placeholder 4">
            <a:extLst>
              <a:ext uri="{FF2B5EF4-FFF2-40B4-BE49-F238E27FC236}">
                <a16:creationId xmlns:a16="http://schemas.microsoft.com/office/drawing/2014/main" id="{54AAD013-3A75-438B-D91C-06CE436AEFC0}"/>
              </a:ext>
            </a:extLst>
          </p:cNvPr>
          <p:cNvSpPr>
            <a:spLocks noGrp="1"/>
          </p:cNvSpPr>
          <p:nvPr/>
        </p:nvSpPr>
        <p:spPr>
          <a:xfrm>
            <a:off x="3512185" y="4483735"/>
            <a:ext cx="318833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RV COLLEGE OF ENGINEERING</a:t>
            </a:r>
          </a:p>
        </p:txBody>
      </p:sp>
      <p:sp>
        <p:nvSpPr>
          <p:cNvPr id="2" name="Title 1">
            <a:extLst>
              <a:ext uri="{FF2B5EF4-FFF2-40B4-BE49-F238E27FC236}">
                <a16:creationId xmlns:a16="http://schemas.microsoft.com/office/drawing/2014/main" id="{A4ADB7EB-ED7A-2CD5-E5B7-01F821089561}"/>
              </a:ext>
            </a:extLst>
          </p:cNvPr>
          <p:cNvSpPr>
            <a:spLocks noGrp="1"/>
          </p:cNvSpPr>
          <p:nvPr>
            <p:ph type="title"/>
          </p:nvPr>
        </p:nvSpPr>
        <p:spPr>
          <a:xfrm>
            <a:off x="1948909" y="172463"/>
            <a:ext cx="4751612" cy="540337"/>
          </a:xfrm>
        </p:spPr>
        <p:txBody>
          <a:bodyPr>
            <a:noAutofit/>
          </a:bodyPr>
          <a:lstStyle/>
          <a:p>
            <a:pPr algn="ctr"/>
            <a:r>
              <a:rPr lang="en-US" sz="2000" b="1" dirty="0">
                <a:solidFill>
                  <a:schemeClr val="accent1">
                    <a:lumMod val="50000"/>
                  </a:schemeClr>
                </a:solidFill>
                <a:latin typeface="Bookman Old Style" panose="02050604050505020204" pitchFamily="18" charset="0"/>
                <a:ea typeface="ＭＳ Ｐゴシック" panose="020B0600070205080204" pitchFamily="34" charset="-128"/>
              </a:rPr>
              <a:t>Results, Analysis and Discussion</a:t>
            </a:r>
          </a:p>
        </p:txBody>
      </p:sp>
      <p:pic>
        <p:nvPicPr>
          <p:cNvPr id="9" name="Picture 8">
            <a:extLst>
              <a:ext uri="{FF2B5EF4-FFF2-40B4-BE49-F238E27FC236}">
                <a16:creationId xmlns:a16="http://schemas.microsoft.com/office/drawing/2014/main" id="{39BFDD74-8B1D-89E6-3E75-9D0D662DBD06}"/>
              </a:ext>
            </a:extLst>
          </p:cNvPr>
          <p:cNvPicPr>
            <a:picLocks noChangeAspect="1"/>
          </p:cNvPicPr>
          <p:nvPr/>
        </p:nvPicPr>
        <p:blipFill>
          <a:blip r:embed="rId4"/>
          <a:stretch>
            <a:fillRect/>
          </a:stretch>
        </p:blipFill>
        <p:spPr>
          <a:xfrm>
            <a:off x="1338146" y="974684"/>
            <a:ext cx="6251011" cy="3093935"/>
          </a:xfrm>
          <a:prstGeom prst="rect">
            <a:avLst/>
          </a:prstGeom>
        </p:spPr>
      </p:pic>
    </p:spTree>
    <p:extLst>
      <p:ext uri="{BB962C8B-B14F-4D97-AF65-F5344CB8AC3E}">
        <p14:creationId xmlns:p14="http://schemas.microsoft.com/office/powerpoint/2010/main" val="956788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59"/>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21</a:t>
            </a:fld>
            <a:endParaRPr lang="en-GB"/>
          </a:p>
        </p:txBody>
      </p:sp>
      <p:sp>
        <p:nvSpPr>
          <p:cNvPr id="6" name="Date Placeholder 3"/>
          <p:cNvSpPr>
            <a:spLocks noGrp="1"/>
          </p:cNvSpPr>
          <p:nvPr/>
        </p:nvSpPr>
        <p:spPr>
          <a:xfrm>
            <a:off x="311785" y="4483735"/>
            <a:ext cx="212598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Date</a:t>
            </a:r>
          </a:p>
        </p:txBody>
      </p:sp>
      <p:sp>
        <p:nvSpPr>
          <p:cNvPr id="7" name="Footer Placeholder 4"/>
          <p:cNvSpPr>
            <a:spLocks noGrp="1"/>
          </p:cNvSpPr>
          <p:nvPr/>
        </p:nvSpPr>
        <p:spPr>
          <a:xfrm>
            <a:off x="3512185" y="4483735"/>
            <a:ext cx="318833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RV COLLEGE OF ENGINEERING</a:t>
            </a:r>
          </a:p>
        </p:txBody>
      </p:sp>
      <p:sp>
        <p:nvSpPr>
          <p:cNvPr id="5" name="Title 4">
            <a:extLst>
              <a:ext uri="{FF2B5EF4-FFF2-40B4-BE49-F238E27FC236}">
                <a16:creationId xmlns:a16="http://schemas.microsoft.com/office/drawing/2014/main" id="{9882F7BC-F55B-92C5-1D42-8C4CB8E624FC}"/>
              </a:ext>
            </a:extLst>
          </p:cNvPr>
          <p:cNvSpPr>
            <a:spLocks noGrp="1"/>
          </p:cNvSpPr>
          <p:nvPr>
            <p:ph type="title"/>
          </p:nvPr>
        </p:nvSpPr>
        <p:spPr>
          <a:xfrm>
            <a:off x="1987200" y="214625"/>
            <a:ext cx="4564800" cy="572700"/>
          </a:xfrm>
          <a:noFill/>
          <a:ln>
            <a:noFill/>
          </a:ln>
        </p:spPr>
        <p:txBody>
          <a:bodyPr spcFirstLastPara="1" wrap="square" lIns="91425" tIns="91425" rIns="91425" bIns="91425" anchor="t" anchorCtr="0">
            <a:noAutofit/>
          </a:bodyPr>
          <a:lstStyle/>
          <a:p>
            <a:pPr algn="ctr"/>
            <a:r>
              <a:rPr lang="en-US" sz="2000" b="1" dirty="0">
                <a:solidFill>
                  <a:schemeClr val="accent1">
                    <a:lumMod val="50000"/>
                  </a:schemeClr>
                </a:solidFill>
                <a:latin typeface="Bookman Old Style" panose="02050604050505020204" pitchFamily="18" charset="0"/>
                <a:ea typeface="ＭＳ Ｐゴシック" panose="020B0600070205080204" pitchFamily="34" charset="-128"/>
              </a:rPr>
              <a:t>Demo of the Project</a:t>
            </a:r>
            <a:endParaRPr lang="en-IN" sz="2000" b="1" dirty="0">
              <a:solidFill>
                <a:schemeClr val="accent1">
                  <a:lumMod val="50000"/>
                </a:schemeClr>
              </a:solidFill>
              <a:latin typeface="Bookman Old Style" panose="02050604050505020204" pitchFamily="18" charset="0"/>
              <a:ea typeface="ＭＳ Ｐゴシック" panose="020B0600070205080204" pitchFamily="34" charset="-128"/>
            </a:endParaRPr>
          </a:p>
        </p:txBody>
      </p:sp>
      <p:pic>
        <p:nvPicPr>
          <p:cNvPr id="8" name="Picture 7">
            <a:extLst>
              <a:ext uri="{FF2B5EF4-FFF2-40B4-BE49-F238E27FC236}">
                <a16:creationId xmlns:a16="http://schemas.microsoft.com/office/drawing/2014/main" id="{0C62575B-A6C8-8320-848A-4CFFB96D0D2A}"/>
              </a:ext>
            </a:extLst>
          </p:cNvPr>
          <p:cNvPicPr>
            <a:picLocks noChangeAspect="1"/>
          </p:cNvPicPr>
          <p:nvPr/>
        </p:nvPicPr>
        <p:blipFill>
          <a:blip r:embed="rId4"/>
          <a:stretch>
            <a:fillRect/>
          </a:stretch>
        </p:blipFill>
        <p:spPr>
          <a:xfrm>
            <a:off x="1552853" y="1219199"/>
            <a:ext cx="6305039" cy="3000469"/>
          </a:xfrm>
          <a:prstGeom prst="rect">
            <a:avLst/>
          </a:prstGeom>
        </p:spPr>
      </p:pic>
    </p:spTree>
    <p:extLst>
      <p:ext uri="{BB962C8B-B14F-4D97-AF65-F5344CB8AC3E}">
        <p14:creationId xmlns:p14="http://schemas.microsoft.com/office/powerpoint/2010/main" val="21590973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59">
          <a:extLst>
            <a:ext uri="{FF2B5EF4-FFF2-40B4-BE49-F238E27FC236}">
              <a16:creationId xmlns:a16="http://schemas.microsoft.com/office/drawing/2014/main" id="{5089D643-C651-0D70-6575-D49BFCB375B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F766F4B-F00A-221F-F2AD-F5CDAA58657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22</a:t>
            </a:fld>
            <a:endParaRPr lang="en-GB"/>
          </a:p>
        </p:txBody>
      </p:sp>
      <p:sp>
        <p:nvSpPr>
          <p:cNvPr id="6" name="Date Placeholder 3">
            <a:extLst>
              <a:ext uri="{FF2B5EF4-FFF2-40B4-BE49-F238E27FC236}">
                <a16:creationId xmlns:a16="http://schemas.microsoft.com/office/drawing/2014/main" id="{7ABC4634-FFE7-BFFE-3E7F-46DA66DEBC44}"/>
              </a:ext>
            </a:extLst>
          </p:cNvPr>
          <p:cNvSpPr>
            <a:spLocks noGrp="1"/>
          </p:cNvSpPr>
          <p:nvPr/>
        </p:nvSpPr>
        <p:spPr>
          <a:xfrm>
            <a:off x="311785" y="4483735"/>
            <a:ext cx="212598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Date</a:t>
            </a:r>
          </a:p>
        </p:txBody>
      </p:sp>
      <p:sp>
        <p:nvSpPr>
          <p:cNvPr id="7" name="Footer Placeholder 4">
            <a:extLst>
              <a:ext uri="{FF2B5EF4-FFF2-40B4-BE49-F238E27FC236}">
                <a16:creationId xmlns:a16="http://schemas.microsoft.com/office/drawing/2014/main" id="{82E8BC0F-0320-D1CF-350B-6EA09655208A}"/>
              </a:ext>
            </a:extLst>
          </p:cNvPr>
          <p:cNvSpPr>
            <a:spLocks noGrp="1"/>
          </p:cNvSpPr>
          <p:nvPr/>
        </p:nvSpPr>
        <p:spPr>
          <a:xfrm>
            <a:off x="3512185" y="4483735"/>
            <a:ext cx="318833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RV COLLEGE OF ENGINEERING</a:t>
            </a:r>
          </a:p>
        </p:txBody>
      </p:sp>
      <p:sp>
        <p:nvSpPr>
          <p:cNvPr id="2" name="Title 1">
            <a:extLst>
              <a:ext uri="{FF2B5EF4-FFF2-40B4-BE49-F238E27FC236}">
                <a16:creationId xmlns:a16="http://schemas.microsoft.com/office/drawing/2014/main" id="{DDBCC1EE-BAC8-81A5-D91B-0C0689E5D577}"/>
              </a:ext>
            </a:extLst>
          </p:cNvPr>
          <p:cNvSpPr>
            <a:spLocks noGrp="1"/>
          </p:cNvSpPr>
          <p:nvPr>
            <p:ph type="title"/>
          </p:nvPr>
        </p:nvSpPr>
        <p:spPr>
          <a:xfrm>
            <a:off x="1948909" y="172463"/>
            <a:ext cx="4751612" cy="540337"/>
          </a:xfrm>
        </p:spPr>
        <p:txBody>
          <a:bodyPr>
            <a:noAutofit/>
          </a:bodyPr>
          <a:lstStyle/>
          <a:p>
            <a:pPr algn="ctr"/>
            <a:r>
              <a:rPr lang="en-US" sz="2000" b="1" dirty="0">
                <a:solidFill>
                  <a:schemeClr val="accent1">
                    <a:lumMod val="50000"/>
                  </a:schemeClr>
                </a:solidFill>
                <a:latin typeface="Bookman Old Style" panose="02050604050505020204" pitchFamily="18" charset="0"/>
                <a:ea typeface="ＭＳ Ｐゴシック" panose="020B0600070205080204" pitchFamily="34" charset="-128"/>
              </a:rPr>
              <a:t>Results, Analysis and Discussion</a:t>
            </a:r>
          </a:p>
        </p:txBody>
      </p:sp>
      <p:pic>
        <p:nvPicPr>
          <p:cNvPr id="5" name="Picture 4">
            <a:extLst>
              <a:ext uri="{FF2B5EF4-FFF2-40B4-BE49-F238E27FC236}">
                <a16:creationId xmlns:a16="http://schemas.microsoft.com/office/drawing/2014/main" id="{CC8ED330-84CC-F739-5A32-71D150840A02}"/>
              </a:ext>
            </a:extLst>
          </p:cNvPr>
          <p:cNvPicPr>
            <a:picLocks noChangeAspect="1"/>
          </p:cNvPicPr>
          <p:nvPr/>
        </p:nvPicPr>
        <p:blipFill>
          <a:blip r:embed="rId4"/>
          <a:stretch>
            <a:fillRect/>
          </a:stretch>
        </p:blipFill>
        <p:spPr>
          <a:xfrm>
            <a:off x="1858536" y="914400"/>
            <a:ext cx="5439384" cy="3516351"/>
          </a:xfrm>
          <a:prstGeom prst="rect">
            <a:avLst/>
          </a:prstGeom>
        </p:spPr>
      </p:pic>
    </p:spTree>
    <p:extLst>
      <p:ext uri="{BB962C8B-B14F-4D97-AF65-F5344CB8AC3E}">
        <p14:creationId xmlns:p14="http://schemas.microsoft.com/office/powerpoint/2010/main" val="22223870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59">
          <a:extLst>
            <a:ext uri="{FF2B5EF4-FFF2-40B4-BE49-F238E27FC236}">
              <a16:creationId xmlns:a16="http://schemas.microsoft.com/office/drawing/2014/main" id="{63BB215E-4E18-E8F5-F5DE-B1F65F94896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1F1A3C3-EBB0-A5E1-3D4B-B509EEB9EE2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23</a:t>
            </a:fld>
            <a:endParaRPr lang="en-GB"/>
          </a:p>
        </p:txBody>
      </p:sp>
      <p:sp>
        <p:nvSpPr>
          <p:cNvPr id="6" name="Date Placeholder 3">
            <a:extLst>
              <a:ext uri="{FF2B5EF4-FFF2-40B4-BE49-F238E27FC236}">
                <a16:creationId xmlns:a16="http://schemas.microsoft.com/office/drawing/2014/main" id="{24323DEE-2C80-8537-68A0-806A2A9A4095}"/>
              </a:ext>
            </a:extLst>
          </p:cNvPr>
          <p:cNvSpPr>
            <a:spLocks noGrp="1"/>
          </p:cNvSpPr>
          <p:nvPr/>
        </p:nvSpPr>
        <p:spPr>
          <a:xfrm>
            <a:off x="311785" y="4483735"/>
            <a:ext cx="212598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Date</a:t>
            </a:r>
          </a:p>
        </p:txBody>
      </p:sp>
      <p:sp>
        <p:nvSpPr>
          <p:cNvPr id="7" name="Footer Placeholder 4">
            <a:extLst>
              <a:ext uri="{FF2B5EF4-FFF2-40B4-BE49-F238E27FC236}">
                <a16:creationId xmlns:a16="http://schemas.microsoft.com/office/drawing/2014/main" id="{807767FF-7AFE-7A4A-38CB-10F36A0CAF20}"/>
              </a:ext>
            </a:extLst>
          </p:cNvPr>
          <p:cNvSpPr>
            <a:spLocks noGrp="1"/>
          </p:cNvSpPr>
          <p:nvPr/>
        </p:nvSpPr>
        <p:spPr>
          <a:xfrm>
            <a:off x="3512185" y="4483735"/>
            <a:ext cx="318833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RV COLLEGE OF ENGINEERING</a:t>
            </a:r>
          </a:p>
        </p:txBody>
      </p:sp>
      <p:sp>
        <p:nvSpPr>
          <p:cNvPr id="2" name="Title 1">
            <a:extLst>
              <a:ext uri="{FF2B5EF4-FFF2-40B4-BE49-F238E27FC236}">
                <a16:creationId xmlns:a16="http://schemas.microsoft.com/office/drawing/2014/main" id="{42C37642-B9CD-8E37-B653-4E99438F1D85}"/>
              </a:ext>
            </a:extLst>
          </p:cNvPr>
          <p:cNvSpPr>
            <a:spLocks noGrp="1"/>
          </p:cNvSpPr>
          <p:nvPr>
            <p:ph type="title"/>
          </p:nvPr>
        </p:nvSpPr>
        <p:spPr>
          <a:xfrm>
            <a:off x="1948909" y="172463"/>
            <a:ext cx="4751612" cy="540337"/>
          </a:xfrm>
        </p:spPr>
        <p:txBody>
          <a:bodyPr>
            <a:noAutofit/>
          </a:bodyPr>
          <a:lstStyle/>
          <a:p>
            <a:pPr algn="ctr"/>
            <a:r>
              <a:rPr lang="en-US" sz="2000" b="1" dirty="0">
                <a:solidFill>
                  <a:schemeClr val="accent1">
                    <a:lumMod val="50000"/>
                  </a:schemeClr>
                </a:solidFill>
                <a:latin typeface="Bookman Old Style" panose="02050604050505020204" pitchFamily="18" charset="0"/>
                <a:ea typeface="ＭＳ Ｐゴシック" panose="020B0600070205080204" pitchFamily="34" charset="-128"/>
              </a:rPr>
              <a:t>Results, Analysis and Discussion</a:t>
            </a:r>
          </a:p>
        </p:txBody>
      </p:sp>
      <p:pic>
        <p:nvPicPr>
          <p:cNvPr id="5" name="Picture 4">
            <a:extLst>
              <a:ext uri="{FF2B5EF4-FFF2-40B4-BE49-F238E27FC236}">
                <a16:creationId xmlns:a16="http://schemas.microsoft.com/office/drawing/2014/main" id="{F92E6FBF-4B98-23A3-6DF7-CF92BFAD7C4E}"/>
              </a:ext>
            </a:extLst>
          </p:cNvPr>
          <p:cNvPicPr>
            <a:picLocks noChangeAspect="1"/>
          </p:cNvPicPr>
          <p:nvPr/>
        </p:nvPicPr>
        <p:blipFill>
          <a:blip r:embed="rId4"/>
          <a:stretch>
            <a:fillRect/>
          </a:stretch>
        </p:blipFill>
        <p:spPr>
          <a:xfrm>
            <a:off x="1828800" y="999098"/>
            <a:ext cx="5070360" cy="3442125"/>
          </a:xfrm>
          <a:prstGeom prst="rect">
            <a:avLst/>
          </a:prstGeom>
        </p:spPr>
      </p:pic>
    </p:spTree>
    <p:extLst>
      <p:ext uri="{BB962C8B-B14F-4D97-AF65-F5344CB8AC3E}">
        <p14:creationId xmlns:p14="http://schemas.microsoft.com/office/powerpoint/2010/main" val="2084024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59">
          <a:extLst>
            <a:ext uri="{FF2B5EF4-FFF2-40B4-BE49-F238E27FC236}">
              <a16:creationId xmlns:a16="http://schemas.microsoft.com/office/drawing/2014/main" id="{EC5F75C9-8D80-77C6-FD6D-21DDA92CCED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EFD5620-F217-AD77-B6B7-2203C00FC93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24</a:t>
            </a:fld>
            <a:endParaRPr lang="en-GB"/>
          </a:p>
        </p:txBody>
      </p:sp>
      <p:sp>
        <p:nvSpPr>
          <p:cNvPr id="6" name="Date Placeholder 3">
            <a:extLst>
              <a:ext uri="{FF2B5EF4-FFF2-40B4-BE49-F238E27FC236}">
                <a16:creationId xmlns:a16="http://schemas.microsoft.com/office/drawing/2014/main" id="{66D41A02-C749-5871-68FE-46E0CCBF9E6E}"/>
              </a:ext>
            </a:extLst>
          </p:cNvPr>
          <p:cNvSpPr>
            <a:spLocks noGrp="1"/>
          </p:cNvSpPr>
          <p:nvPr/>
        </p:nvSpPr>
        <p:spPr>
          <a:xfrm>
            <a:off x="311785" y="4483735"/>
            <a:ext cx="212598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Date</a:t>
            </a:r>
          </a:p>
        </p:txBody>
      </p:sp>
      <p:sp>
        <p:nvSpPr>
          <p:cNvPr id="7" name="Footer Placeholder 4">
            <a:extLst>
              <a:ext uri="{FF2B5EF4-FFF2-40B4-BE49-F238E27FC236}">
                <a16:creationId xmlns:a16="http://schemas.microsoft.com/office/drawing/2014/main" id="{8BC9004C-D06F-DD8E-C7E8-A2C20093750C}"/>
              </a:ext>
            </a:extLst>
          </p:cNvPr>
          <p:cNvSpPr>
            <a:spLocks noGrp="1"/>
          </p:cNvSpPr>
          <p:nvPr/>
        </p:nvSpPr>
        <p:spPr>
          <a:xfrm>
            <a:off x="3512185" y="4483735"/>
            <a:ext cx="318833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RV COLLEGE OF ENGINEERING</a:t>
            </a:r>
          </a:p>
        </p:txBody>
      </p:sp>
      <p:sp>
        <p:nvSpPr>
          <p:cNvPr id="2" name="Title 1">
            <a:extLst>
              <a:ext uri="{FF2B5EF4-FFF2-40B4-BE49-F238E27FC236}">
                <a16:creationId xmlns:a16="http://schemas.microsoft.com/office/drawing/2014/main" id="{12736F42-C082-C7A7-9355-2B2FEE1D30E8}"/>
              </a:ext>
            </a:extLst>
          </p:cNvPr>
          <p:cNvSpPr>
            <a:spLocks noGrp="1"/>
          </p:cNvSpPr>
          <p:nvPr>
            <p:ph type="title"/>
          </p:nvPr>
        </p:nvSpPr>
        <p:spPr>
          <a:xfrm>
            <a:off x="1948909" y="172463"/>
            <a:ext cx="4751612" cy="540337"/>
          </a:xfrm>
        </p:spPr>
        <p:txBody>
          <a:bodyPr>
            <a:noAutofit/>
          </a:bodyPr>
          <a:lstStyle/>
          <a:p>
            <a:pPr algn="ctr"/>
            <a:r>
              <a:rPr lang="en-US" sz="2000" b="1" dirty="0">
                <a:solidFill>
                  <a:schemeClr val="accent1">
                    <a:lumMod val="50000"/>
                  </a:schemeClr>
                </a:solidFill>
                <a:latin typeface="Bookman Old Style" panose="02050604050505020204" pitchFamily="18" charset="0"/>
                <a:ea typeface="ＭＳ Ｐゴシック" panose="020B0600070205080204" pitchFamily="34" charset="-128"/>
              </a:rPr>
              <a:t>Results, Analysis and Discussion</a:t>
            </a:r>
          </a:p>
        </p:txBody>
      </p:sp>
      <p:pic>
        <p:nvPicPr>
          <p:cNvPr id="5" name="Picture 4">
            <a:extLst>
              <a:ext uri="{FF2B5EF4-FFF2-40B4-BE49-F238E27FC236}">
                <a16:creationId xmlns:a16="http://schemas.microsoft.com/office/drawing/2014/main" id="{3F072582-1E53-7F5D-2BAF-F225A97CE26D}"/>
              </a:ext>
            </a:extLst>
          </p:cNvPr>
          <p:cNvPicPr>
            <a:picLocks noChangeAspect="1"/>
          </p:cNvPicPr>
          <p:nvPr/>
        </p:nvPicPr>
        <p:blipFill>
          <a:blip r:embed="rId4"/>
          <a:stretch>
            <a:fillRect/>
          </a:stretch>
        </p:blipFill>
        <p:spPr>
          <a:xfrm>
            <a:off x="2119414" y="1132275"/>
            <a:ext cx="4824078" cy="2703744"/>
          </a:xfrm>
          <a:prstGeom prst="rect">
            <a:avLst/>
          </a:prstGeom>
        </p:spPr>
      </p:pic>
    </p:spTree>
    <p:extLst>
      <p:ext uri="{BB962C8B-B14F-4D97-AF65-F5344CB8AC3E}">
        <p14:creationId xmlns:p14="http://schemas.microsoft.com/office/powerpoint/2010/main" val="15949221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59">
          <a:extLst>
            <a:ext uri="{FF2B5EF4-FFF2-40B4-BE49-F238E27FC236}">
              <a16:creationId xmlns:a16="http://schemas.microsoft.com/office/drawing/2014/main" id="{74BB4024-61F5-8B2C-D8F4-777ABD78201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D26BF23-2AC2-2263-723B-91EA18526C7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25</a:t>
            </a:fld>
            <a:endParaRPr lang="en-GB"/>
          </a:p>
        </p:txBody>
      </p:sp>
      <p:sp>
        <p:nvSpPr>
          <p:cNvPr id="6" name="Date Placeholder 3">
            <a:extLst>
              <a:ext uri="{FF2B5EF4-FFF2-40B4-BE49-F238E27FC236}">
                <a16:creationId xmlns:a16="http://schemas.microsoft.com/office/drawing/2014/main" id="{6E177084-E21B-3C82-FD64-FF5F11FCBA19}"/>
              </a:ext>
            </a:extLst>
          </p:cNvPr>
          <p:cNvSpPr>
            <a:spLocks noGrp="1"/>
          </p:cNvSpPr>
          <p:nvPr/>
        </p:nvSpPr>
        <p:spPr>
          <a:xfrm>
            <a:off x="311785" y="4483735"/>
            <a:ext cx="212598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Date</a:t>
            </a:r>
          </a:p>
        </p:txBody>
      </p:sp>
      <p:sp>
        <p:nvSpPr>
          <p:cNvPr id="7" name="Footer Placeholder 4">
            <a:extLst>
              <a:ext uri="{FF2B5EF4-FFF2-40B4-BE49-F238E27FC236}">
                <a16:creationId xmlns:a16="http://schemas.microsoft.com/office/drawing/2014/main" id="{CF7772D6-C4B2-5BAF-FA19-39CA38B78C4D}"/>
              </a:ext>
            </a:extLst>
          </p:cNvPr>
          <p:cNvSpPr>
            <a:spLocks noGrp="1"/>
          </p:cNvSpPr>
          <p:nvPr/>
        </p:nvSpPr>
        <p:spPr>
          <a:xfrm>
            <a:off x="3512185" y="4483735"/>
            <a:ext cx="318833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RV COLLEGE OF ENGINEERING</a:t>
            </a:r>
          </a:p>
        </p:txBody>
      </p:sp>
      <p:sp>
        <p:nvSpPr>
          <p:cNvPr id="2" name="Title 1">
            <a:extLst>
              <a:ext uri="{FF2B5EF4-FFF2-40B4-BE49-F238E27FC236}">
                <a16:creationId xmlns:a16="http://schemas.microsoft.com/office/drawing/2014/main" id="{D4D5F5E4-E7EE-9245-FAFB-6946DC3F6881}"/>
              </a:ext>
            </a:extLst>
          </p:cNvPr>
          <p:cNvSpPr>
            <a:spLocks noGrp="1"/>
          </p:cNvSpPr>
          <p:nvPr>
            <p:ph type="title"/>
          </p:nvPr>
        </p:nvSpPr>
        <p:spPr>
          <a:xfrm>
            <a:off x="1948909" y="172463"/>
            <a:ext cx="4751612" cy="540337"/>
          </a:xfrm>
        </p:spPr>
        <p:txBody>
          <a:bodyPr>
            <a:noAutofit/>
          </a:bodyPr>
          <a:lstStyle/>
          <a:p>
            <a:pPr algn="ctr"/>
            <a:r>
              <a:rPr lang="en-US" sz="2000" b="1" dirty="0">
                <a:solidFill>
                  <a:schemeClr val="accent1">
                    <a:lumMod val="50000"/>
                  </a:schemeClr>
                </a:solidFill>
                <a:latin typeface="Bookman Old Style" panose="02050604050505020204" pitchFamily="18" charset="0"/>
                <a:ea typeface="ＭＳ Ｐゴシック" panose="020B0600070205080204" pitchFamily="34" charset="-128"/>
              </a:rPr>
              <a:t>Results, Analysis and Discussion</a:t>
            </a:r>
          </a:p>
        </p:txBody>
      </p:sp>
      <p:pic>
        <p:nvPicPr>
          <p:cNvPr id="8" name="Picture 7">
            <a:extLst>
              <a:ext uri="{FF2B5EF4-FFF2-40B4-BE49-F238E27FC236}">
                <a16:creationId xmlns:a16="http://schemas.microsoft.com/office/drawing/2014/main" id="{40AD9D92-3B0F-D1DA-EF2B-7CAA6197DF7E}"/>
              </a:ext>
            </a:extLst>
          </p:cNvPr>
          <p:cNvPicPr>
            <a:picLocks noChangeAspect="1"/>
          </p:cNvPicPr>
          <p:nvPr/>
        </p:nvPicPr>
        <p:blipFill>
          <a:blip r:embed="rId4"/>
          <a:stretch>
            <a:fillRect/>
          </a:stretch>
        </p:blipFill>
        <p:spPr>
          <a:xfrm>
            <a:off x="1724722" y="909005"/>
            <a:ext cx="6043960" cy="3334108"/>
          </a:xfrm>
          <a:prstGeom prst="rect">
            <a:avLst/>
          </a:prstGeom>
        </p:spPr>
      </p:pic>
    </p:spTree>
    <p:extLst>
      <p:ext uri="{BB962C8B-B14F-4D97-AF65-F5344CB8AC3E}">
        <p14:creationId xmlns:p14="http://schemas.microsoft.com/office/powerpoint/2010/main" val="6422719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59">
          <a:extLst>
            <a:ext uri="{FF2B5EF4-FFF2-40B4-BE49-F238E27FC236}">
              <a16:creationId xmlns:a16="http://schemas.microsoft.com/office/drawing/2014/main" id="{85D49B81-627C-4260-4FC0-586645DBF1E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4EB3806-A4B6-3344-15B8-E10EBB3EBAC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26</a:t>
            </a:fld>
            <a:endParaRPr lang="en-GB"/>
          </a:p>
        </p:txBody>
      </p:sp>
      <p:sp>
        <p:nvSpPr>
          <p:cNvPr id="6" name="Date Placeholder 3">
            <a:extLst>
              <a:ext uri="{FF2B5EF4-FFF2-40B4-BE49-F238E27FC236}">
                <a16:creationId xmlns:a16="http://schemas.microsoft.com/office/drawing/2014/main" id="{95B9B097-2F24-0506-E7C8-333B40349331}"/>
              </a:ext>
            </a:extLst>
          </p:cNvPr>
          <p:cNvSpPr>
            <a:spLocks noGrp="1"/>
          </p:cNvSpPr>
          <p:nvPr/>
        </p:nvSpPr>
        <p:spPr>
          <a:xfrm>
            <a:off x="311785" y="4483735"/>
            <a:ext cx="212598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Date</a:t>
            </a:r>
          </a:p>
        </p:txBody>
      </p:sp>
      <p:sp>
        <p:nvSpPr>
          <p:cNvPr id="7" name="Footer Placeholder 4">
            <a:extLst>
              <a:ext uri="{FF2B5EF4-FFF2-40B4-BE49-F238E27FC236}">
                <a16:creationId xmlns:a16="http://schemas.microsoft.com/office/drawing/2014/main" id="{0BB7BCA7-5369-558A-06C7-3C29B5214947}"/>
              </a:ext>
            </a:extLst>
          </p:cNvPr>
          <p:cNvSpPr>
            <a:spLocks noGrp="1"/>
          </p:cNvSpPr>
          <p:nvPr/>
        </p:nvSpPr>
        <p:spPr>
          <a:xfrm>
            <a:off x="3512185" y="4483735"/>
            <a:ext cx="318833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RV COLLEGE OF ENGINEERING</a:t>
            </a:r>
          </a:p>
        </p:txBody>
      </p:sp>
      <p:sp>
        <p:nvSpPr>
          <p:cNvPr id="2" name="Title 1">
            <a:extLst>
              <a:ext uri="{FF2B5EF4-FFF2-40B4-BE49-F238E27FC236}">
                <a16:creationId xmlns:a16="http://schemas.microsoft.com/office/drawing/2014/main" id="{87402490-9C0D-DD84-1A5A-878E719DF067}"/>
              </a:ext>
            </a:extLst>
          </p:cNvPr>
          <p:cNvSpPr>
            <a:spLocks noGrp="1"/>
          </p:cNvSpPr>
          <p:nvPr>
            <p:ph type="title"/>
          </p:nvPr>
        </p:nvSpPr>
        <p:spPr>
          <a:xfrm>
            <a:off x="1948909" y="172463"/>
            <a:ext cx="4751612" cy="540337"/>
          </a:xfrm>
        </p:spPr>
        <p:txBody>
          <a:bodyPr>
            <a:noAutofit/>
          </a:bodyPr>
          <a:lstStyle/>
          <a:p>
            <a:pPr algn="ctr"/>
            <a:r>
              <a:rPr lang="en-US" sz="2000" b="1" dirty="0">
                <a:solidFill>
                  <a:schemeClr val="accent1">
                    <a:lumMod val="50000"/>
                  </a:schemeClr>
                </a:solidFill>
                <a:latin typeface="Bookman Old Style" panose="02050604050505020204" pitchFamily="18" charset="0"/>
                <a:ea typeface="ＭＳ Ｐゴシック" panose="020B0600070205080204" pitchFamily="34" charset="-128"/>
              </a:rPr>
              <a:t>Results, Analysis and Discussion</a:t>
            </a:r>
          </a:p>
        </p:txBody>
      </p:sp>
      <p:pic>
        <p:nvPicPr>
          <p:cNvPr id="3" name="Picture 2">
            <a:extLst>
              <a:ext uri="{FF2B5EF4-FFF2-40B4-BE49-F238E27FC236}">
                <a16:creationId xmlns:a16="http://schemas.microsoft.com/office/drawing/2014/main" id="{A28AF18D-264E-4C11-F74B-1AD80D87CD09}"/>
              </a:ext>
            </a:extLst>
          </p:cNvPr>
          <p:cNvPicPr>
            <a:picLocks noChangeAspect="1"/>
          </p:cNvPicPr>
          <p:nvPr/>
        </p:nvPicPr>
        <p:blipFill>
          <a:blip r:embed="rId4"/>
          <a:stretch>
            <a:fillRect/>
          </a:stretch>
        </p:blipFill>
        <p:spPr>
          <a:xfrm>
            <a:off x="1775867" y="1021521"/>
            <a:ext cx="5175953" cy="3115326"/>
          </a:xfrm>
          <a:prstGeom prst="rect">
            <a:avLst/>
          </a:prstGeom>
        </p:spPr>
      </p:pic>
    </p:spTree>
    <p:extLst>
      <p:ext uri="{BB962C8B-B14F-4D97-AF65-F5344CB8AC3E}">
        <p14:creationId xmlns:p14="http://schemas.microsoft.com/office/powerpoint/2010/main" val="25524612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4"/>
          <a:stretch>
            <a:fillRect/>
          </a:stretch>
        </a:blipFill>
        <a:effectLst/>
      </p:bgPr>
    </p:bg>
    <p:spTree>
      <p:nvGrpSpPr>
        <p:cNvPr id="1" name="Shape 59">
          <a:extLst>
            <a:ext uri="{FF2B5EF4-FFF2-40B4-BE49-F238E27FC236}">
              <a16:creationId xmlns:a16="http://schemas.microsoft.com/office/drawing/2014/main" id="{B11766FA-5E91-13AA-CFE8-1D1169B90D4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CA28FE1-518D-6AED-0999-33BDF5D4EC7C}"/>
              </a:ext>
            </a:extLst>
          </p:cNvPr>
          <p:cNvSpPr>
            <a:spLocks noGrp="1"/>
          </p:cNvSpPr>
          <p:nvPr>
            <p:ph type="title"/>
          </p:nvPr>
        </p:nvSpPr>
        <p:spPr>
          <a:xfrm>
            <a:off x="2162014" y="207425"/>
            <a:ext cx="4538506" cy="397375"/>
          </a:xfrm>
          <a:noFill/>
          <a:ln>
            <a:noFill/>
          </a:ln>
        </p:spPr>
        <p:txBody>
          <a:bodyPr spcFirstLastPara="1" wrap="square" lIns="91425" tIns="91425" rIns="91425" bIns="91425" anchor="t" anchorCtr="0">
            <a:noAutofit/>
          </a:bodyPr>
          <a:lstStyle/>
          <a:p>
            <a:pPr algn="ctr"/>
            <a:r>
              <a:rPr lang="en-US" sz="2000" b="1" dirty="0">
                <a:solidFill>
                  <a:schemeClr val="accent1">
                    <a:lumMod val="50000"/>
                  </a:schemeClr>
                </a:solidFill>
                <a:latin typeface="Bookman Old Style" panose="02050604050505020204" pitchFamily="18" charset="0"/>
                <a:ea typeface="ＭＳ Ｐゴシック" panose="020B0600070205080204" pitchFamily="34" charset="-128"/>
              </a:rPr>
              <a:t>SDG Mapping</a:t>
            </a:r>
          </a:p>
        </p:txBody>
      </p:sp>
      <p:sp>
        <p:nvSpPr>
          <p:cNvPr id="4" name="Slide Number Placeholder 3">
            <a:extLst>
              <a:ext uri="{FF2B5EF4-FFF2-40B4-BE49-F238E27FC236}">
                <a16:creationId xmlns:a16="http://schemas.microsoft.com/office/drawing/2014/main" id="{4867491D-F96D-AB4C-46AD-E927C680784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27</a:t>
            </a:fld>
            <a:endParaRPr lang="en-GB"/>
          </a:p>
        </p:txBody>
      </p:sp>
      <p:sp>
        <p:nvSpPr>
          <p:cNvPr id="6" name="Date Placeholder 3">
            <a:extLst>
              <a:ext uri="{FF2B5EF4-FFF2-40B4-BE49-F238E27FC236}">
                <a16:creationId xmlns:a16="http://schemas.microsoft.com/office/drawing/2014/main" id="{108391D5-D8C0-9A70-96B3-8963AC703B22}"/>
              </a:ext>
            </a:extLst>
          </p:cNvPr>
          <p:cNvSpPr>
            <a:spLocks noGrp="1"/>
          </p:cNvSpPr>
          <p:nvPr/>
        </p:nvSpPr>
        <p:spPr>
          <a:xfrm>
            <a:off x="311785" y="4483735"/>
            <a:ext cx="212598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Date</a:t>
            </a:r>
          </a:p>
        </p:txBody>
      </p:sp>
      <p:sp>
        <p:nvSpPr>
          <p:cNvPr id="7" name="Footer Placeholder 4">
            <a:extLst>
              <a:ext uri="{FF2B5EF4-FFF2-40B4-BE49-F238E27FC236}">
                <a16:creationId xmlns:a16="http://schemas.microsoft.com/office/drawing/2014/main" id="{C598E149-D17A-2585-9E1E-4F1949AEECC0}"/>
              </a:ext>
            </a:extLst>
          </p:cNvPr>
          <p:cNvSpPr>
            <a:spLocks noGrp="1"/>
          </p:cNvSpPr>
          <p:nvPr/>
        </p:nvSpPr>
        <p:spPr>
          <a:xfrm>
            <a:off x="3512185" y="4483735"/>
            <a:ext cx="318833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RV COLLEGE OF ENGINEERING</a:t>
            </a:r>
          </a:p>
        </p:txBody>
      </p:sp>
      <p:graphicFrame>
        <p:nvGraphicFramePr>
          <p:cNvPr id="2" name="Table 1">
            <a:extLst>
              <a:ext uri="{FF2B5EF4-FFF2-40B4-BE49-F238E27FC236}">
                <a16:creationId xmlns:a16="http://schemas.microsoft.com/office/drawing/2014/main" id="{CA73D512-A0FD-3FB9-5D5C-459F9888CCB1}"/>
              </a:ext>
            </a:extLst>
          </p:cNvPr>
          <p:cNvGraphicFramePr>
            <a:graphicFrameLocks noGrp="1"/>
          </p:cNvGraphicFramePr>
          <p:nvPr>
            <p:extLst>
              <p:ext uri="{D42A27DB-BD31-4B8C-83A1-F6EECF244321}">
                <p14:modId xmlns:p14="http://schemas.microsoft.com/office/powerpoint/2010/main" val="94807291"/>
              </p:ext>
            </p:extLst>
          </p:nvPr>
        </p:nvGraphicFramePr>
        <p:xfrm>
          <a:off x="304227" y="1017633"/>
          <a:ext cx="8292122" cy="3899646"/>
        </p:xfrm>
        <a:graphic>
          <a:graphicData uri="http://schemas.openxmlformats.org/drawingml/2006/table">
            <a:tbl>
              <a:tblPr firstRow="1" bandRow="1">
                <a:tableStyleId>{5C22544A-7EE6-4342-B048-85BDC9FD1C3A}</a:tableStyleId>
              </a:tblPr>
              <a:tblGrid>
                <a:gridCol w="4146061">
                  <a:extLst>
                    <a:ext uri="{9D8B030D-6E8A-4147-A177-3AD203B41FA5}">
                      <a16:colId xmlns:a16="http://schemas.microsoft.com/office/drawing/2014/main" val="3242917337"/>
                    </a:ext>
                  </a:extLst>
                </a:gridCol>
                <a:gridCol w="4146061">
                  <a:extLst>
                    <a:ext uri="{9D8B030D-6E8A-4147-A177-3AD203B41FA5}">
                      <a16:colId xmlns:a16="http://schemas.microsoft.com/office/drawing/2014/main" val="1000626921"/>
                    </a:ext>
                  </a:extLst>
                </a:gridCol>
              </a:tblGrid>
              <a:tr h="668766">
                <a:tc>
                  <a:txBody>
                    <a:bodyPr/>
                    <a:lstStyle/>
                    <a:p>
                      <a:pPr algn="ctr"/>
                      <a:endParaRPr lang="en-IN" dirty="0">
                        <a:latin typeface="Bookman Old Style" panose="02050604050505020204" pitchFamily="18" charset="0"/>
                      </a:endParaRPr>
                    </a:p>
                    <a:p>
                      <a:pPr algn="ctr"/>
                      <a:r>
                        <a:rPr lang="en-IN" b="1" dirty="0">
                          <a:latin typeface="Bookman Old Style" panose="02050604050505020204" pitchFamily="18" charset="0"/>
                        </a:rPr>
                        <a:t>SDG Mapped to the Project</a:t>
                      </a:r>
                    </a:p>
                  </a:txBody>
                  <a:tcPr/>
                </a:tc>
                <a:tc>
                  <a:txBody>
                    <a:bodyPr/>
                    <a:lstStyle/>
                    <a:p>
                      <a:pPr algn="ctr"/>
                      <a:endParaRPr lang="en-US" dirty="0">
                        <a:latin typeface="Bookman Old Style" panose="02050604050505020204" pitchFamily="18" charset="0"/>
                      </a:endParaRPr>
                    </a:p>
                    <a:p>
                      <a:pPr algn="ctr"/>
                      <a:r>
                        <a:rPr lang="en-US" dirty="0">
                          <a:latin typeface="Bookman Old Style" panose="02050604050505020204" pitchFamily="18" charset="0"/>
                        </a:rPr>
                        <a:t>Relevant Sustainable Development Goal(s)</a:t>
                      </a:r>
                      <a:endParaRPr lang="en-IN" dirty="0">
                        <a:latin typeface="Bookman Old Style" panose="02050604050505020204" pitchFamily="18" charset="0"/>
                      </a:endParaRPr>
                    </a:p>
                  </a:txBody>
                  <a:tcPr/>
                </a:tc>
                <a:extLst>
                  <a:ext uri="{0D108BD9-81ED-4DB2-BD59-A6C34878D82A}">
                    <a16:rowId xmlns:a16="http://schemas.microsoft.com/office/drawing/2014/main" val="4210978118"/>
                  </a:ext>
                </a:extLst>
              </a:tr>
              <a:tr h="1319210">
                <a:tc>
                  <a:txBody>
                    <a:bodyPr/>
                    <a:lstStyle/>
                    <a:p>
                      <a:pPr algn="ctr"/>
                      <a:endParaRPr lang="en-IN" dirty="0">
                        <a:latin typeface="Bookman Old Style" panose="02050604050505020204" pitchFamily="18" charset="0"/>
                      </a:endParaRPr>
                    </a:p>
                    <a:p>
                      <a:pPr algn="ctr"/>
                      <a:r>
                        <a:rPr lang="en-IN" b="1" dirty="0">
                          <a:latin typeface="Bookman Old Style" panose="02050604050505020204" pitchFamily="18" charset="0"/>
                        </a:rPr>
                        <a:t>Outcome</a:t>
                      </a:r>
                      <a:r>
                        <a:rPr lang="en-IN" dirty="0">
                          <a:latin typeface="Bookman Old Style" panose="02050604050505020204" pitchFamily="18" charset="0"/>
                        </a:rPr>
                        <a:t> :</a:t>
                      </a:r>
                      <a:r>
                        <a:rPr lang="en-IN" dirty="0">
                          <a:solidFill>
                            <a:srgbClr val="FF0000"/>
                          </a:solidFill>
                          <a:latin typeface="Bookman Old Style" panose="02050604050505020204" pitchFamily="18" charset="0"/>
                        </a:rPr>
                        <a:t> Research Paper (Drafted)</a:t>
                      </a:r>
                      <a:endParaRPr lang="en-IN" dirty="0">
                        <a:latin typeface="Bookman Old Style" panose="02050604050505020204" pitchFamily="18" charset="0"/>
                      </a:endParaRPr>
                    </a:p>
                  </a:txBody>
                  <a:tcPr/>
                </a:tc>
                <a:tc>
                  <a:txBody>
                    <a:bodyPr/>
                    <a:lstStyle/>
                    <a:p>
                      <a:r>
                        <a:rPr lang="en-IN" b="1" dirty="0"/>
                        <a:t>SDG 3 – Good Health and Well-being</a:t>
                      </a:r>
                      <a:endParaRPr lang="en-IN" dirty="0"/>
                    </a:p>
                    <a:p>
                      <a:pPr marL="285750" indent="-285750">
                        <a:buFont typeface="Arial" panose="020B0604020202020204" pitchFamily="34" charset="0"/>
                        <a:buChar char="•"/>
                      </a:pPr>
                      <a:r>
                        <a:rPr lang="en-IN" sz="1100" dirty="0"/>
                        <a:t>Supports early and accurate malaria diagnosis through Artificial Intelligence. </a:t>
                      </a:r>
                    </a:p>
                    <a:p>
                      <a:pPr marL="285750" indent="-285750">
                        <a:buFont typeface="Arial" panose="020B0604020202020204" pitchFamily="34" charset="0"/>
                        <a:buChar char="•"/>
                      </a:pPr>
                      <a:r>
                        <a:rPr lang="en-IN" sz="1100" dirty="0"/>
                        <a:t>Reduces diagnostic delays and human errors in microscopic examination. </a:t>
                      </a:r>
                    </a:p>
                    <a:p>
                      <a:pPr marL="285750" indent="-285750">
                        <a:buFont typeface="Arial" panose="020B0604020202020204" pitchFamily="34" charset="0"/>
                        <a:buChar char="•"/>
                      </a:pPr>
                      <a:r>
                        <a:rPr lang="en-IN" sz="1100" dirty="0"/>
                        <a:t>Enhances healthcare accessibility in remote and resource-constrained regions. </a:t>
                      </a:r>
                    </a:p>
                    <a:p>
                      <a:pPr marL="285750" indent="-285750">
                        <a:buFont typeface="Arial" panose="020B0604020202020204" pitchFamily="34" charset="0"/>
                        <a:buChar char="•"/>
                      </a:pPr>
                      <a:r>
                        <a:rPr lang="en-IN" sz="1100" dirty="0"/>
                        <a:t>Contributes to disease prevention and improved public health outcomes.</a:t>
                      </a:r>
                    </a:p>
                    <a:p>
                      <a:pPr algn="ctr"/>
                      <a:endParaRPr lang="en-IN" dirty="0"/>
                    </a:p>
                  </a:txBody>
                  <a:tcPr/>
                </a:tc>
                <a:extLst>
                  <a:ext uri="{0D108BD9-81ED-4DB2-BD59-A6C34878D82A}">
                    <a16:rowId xmlns:a16="http://schemas.microsoft.com/office/drawing/2014/main" val="3011048170"/>
                  </a:ext>
                </a:extLst>
              </a:tr>
              <a:tr h="668766">
                <a:tc>
                  <a:txBody>
                    <a:bodyPr/>
                    <a:lstStyle/>
                    <a:p>
                      <a:pPr algn="ctr"/>
                      <a:endParaRPr lang="en-IN" b="1" dirty="0">
                        <a:latin typeface="Bookman Old Style" panose="02050604050505020204" pitchFamily="18" charset="0"/>
                      </a:endParaRPr>
                    </a:p>
                    <a:p>
                      <a:pPr algn="ctr"/>
                      <a:r>
                        <a:rPr lang="en-IN" b="1" dirty="0">
                          <a:latin typeface="Bookman Old Style" panose="02050604050505020204" pitchFamily="18" charset="0"/>
                        </a:rPr>
                        <a:t>Learning outcomes</a:t>
                      </a:r>
                    </a:p>
                  </a:txBody>
                  <a:tcPr/>
                </a:tc>
                <a:tc>
                  <a:txBody>
                    <a:bodyPr/>
                    <a:lstStyle/>
                    <a:p>
                      <a:pPr marL="171450" indent="-171450" algn="just">
                        <a:buFont typeface="Arial" panose="020B0604020202020204" pitchFamily="34" charset="0"/>
                        <a:buChar char="•"/>
                      </a:pPr>
                      <a:r>
                        <a:rPr lang="en-IN" sz="1050" dirty="0"/>
                        <a:t>Acquired knowledge of Deep Learning and Convolutional Neural Networks (CNNs).</a:t>
                      </a:r>
                    </a:p>
                    <a:p>
                      <a:pPr marL="171450" indent="-171450" algn="just">
                        <a:buFont typeface="Arial" panose="020B0604020202020204" pitchFamily="34" charset="0"/>
                        <a:buChar char="•"/>
                      </a:pPr>
                      <a:r>
                        <a:rPr lang="en-IN" sz="1050" dirty="0"/>
                        <a:t> Gained practical experience in Transfer Learning using the VGG16 architecture. </a:t>
                      </a:r>
                    </a:p>
                    <a:p>
                      <a:pPr marL="171450" indent="-171450" algn="just">
                        <a:buFont typeface="Arial" panose="020B0604020202020204" pitchFamily="34" charset="0"/>
                        <a:buChar char="•"/>
                      </a:pPr>
                      <a:r>
                        <a:rPr lang="en-IN" sz="1050" dirty="0"/>
                        <a:t>Learned medical image preprocessing and feature extraction techniques. </a:t>
                      </a:r>
                    </a:p>
                    <a:p>
                      <a:pPr marL="171450" indent="-171450" algn="just">
                        <a:buFont typeface="Arial" panose="020B0604020202020204" pitchFamily="34" charset="0"/>
                        <a:buChar char="•"/>
                      </a:pPr>
                      <a:r>
                        <a:rPr lang="en-IN" sz="1050" dirty="0"/>
                        <a:t>Developed skills in TensorFlow, </a:t>
                      </a:r>
                      <a:r>
                        <a:rPr lang="en-IN" sz="1050" dirty="0" err="1"/>
                        <a:t>Keras</a:t>
                      </a:r>
                      <a:r>
                        <a:rPr lang="en-IN" sz="1050" dirty="0"/>
                        <a:t>, Flask, and MySQL integration.</a:t>
                      </a:r>
                    </a:p>
                  </a:txBody>
                  <a:tcPr/>
                </a:tc>
                <a:extLst>
                  <a:ext uri="{0D108BD9-81ED-4DB2-BD59-A6C34878D82A}">
                    <a16:rowId xmlns:a16="http://schemas.microsoft.com/office/drawing/2014/main" val="1175080061"/>
                  </a:ext>
                </a:extLst>
              </a:tr>
            </a:tbl>
          </a:graphicData>
        </a:graphic>
      </p:graphicFrame>
    </p:spTree>
    <p:extLst>
      <p:ext uri="{BB962C8B-B14F-4D97-AF65-F5344CB8AC3E}">
        <p14:creationId xmlns:p14="http://schemas.microsoft.com/office/powerpoint/2010/main" val="4109828204"/>
      </p:ext>
    </p:extLst>
  </p:cSld>
  <p:clrMapOvr>
    <a:overrideClrMapping bg1="lt1" tx1="dk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59">
          <a:extLst>
            <a:ext uri="{FF2B5EF4-FFF2-40B4-BE49-F238E27FC236}">
              <a16:creationId xmlns:a16="http://schemas.microsoft.com/office/drawing/2014/main" id="{1D530F13-A78C-215C-E38D-D4437D849E0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C5A2FC7-507C-E3A5-846A-64E291F7EEF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28</a:t>
            </a:fld>
            <a:endParaRPr lang="en-GB"/>
          </a:p>
        </p:txBody>
      </p:sp>
      <p:sp>
        <p:nvSpPr>
          <p:cNvPr id="6" name="Date Placeholder 3">
            <a:extLst>
              <a:ext uri="{FF2B5EF4-FFF2-40B4-BE49-F238E27FC236}">
                <a16:creationId xmlns:a16="http://schemas.microsoft.com/office/drawing/2014/main" id="{B1EF7B6F-DA19-7CE0-A6CD-B36E81D000DD}"/>
              </a:ext>
            </a:extLst>
          </p:cNvPr>
          <p:cNvSpPr>
            <a:spLocks noGrp="1"/>
          </p:cNvSpPr>
          <p:nvPr/>
        </p:nvSpPr>
        <p:spPr>
          <a:xfrm>
            <a:off x="311785" y="4483735"/>
            <a:ext cx="212598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Date</a:t>
            </a:r>
          </a:p>
        </p:txBody>
      </p:sp>
      <p:sp>
        <p:nvSpPr>
          <p:cNvPr id="7" name="Footer Placeholder 4">
            <a:extLst>
              <a:ext uri="{FF2B5EF4-FFF2-40B4-BE49-F238E27FC236}">
                <a16:creationId xmlns:a16="http://schemas.microsoft.com/office/drawing/2014/main" id="{F3F5A94D-DFA7-B171-C9F4-58A1ACC907B5}"/>
              </a:ext>
            </a:extLst>
          </p:cNvPr>
          <p:cNvSpPr>
            <a:spLocks noGrp="1"/>
          </p:cNvSpPr>
          <p:nvPr/>
        </p:nvSpPr>
        <p:spPr>
          <a:xfrm>
            <a:off x="3512185" y="4483735"/>
            <a:ext cx="318833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RV COLLEGE OF ENGINEERING</a:t>
            </a:r>
          </a:p>
        </p:txBody>
      </p:sp>
      <p:sp>
        <p:nvSpPr>
          <p:cNvPr id="5" name="Title 4">
            <a:extLst>
              <a:ext uri="{FF2B5EF4-FFF2-40B4-BE49-F238E27FC236}">
                <a16:creationId xmlns:a16="http://schemas.microsoft.com/office/drawing/2014/main" id="{D5D8FDD3-A3F1-6282-9464-C2A8AABA7FB2}"/>
              </a:ext>
            </a:extLst>
          </p:cNvPr>
          <p:cNvSpPr>
            <a:spLocks noGrp="1"/>
          </p:cNvSpPr>
          <p:nvPr>
            <p:ph type="title"/>
          </p:nvPr>
        </p:nvSpPr>
        <p:spPr>
          <a:xfrm>
            <a:off x="2162014" y="207425"/>
            <a:ext cx="4538506" cy="397375"/>
          </a:xfrm>
          <a:noFill/>
          <a:ln>
            <a:noFill/>
          </a:ln>
        </p:spPr>
        <p:txBody>
          <a:bodyPr spcFirstLastPara="1" wrap="square" lIns="91425" tIns="91425" rIns="91425" bIns="91425" anchor="t" anchorCtr="0">
            <a:noAutofit/>
          </a:bodyPr>
          <a:lstStyle/>
          <a:p>
            <a:pPr algn="ctr"/>
            <a:r>
              <a:rPr lang="en-US" sz="2000" b="1" dirty="0">
                <a:solidFill>
                  <a:schemeClr val="accent1">
                    <a:lumMod val="50000"/>
                  </a:schemeClr>
                </a:solidFill>
                <a:latin typeface="Bookman Old Style" panose="02050604050505020204" pitchFamily="18" charset="0"/>
                <a:ea typeface="ＭＳ Ｐゴシック" panose="020B0600070205080204" pitchFamily="34" charset="-128"/>
              </a:rPr>
              <a:t>References</a:t>
            </a:r>
          </a:p>
        </p:txBody>
      </p:sp>
      <p:sp>
        <p:nvSpPr>
          <p:cNvPr id="3" name="Rectangle 1">
            <a:extLst>
              <a:ext uri="{FF2B5EF4-FFF2-40B4-BE49-F238E27FC236}">
                <a16:creationId xmlns:a16="http://schemas.microsoft.com/office/drawing/2014/main" id="{C17E4B02-83FD-DE28-F4E3-1E77FFDD9A4C}"/>
              </a:ext>
            </a:extLst>
          </p:cNvPr>
          <p:cNvSpPr>
            <a:spLocks noChangeArrowheads="1"/>
          </p:cNvSpPr>
          <p:nvPr/>
        </p:nvSpPr>
        <p:spPr bwMode="auto">
          <a:xfrm>
            <a:off x="285713" y="1290918"/>
            <a:ext cx="8646235" cy="2279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IN" sz="1200" dirty="0">
                <a:latin typeface="Calibri" panose="020F0502020204030204" pitchFamily="34" charset="0"/>
                <a:ea typeface="Calibri" panose="020F0502020204030204" pitchFamily="34" charset="0"/>
                <a:cs typeface="Calibri" panose="020F0502020204030204" pitchFamily="34" charset="0"/>
              </a:rPr>
              <a:t>[1] World Health Organization, </a:t>
            </a:r>
            <a:r>
              <a:rPr lang="en-IN" sz="1200" i="1" dirty="0">
                <a:latin typeface="Calibri" panose="020F0502020204030204" pitchFamily="34" charset="0"/>
                <a:ea typeface="Calibri" panose="020F0502020204030204" pitchFamily="34" charset="0"/>
                <a:cs typeface="Calibri" panose="020F0502020204030204" pitchFamily="34" charset="0"/>
              </a:rPr>
              <a:t>World Malaria Report 2023</a:t>
            </a:r>
            <a:r>
              <a:rPr lang="en-IN" sz="1200" dirty="0">
                <a:latin typeface="Calibri" panose="020F0502020204030204" pitchFamily="34" charset="0"/>
                <a:ea typeface="Calibri" panose="020F0502020204030204" pitchFamily="34" charset="0"/>
                <a:cs typeface="Calibri" panose="020F0502020204030204" pitchFamily="34" charset="0"/>
              </a:rPr>
              <a:t>, Geneva, Switzerland, 2023. </a:t>
            </a:r>
          </a:p>
          <a:p>
            <a:pPr>
              <a:lnSpc>
                <a:spcPct val="150000"/>
              </a:lnSpc>
            </a:pPr>
            <a:r>
              <a:rPr lang="en-IN" sz="1200" dirty="0">
                <a:latin typeface="Calibri" panose="020F0502020204030204" pitchFamily="34" charset="0"/>
                <a:ea typeface="Calibri" panose="020F0502020204030204" pitchFamily="34" charset="0"/>
                <a:cs typeface="Calibri" panose="020F0502020204030204" pitchFamily="34" charset="0"/>
              </a:rPr>
              <a:t>[2] Oracle Corporation, </a:t>
            </a:r>
            <a:r>
              <a:rPr lang="en-IN" sz="1200" i="1" dirty="0">
                <a:latin typeface="Calibri" panose="020F0502020204030204" pitchFamily="34" charset="0"/>
                <a:ea typeface="Calibri" panose="020F0502020204030204" pitchFamily="34" charset="0"/>
                <a:cs typeface="Calibri" panose="020F0502020204030204" pitchFamily="34" charset="0"/>
              </a:rPr>
              <a:t>MySQL Reference Manual</a:t>
            </a:r>
            <a:r>
              <a:rPr lang="en-IN" sz="1200" dirty="0">
                <a:latin typeface="Calibri" panose="020F0502020204030204" pitchFamily="34" charset="0"/>
                <a:ea typeface="Calibri" panose="020F0502020204030204" pitchFamily="34" charset="0"/>
                <a:cs typeface="Calibri" panose="020F0502020204030204" pitchFamily="34" charset="0"/>
              </a:rPr>
              <a:t>, Oracle Documentation, 2023. </a:t>
            </a:r>
          </a:p>
          <a:p>
            <a:pPr>
              <a:lnSpc>
                <a:spcPct val="150000"/>
              </a:lnSpc>
            </a:pPr>
            <a:r>
              <a:rPr lang="en-IN" sz="1200" dirty="0">
                <a:latin typeface="Calibri" panose="020F0502020204030204" pitchFamily="34" charset="0"/>
                <a:ea typeface="Calibri" panose="020F0502020204030204" pitchFamily="34" charset="0"/>
                <a:cs typeface="Calibri" panose="020F0502020204030204" pitchFamily="34" charset="0"/>
              </a:rPr>
              <a:t>[3] R. Sharma and A. Gupta, “Convolutional Neural Networks for Healthcare Image Classification,” </a:t>
            </a:r>
            <a:r>
              <a:rPr lang="en-IN" sz="1200" i="1" dirty="0">
                <a:latin typeface="Calibri" panose="020F0502020204030204" pitchFamily="34" charset="0"/>
                <a:ea typeface="Calibri" panose="020F0502020204030204" pitchFamily="34" charset="0"/>
                <a:cs typeface="Calibri" panose="020F0502020204030204" pitchFamily="34" charset="0"/>
              </a:rPr>
              <a:t>International Journal of Medical Informatics</a:t>
            </a:r>
            <a:r>
              <a:rPr lang="en-IN" sz="1200" dirty="0">
                <a:latin typeface="Calibri" panose="020F0502020204030204" pitchFamily="34" charset="0"/>
                <a:ea typeface="Calibri" panose="020F0502020204030204" pitchFamily="34" charset="0"/>
                <a:cs typeface="Calibri" panose="020F0502020204030204" pitchFamily="34" charset="0"/>
              </a:rPr>
              <a:t>, vol. 171, p. 104970, 2023. </a:t>
            </a:r>
          </a:p>
          <a:p>
            <a:pPr>
              <a:lnSpc>
                <a:spcPct val="150000"/>
              </a:lnSpc>
            </a:pPr>
            <a:r>
              <a:rPr lang="en-IN" sz="1200" dirty="0">
                <a:latin typeface="Calibri" panose="020F0502020204030204" pitchFamily="34" charset="0"/>
                <a:ea typeface="Calibri" panose="020F0502020204030204" pitchFamily="34" charset="0"/>
                <a:cs typeface="Calibri" panose="020F0502020204030204" pitchFamily="34" charset="0"/>
              </a:rPr>
              <a:t>[4] </a:t>
            </a:r>
            <a:r>
              <a:rPr lang="en-IN" sz="1200" dirty="0" err="1">
                <a:latin typeface="Calibri" panose="020F0502020204030204" pitchFamily="34" charset="0"/>
                <a:ea typeface="Calibri" panose="020F0502020204030204" pitchFamily="34" charset="0"/>
                <a:cs typeface="Calibri" panose="020F0502020204030204" pitchFamily="34" charset="0"/>
              </a:rPr>
              <a:t>Centers</a:t>
            </a:r>
            <a:r>
              <a:rPr lang="en-IN" sz="1200" dirty="0">
                <a:latin typeface="Calibri" panose="020F0502020204030204" pitchFamily="34" charset="0"/>
                <a:ea typeface="Calibri" panose="020F0502020204030204" pitchFamily="34" charset="0"/>
                <a:cs typeface="Calibri" panose="020F0502020204030204" pitchFamily="34" charset="0"/>
              </a:rPr>
              <a:t> for Disease Control and Prevention, </a:t>
            </a:r>
            <a:r>
              <a:rPr lang="en-IN" sz="1200" i="1" dirty="0">
                <a:latin typeface="Calibri" panose="020F0502020204030204" pitchFamily="34" charset="0"/>
                <a:ea typeface="Calibri" panose="020F0502020204030204" pitchFamily="34" charset="0"/>
                <a:cs typeface="Calibri" panose="020F0502020204030204" pitchFamily="34" charset="0"/>
              </a:rPr>
              <a:t>Malaria Diagnosis and Treatment Guidelines</a:t>
            </a:r>
            <a:r>
              <a:rPr lang="en-IN" sz="1200" dirty="0">
                <a:latin typeface="Calibri" panose="020F0502020204030204" pitchFamily="34" charset="0"/>
                <a:ea typeface="Calibri" panose="020F0502020204030204" pitchFamily="34" charset="0"/>
                <a:cs typeface="Calibri" panose="020F0502020204030204" pitchFamily="34" charset="0"/>
              </a:rPr>
              <a:t>, CDC Health Reports, 2022. </a:t>
            </a:r>
          </a:p>
          <a:p>
            <a:pPr>
              <a:lnSpc>
                <a:spcPct val="150000"/>
              </a:lnSpc>
            </a:pPr>
            <a:r>
              <a:rPr lang="en-IN" sz="1200" dirty="0">
                <a:latin typeface="Calibri" panose="020F0502020204030204" pitchFamily="34" charset="0"/>
                <a:ea typeface="Calibri" panose="020F0502020204030204" pitchFamily="34" charset="0"/>
                <a:cs typeface="Calibri" panose="020F0502020204030204" pitchFamily="34" charset="0"/>
              </a:rPr>
              <a:t>[5] A. Esteva and A. </a:t>
            </a:r>
            <a:r>
              <a:rPr lang="en-IN" sz="1200" dirty="0" err="1">
                <a:latin typeface="Calibri" panose="020F0502020204030204" pitchFamily="34" charset="0"/>
                <a:ea typeface="Calibri" panose="020F0502020204030204" pitchFamily="34" charset="0"/>
                <a:cs typeface="Calibri" panose="020F0502020204030204" pitchFamily="34" charset="0"/>
              </a:rPr>
              <a:t>Robicquet</a:t>
            </a:r>
            <a:r>
              <a:rPr lang="en-IN" sz="1200" dirty="0">
                <a:latin typeface="Calibri" panose="020F0502020204030204" pitchFamily="34" charset="0"/>
                <a:ea typeface="Calibri" panose="020F0502020204030204" pitchFamily="34" charset="0"/>
                <a:cs typeface="Calibri" panose="020F0502020204030204" pitchFamily="34" charset="0"/>
              </a:rPr>
              <a:t>, “A Guide to Deep Learning in Healthcare,” </a:t>
            </a:r>
            <a:r>
              <a:rPr lang="en-IN" sz="1200" i="1" dirty="0">
                <a:latin typeface="Calibri" panose="020F0502020204030204" pitchFamily="34" charset="0"/>
                <a:ea typeface="Calibri" panose="020F0502020204030204" pitchFamily="34" charset="0"/>
                <a:cs typeface="Calibri" panose="020F0502020204030204" pitchFamily="34" charset="0"/>
              </a:rPr>
              <a:t>Nature Medicine</a:t>
            </a:r>
            <a:r>
              <a:rPr lang="en-IN" sz="1200" dirty="0">
                <a:latin typeface="Calibri" panose="020F0502020204030204" pitchFamily="34" charset="0"/>
                <a:ea typeface="Calibri" panose="020F0502020204030204" pitchFamily="34" charset="0"/>
                <a:cs typeface="Calibri" panose="020F0502020204030204" pitchFamily="34" charset="0"/>
              </a:rPr>
              <a:t>, vol. 25, no. 1, pp. 24–29, 2021. </a:t>
            </a:r>
          </a:p>
          <a:p>
            <a:pPr>
              <a:lnSpc>
                <a:spcPct val="150000"/>
              </a:lnSpc>
            </a:pPr>
            <a:r>
              <a:rPr lang="en-IN" sz="1200" dirty="0">
                <a:latin typeface="Calibri" panose="020F0502020204030204" pitchFamily="34" charset="0"/>
                <a:ea typeface="Calibri" panose="020F0502020204030204" pitchFamily="34" charset="0"/>
                <a:cs typeface="Calibri" panose="020F0502020204030204" pitchFamily="34" charset="0"/>
              </a:rPr>
              <a:t>[6] C. Tan, F. Sun, and T. Kong, “A Survey on Deep Transfer Learning,” </a:t>
            </a:r>
            <a:r>
              <a:rPr lang="en-IN" sz="1200" i="1" dirty="0">
                <a:latin typeface="Calibri" panose="020F0502020204030204" pitchFamily="34" charset="0"/>
                <a:ea typeface="Calibri" panose="020F0502020204030204" pitchFamily="34" charset="0"/>
                <a:cs typeface="Calibri" panose="020F0502020204030204" pitchFamily="34" charset="0"/>
              </a:rPr>
              <a:t>Artificial Neural Networks and Machine Learning</a:t>
            </a:r>
            <a:r>
              <a:rPr lang="en-IN" sz="1200" dirty="0">
                <a:latin typeface="Calibri" panose="020F0502020204030204" pitchFamily="34" charset="0"/>
                <a:ea typeface="Calibri" panose="020F0502020204030204" pitchFamily="34" charset="0"/>
                <a:cs typeface="Calibri" panose="020F0502020204030204" pitchFamily="34" charset="0"/>
              </a:rPr>
              <a:t>, pp. 270–279, 2020. </a:t>
            </a:r>
          </a:p>
        </p:txBody>
      </p:sp>
    </p:spTree>
    <p:extLst>
      <p:ext uri="{BB962C8B-B14F-4D97-AF65-F5344CB8AC3E}">
        <p14:creationId xmlns:p14="http://schemas.microsoft.com/office/powerpoint/2010/main" val="29929545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59">
          <a:extLst>
            <a:ext uri="{FF2B5EF4-FFF2-40B4-BE49-F238E27FC236}">
              <a16:creationId xmlns:a16="http://schemas.microsoft.com/office/drawing/2014/main" id="{A9FC2F7C-E3DA-65BE-4561-E4F0AD63C3B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39143FB-94C1-D846-916B-178E3568991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29</a:t>
            </a:fld>
            <a:endParaRPr lang="en-GB"/>
          </a:p>
        </p:txBody>
      </p:sp>
      <p:sp>
        <p:nvSpPr>
          <p:cNvPr id="6" name="Date Placeholder 3">
            <a:extLst>
              <a:ext uri="{FF2B5EF4-FFF2-40B4-BE49-F238E27FC236}">
                <a16:creationId xmlns:a16="http://schemas.microsoft.com/office/drawing/2014/main" id="{D49B0851-3108-38D5-ACCA-23B3B7956497}"/>
              </a:ext>
            </a:extLst>
          </p:cNvPr>
          <p:cNvSpPr>
            <a:spLocks noGrp="1"/>
          </p:cNvSpPr>
          <p:nvPr/>
        </p:nvSpPr>
        <p:spPr>
          <a:xfrm>
            <a:off x="311785" y="4483735"/>
            <a:ext cx="212598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Date</a:t>
            </a:r>
          </a:p>
        </p:txBody>
      </p:sp>
      <p:sp>
        <p:nvSpPr>
          <p:cNvPr id="7" name="Footer Placeholder 4">
            <a:extLst>
              <a:ext uri="{FF2B5EF4-FFF2-40B4-BE49-F238E27FC236}">
                <a16:creationId xmlns:a16="http://schemas.microsoft.com/office/drawing/2014/main" id="{B8D57A6C-14AA-60F1-B27F-02626C3FCE6F}"/>
              </a:ext>
            </a:extLst>
          </p:cNvPr>
          <p:cNvSpPr>
            <a:spLocks noGrp="1"/>
          </p:cNvSpPr>
          <p:nvPr/>
        </p:nvSpPr>
        <p:spPr>
          <a:xfrm>
            <a:off x="3512185" y="4483735"/>
            <a:ext cx="318833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RV COLLEGE OF ENGINEERING</a:t>
            </a:r>
          </a:p>
        </p:txBody>
      </p:sp>
      <p:sp>
        <p:nvSpPr>
          <p:cNvPr id="5" name="Title 4">
            <a:extLst>
              <a:ext uri="{FF2B5EF4-FFF2-40B4-BE49-F238E27FC236}">
                <a16:creationId xmlns:a16="http://schemas.microsoft.com/office/drawing/2014/main" id="{F4B8B276-4C1E-989C-FF69-EA73E9F03C53}"/>
              </a:ext>
            </a:extLst>
          </p:cNvPr>
          <p:cNvSpPr>
            <a:spLocks noGrp="1"/>
          </p:cNvSpPr>
          <p:nvPr>
            <p:ph type="title"/>
          </p:nvPr>
        </p:nvSpPr>
        <p:spPr>
          <a:xfrm>
            <a:off x="2162014" y="207425"/>
            <a:ext cx="4538506" cy="397375"/>
          </a:xfrm>
          <a:noFill/>
          <a:ln>
            <a:noFill/>
          </a:ln>
        </p:spPr>
        <p:txBody>
          <a:bodyPr spcFirstLastPara="1" wrap="square" lIns="91425" tIns="91425" rIns="91425" bIns="91425" anchor="t" anchorCtr="0">
            <a:noAutofit/>
          </a:bodyPr>
          <a:lstStyle/>
          <a:p>
            <a:pPr algn="ctr"/>
            <a:r>
              <a:rPr lang="en-US" sz="2000" b="1" dirty="0">
                <a:solidFill>
                  <a:schemeClr val="accent1">
                    <a:lumMod val="50000"/>
                  </a:schemeClr>
                </a:solidFill>
                <a:latin typeface="Bookman Old Style" panose="02050604050505020204" pitchFamily="18" charset="0"/>
                <a:ea typeface="ＭＳ Ｐゴシック" panose="020B0600070205080204" pitchFamily="34" charset="-128"/>
              </a:rPr>
              <a:t>References</a:t>
            </a:r>
          </a:p>
        </p:txBody>
      </p:sp>
      <p:sp>
        <p:nvSpPr>
          <p:cNvPr id="3" name="Rectangle 1">
            <a:extLst>
              <a:ext uri="{FF2B5EF4-FFF2-40B4-BE49-F238E27FC236}">
                <a16:creationId xmlns:a16="http://schemas.microsoft.com/office/drawing/2014/main" id="{9E983556-07C2-FA4A-774D-0E259AB5600D}"/>
              </a:ext>
            </a:extLst>
          </p:cNvPr>
          <p:cNvSpPr>
            <a:spLocks noChangeArrowheads="1"/>
          </p:cNvSpPr>
          <p:nvPr/>
        </p:nvSpPr>
        <p:spPr bwMode="auto">
          <a:xfrm>
            <a:off x="285713" y="1290918"/>
            <a:ext cx="8646235" cy="2279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IN" sz="1200" dirty="0">
                <a:latin typeface="Calibri" panose="020F0502020204030204" pitchFamily="34" charset="0"/>
                <a:ea typeface="Calibri" panose="020F0502020204030204" pitchFamily="34" charset="0"/>
                <a:cs typeface="Calibri" panose="020F0502020204030204" pitchFamily="34" charset="0"/>
              </a:rPr>
              <a:t>[7] S. Rajaraman and S. Antani, “Pre-trained Convolutional Neural Networks as Feature Extractors Toward Improved Malaria Parasite Detection in Thin Blood Smear Images,” </a:t>
            </a:r>
            <a:r>
              <a:rPr lang="en-IN" sz="1200" i="1" dirty="0" err="1">
                <a:latin typeface="Calibri" panose="020F0502020204030204" pitchFamily="34" charset="0"/>
                <a:ea typeface="Calibri" panose="020F0502020204030204" pitchFamily="34" charset="0"/>
                <a:cs typeface="Calibri" panose="020F0502020204030204" pitchFamily="34" charset="0"/>
              </a:rPr>
              <a:t>PeerJ</a:t>
            </a:r>
            <a:r>
              <a:rPr lang="en-IN" sz="1200" dirty="0">
                <a:latin typeface="Calibri" panose="020F0502020204030204" pitchFamily="34" charset="0"/>
                <a:ea typeface="Calibri" panose="020F0502020204030204" pitchFamily="34" charset="0"/>
                <a:cs typeface="Calibri" panose="020F0502020204030204" pitchFamily="34" charset="0"/>
              </a:rPr>
              <a:t>, vol. 6, p. e4568, 2018. </a:t>
            </a:r>
          </a:p>
          <a:p>
            <a:pPr>
              <a:lnSpc>
                <a:spcPct val="150000"/>
              </a:lnSpc>
            </a:pPr>
            <a:r>
              <a:rPr lang="en-IN" sz="1200" dirty="0">
                <a:latin typeface="Calibri" panose="020F0502020204030204" pitchFamily="34" charset="0"/>
                <a:ea typeface="Calibri" panose="020F0502020204030204" pitchFamily="34" charset="0"/>
                <a:cs typeface="Calibri" panose="020F0502020204030204" pitchFamily="34" charset="0"/>
              </a:rPr>
              <a:t>[8] D. Bibin, M. S. Nair, and P. Punitha, “Malaria Parasite Detection from Peripheral Blood Smear Images Using Deep Belief Networks,” </a:t>
            </a:r>
            <a:r>
              <a:rPr lang="en-IN" sz="1200" i="1" dirty="0">
                <a:latin typeface="Calibri" panose="020F0502020204030204" pitchFamily="34" charset="0"/>
                <a:ea typeface="Calibri" panose="020F0502020204030204" pitchFamily="34" charset="0"/>
                <a:cs typeface="Calibri" panose="020F0502020204030204" pitchFamily="34" charset="0"/>
              </a:rPr>
              <a:t>IEEE Access</a:t>
            </a:r>
            <a:r>
              <a:rPr lang="en-IN" sz="1200" dirty="0">
                <a:latin typeface="Calibri" panose="020F0502020204030204" pitchFamily="34" charset="0"/>
                <a:ea typeface="Calibri" panose="020F0502020204030204" pitchFamily="34" charset="0"/>
                <a:cs typeface="Calibri" panose="020F0502020204030204" pitchFamily="34" charset="0"/>
              </a:rPr>
              <a:t>, vol. 5, pp. 9099–9108, 2017. </a:t>
            </a:r>
          </a:p>
          <a:p>
            <a:pPr>
              <a:lnSpc>
                <a:spcPct val="150000"/>
              </a:lnSpc>
            </a:pPr>
            <a:r>
              <a:rPr lang="en-IN" sz="1200" dirty="0">
                <a:latin typeface="Calibri" panose="020F0502020204030204" pitchFamily="34" charset="0"/>
                <a:ea typeface="Calibri" panose="020F0502020204030204" pitchFamily="34" charset="0"/>
                <a:cs typeface="Calibri" panose="020F0502020204030204" pitchFamily="34" charset="0"/>
              </a:rPr>
              <a:t>[9] K. Simonyan and A. Zisserman, “Very Deep Convolutional Networks for Large-Scale Image Recognition,” </a:t>
            </a:r>
            <a:r>
              <a:rPr lang="en-IN" sz="1200" i="1" dirty="0">
                <a:latin typeface="Calibri" panose="020F0502020204030204" pitchFamily="34" charset="0"/>
                <a:ea typeface="Calibri" panose="020F0502020204030204" pitchFamily="34" charset="0"/>
                <a:cs typeface="Calibri" panose="020F0502020204030204" pitchFamily="34" charset="0"/>
              </a:rPr>
              <a:t>International Conference on Learning Representations (ICLR)</a:t>
            </a:r>
            <a:r>
              <a:rPr lang="en-IN" sz="1200" dirty="0">
                <a:latin typeface="Calibri" panose="020F0502020204030204" pitchFamily="34" charset="0"/>
                <a:ea typeface="Calibri" panose="020F0502020204030204" pitchFamily="34" charset="0"/>
                <a:cs typeface="Calibri" panose="020F0502020204030204" pitchFamily="34" charset="0"/>
              </a:rPr>
              <a:t>, 2015. </a:t>
            </a:r>
          </a:p>
          <a:p>
            <a:pPr>
              <a:lnSpc>
                <a:spcPct val="150000"/>
              </a:lnSpc>
            </a:pPr>
            <a:r>
              <a:rPr lang="en-IN" sz="1200" dirty="0">
                <a:latin typeface="Calibri" panose="020F0502020204030204" pitchFamily="34" charset="0"/>
                <a:ea typeface="Calibri" panose="020F0502020204030204" pitchFamily="34" charset="0"/>
                <a:cs typeface="Calibri" panose="020F0502020204030204" pitchFamily="34" charset="0"/>
              </a:rPr>
              <a:t>[10] A. </a:t>
            </a:r>
            <a:r>
              <a:rPr lang="en-IN" sz="1200" dirty="0" err="1">
                <a:latin typeface="Calibri" panose="020F0502020204030204" pitchFamily="34" charset="0"/>
                <a:ea typeface="Calibri" panose="020F0502020204030204" pitchFamily="34" charset="0"/>
                <a:cs typeface="Calibri" panose="020F0502020204030204" pitchFamily="34" charset="0"/>
              </a:rPr>
              <a:t>Krizhevsky</a:t>
            </a:r>
            <a:r>
              <a:rPr lang="en-IN" sz="1200" dirty="0">
                <a:latin typeface="Calibri" panose="020F0502020204030204" pitchFamily="34" charset="0"/>
                <a:ea typeface="Calibri" panose="020F0502020204030204" pitchFamily="34" charset="0"/>
                <a:cs typeface="Calibri" panose="020F0502020204030204" pitchFamily="34" charset="0"/>
              </a:rPr>
              <a:t>, I. </a:t>
            </a:r>
            <a:r>
              <a:rPr lang="en-IN" sz="1200" dirty="0" err="1">
                <a:latin typeface="Calibri" panose="020F0502020204030204" pitchFamily="34" charset="0"/>
                <a:ea typeface="Calibri" panose="020F0502020204030204" pitchFamily="34" charset="0"/>
                <a:cs typeface="Calibri" panose="020F0502020204030204" pitchFamily="34" charset="0"/>
              </a:rPr>
              <a:t>Sutskever</a:t>
            </a:r>
            <a:r>
              <a:rPr lang="en-IN" sz="1200" dirty="0">
                <a:latin typeface="Calibri" panose="020F0502020204030204" pitchFamily="34" charset="0"/>
                <a:ea typeface="Calibri" panose="020F0502020204030204" pitchFamily="34" charset="0"/>
                <a:cs typeface="Calibri" panose="020F0502020204030204" pitchFamily="34" charset="0"/>
              </a:rPr>
              <a:t>, and G. Hinton, “ImageNet Classification with Deep Convolutional Neural Networks,” </a:t>
            </a:r>
            <a:r>
              <a:rPr lang="en-IN" sz="1200" i="1" dirty="0">
                <a:latin typeface="Calibri" panose="020F0502020204030204" pitchFamily="34" charset="0"/>
                <a:ea typeface="Calibri" panose="020F0502020204030204" pitchFamily="34" charset="0"/>
                <a:cs typeface="Calibri" panose="020F0502020204030204" pitchFamily="34" charset="0"/>
              </a:rPr>
              <a:t>Advances in Neural Information Processing Systems (</a:t>
            </a:r>
            <a:r>
              <a:rPr lang="en-IN" sz="1200" i="1" dirty="0" err="1">
                <a:latin typeface="Calibri" panose="020F0502020204030204" pitchFamily="34" charset="0"/>
                <a:ea typeface="Calibri" panose="020F0502020204030204" pitchFamily="34" charset="0"/>
                <a:cs typeface="Calibri" panose="020F0502020204030204" pitchFamily="34" charset="0"/>
              </a:rPr>
              <a:t>NeurIPS</a:t>
            </a:r>
            <a:r>
              <a:rPr lang="en-IN" sz="1200" i="1" dirty="0">
                <a:latin typeface="Calibri" panose="020F0502020204030204" pitchFamily="34" charset="0"/>
                <a:ea typeface="Calibri" panose="020F0502020204030204" pitchFamily="34" charset="0"/>
                <a:cs typeface="Calibri" panose="020F0502020204030204" pitchFamily="34" charset="0"/>
              </a:rPr>
              <a:t>)</a:t>
            </a:r>
            <a:r>
              <a:rPr lang="en-IN" sz="1200" dirty="0">
                <a:latin typeface="Calibri" panose="020F0502020204030204" pitchFamily="34" charset="0"/>
                <a:ea typeface="Calibri" panose="020F0502020204030204" pitchFamily="34" charset="0"/>
                <a:cs typeface="Calibri" panose="020F0502020204030204" pitchFamily="34" charset="0"/>
              </a:rPr>
              <a:t>, vol. 25, 2012. </a:t>
            </a:r>
          </a:p>
        </p:txBody>
      </p:sp>
    </p:spTree>
    <p:extLst>
      <p:ext uri="{BB962C8B-B14F-4D97-AF65-F5344CB8AC3E}">
        <p14:creationId xmlns:p14="http://schemas.microsoft.com/office/powerpoint/2010/main" val="32754118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59"/>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30</a:t>
            </a:fld>
            <a:endParaRPr lang="en-GB"/>
          </a:p>
        </p:txBody>
      </p:sp>
      <p:sp>
        <p:nvSpPr>
          <p:cNvPr id="6" name="Date Placeholder 3"/>
          <p:cNvSpPr>
            <a:spLocks noGrp="1"/>
          </p:cNvSpPr>
          <p:nvPr/>
        </p:nvSpPr>
        <p:spPr>
          <a:xfrm>
            <a:off x="311785" y="4483735"/>
            <a:ext cx="212598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Date</a:t>
            </a:r>
          </a:p>
        </p:txBody>
      </p:sp>
      <p:sp>
        <p:nvSpPr>
          <p:cNvPr id="7" name="Footer Placeholder 4"/>
          <p:cNvSpPr>
            <a:spLocks noGrp="1"/>
          </p:cNvSpPr>
          <p:nvPr/>
        </p:nvSpPr>
        <p:spPr>
          <a:xfrm>
            <a:off x="3512185" y="4483735"/>
            <a:ext cx="318833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RV COLLEGE OF ENGINEERING</a:t>
            </a:r>
          </a:p>
        </p:txBody>
      </p:sp>
      <p:sp>
        <p:nvSpPr>
          <p:cNvPr id="13" name="TextBox 12">
            <a:extLst>
              <a:ext uri="{FF2B5EF4-FFF2-40B4-BE49-F238E27FC236}">
                <a16:creationId xmlns:a16="http://schemas.microsoft.com/office/drawing/2014/main" id="{76BC31C8-2690-D15E-DF15-7B64E35974DA}"/>
              </a:ext>
            </a:extLst>
          </p:cNvPr>
          <p:cNvSpPr txBox="1"/>
          <p:nvPr/>
        </p:nvSpPr>
        <p:spPr>
          <a:xfrm>
            <a:off x="3512185" y="2080800"/>
            <a:ext cx="3732677" cy="648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a:buClr>
                <a:schemeClr val="dk1"/>
              </a:buClr>
              <a:buSzPts val="2800"/>
              <a:buNone/>
              <a:defRPr i="1">
                <a:solidFill>
                  <a:schemeClr val="accent1">
                    <a:lumMod val="50000"/>
                  </a:schemeClr>
                </a:solidFill>
                <a:latin typeface="Playfair Display" panose="00000500000000000000" pitchFamily="2" charset="0"/>
                <a:ea typeface="ＭＳ Ｐゴシック" panose="020B0600070205080204" pitchFamily="34" charset="-128"/>
              </a:defRPr>
            </a:lvl1pPr>
            <a:lvl2pPr>
              <a:buClr>
                <a:schemeClr val="dk1"/>
              </a:buClr>
              <a:buSzPts val="2800"/>
              <a:buNone/>
              <a:defRPr sz="2800">
                <a:solidFill>
                  <a:schemeClr val="dk1"/>
                </a:solidFill>
              </a:defRPr>
            </a:lvl2pPr>
            <a:lvl3pPr>
              <a:buClr>
                <a:schemeClr val="dk1"/>
              </a:buClr>
              <a:buSzPts val="2800"/>
              <a:buNone/>
              <a:defRPr sz="2800">
                <a:solidFill>
                  <a:schemeClr val="dk1"/>
                </a:solidFill>
              </a:defRPr>
            </a:lvl3pPr>
            <a:lvl4pPr>
              <a:buClr>
                <a:schemeClr val="dk1"/>
              </a:buClr>
              <a:buSzPts val="2800"/>
              <a:buNone/>
              <a:defRPr sz="2800">
                <a:solidFill>
                  <a:schemeClr val="dk1"/>
                </a:solidFill>
              </a:defRPr>
            </a:lvl4pPr>
            <a:lvl5pPr>
              <a:buClr>
                <a:schemeClr val="dk1"/>
              </a:buClr>
              <a:buSzPts val="2800"/>
              <a:buNone/>
              <a:defRPr sz="2800">
                <a:solidFill>
                  <a:schemeClr val="dk1"/>
                </a:solidFill>
              </a:defRPr>
            </a:lvl5pPr>
            <a:lvl6pPr>
              <a:buClr>
                <a:schemeClr val="dk1"/>
              </a:buClr>
              <a:buSzPts val="2800"/>
              <a:buNone/>
              <a:defRPr sz="2800">
                <a:solidFill>
                  <a:schemeClr val="dk1"/>
                </a:solidFill>
              </a:defRPr>
            </a:lvl6pPr>
            <a:lvl7pPr>
              <a:buClr>
                <a:schemeClr val="dk1"/>
              </a:buClr>
              <a:buSzPts val="2800"/>
              <a:buNone/>
              <a:defRPr sz="2800">
                <a:solidFill>
                  <a:schemeClr val="dk1"/>
                </a:solidFill>
              </a:defRPr>
            </a:lvl7pPr>
            <a:lvl8pPr>
              <a:buClr>
                <a:schemeClr val="dk1"/>
              </a:buClr>
              <a:buSzPts val="2800"/>
              <a:buNone/>
              <a:defRPr sz="2800">
                <a:solidFill>
                  <a:schemeClr val="dk1"/>
                </a:solidFill>
              </a:defRPr>
            </a:lvl8pPr>
            <a:lvl9pPr>
              <a:buClr>
                <a:schemeClr val="dk1"/>
              </a:buClr>
              <a:buSzPts val="2800"/>
              <a:buNone/>
              <a:defRPr sz="2800">
                <a:solidFill>
                  <a:schemeClr val="dk1"/>
                </a:solidFill>
              </a:defRPr>
            </a:lvl9pPr>
          </a:lstStyle>
          <a:p>
            <a:r>
              <a:rPr lang="en-IN" sz="3600" b="1" dirty="0">
                <a:latin typeface="Bookman Old Style" panose="02050604050505020204" pitchFamily="18" charset="0"/>
              </a:rPr>
              <a:t>Thank you</a:t>
            </a:r>
          </a:p>
        </p:txBody>
      </p:sp>
    </p:spTree>
    <p:extLst>
      <p:ext uri="{BB962C8B-B14F-4D97-AF65-F5344CB8AC3E}">
        <p14:creationId xmlns:p14="http://schemas.microsoft.com/office/powerpoint/2010/main" val="28813491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themeOverride>
</file>

<file path=docProps/app.xml><?xml version="1.0" encoding="utf-8"?>
<Properties xmlns="http://schemas.openxmlformats.org/officeDocument/2006/extended-properties" xmlns:vt="http://schemas.openxmlformats.org/officeDocument/2006/docPropsVTypes">
  <Template/>
  <TotalTime>1979</TotalTime>
  <Words>1846</Words>
  <Application>Microsoft Office PowerPoint</Application>
  <PresentationFormat>On-screen Show (16:9)</PresentationFormat>
  <Paragraphs>275</Paragraphs>
  <Slides>30</Slides>
  <Notes>30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Arial</vt:lpstr>
      <vt:lpstr>Bookman Old Style</vt:lpstr>
      <vt:lpstr>Calibri</vt:lpstr>
      <vt:lpstr>Helvetica-Bold</vt:lpstr>
      <vt:lpstr>Times New Roman</vt:lpstr>
      <vt:lpstr>Times New Roman </vt:lpstr>
      <vt:lpstr>Wingdings</vt:lpstr>
      <vt:lpstr>Simple Light</vt:lpstr>
      <vt:lpstr>PowerPoint Presentation</vt:lpstr>
      <vt:lpstr>PowerPoint Presentation</vt:lpstr>
      <vt:lpstr>Agenda</vt:lpstr>
      <vt:lpstr>Introduction</vt:lpstr>
      <vt:lpstr>Literature Review </vt:lpstr>
      <vt:lpstr>Literature Review </vt:lpstr>
      <vt:lpstr>Motivation</vt:lpstr>
      <vt:lpstr>Problem Statement</vt:lpstr>
      <vt:lpstr>Objectives</vt:lpstr>
      <vt:lpstr>Specifications</vt:lpstr>
      <vt:lpstr>Dataset</vt:lpstr>
      <vt:lpstr>Design Methodology</vt:lpstr>
      <vt:lpstr>Design Methodology</vt:lpstr>
      <vt:lpstr>Implementation and Testing</vt:lpstr>
      <vt:lpstr>Implementation and Testing</vt:lpstr>
      <vt:lpstr>Implementation and Testing</vt:lpstr>
      <vt:lpstr>Implementation and Testing</vt:lpstr>
      <vt:lpstr>Implementation and Testing</vt:lpstr>
      <vt:lpstr>Implementation and Testing</vt:lpstr>
      <vt:lpstr>Results, Analysis and Discussion</vt:lpstr>
      <vt:lpstr>Demo of the Project</vt:lpstr>
      <vt:lpstr>Results, Analysis and Discussion</vt:lpstr>
      <vt:lpstr>Results, Analysis and Discussion</vt:lpstr>
      <vt:lpstr>Results, Analysis and Discussion</vt:lpstr>
      <vt:lpstr>Results, Analysis and Discussion</vt:lpstr>
      <vt:lpstr>Results, Analysis and Discussion</vt:lpstr>
      <vt:lpstr>SDG Mapping</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Neethu Sreekumar</dc:creator>
  <cp:lastModifiedBy>Aravind Ajay</cp:lastModifiedBy>
  <cp:revision>539</cp:revision>
  <cp:lastPrinted>2024-02-08T09:21:00Z</cp:lastPrinted>
  <dcterms:created xsi:type="dcterms:W3CDTF">2024-02-20T06:21:43Z</dcterms:created>
  <dcterms:modified xsi:type="dcterms:W3CDTF">2026-06-08T01:20:38Z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709A11875FBE42968DB8B6F8F2D46D71_13</vt:lpwstr>
  </property>
  <property fmtid="{D5CDD505-2E9C-101B-9397-08002B2CF9AE}" pid="3" name="KSOProductBuildVer">
    <vt:lpwstr>1033-12.2.0.13431</vt:lpwstr>
  </property>
</Properties>
</file>