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11"/>
  </p:notesMasterIdLst>
  <p:sldIdLst>
    <p:sldId id="256" r:id="rId2"/>
    <p:sldId id="296" r:id="rId3"/>
    <p:sldId id="316" r:id="rId4"/>
    <p:sldId id="309" r:id="rId5"/>
    <p:sldId id="310" r:id="rId6"/>
    <p:sldId id="311" r:id="rId7"/>
    <p:sldId id="312" r:id="rId8"/>
    <p:sldId id="317" r:id="rId9"/>
    <p:sldId id="315" r:id="rId10"/>
  </p:sldIdLst>
  <p:sldSz cx="9144000" cy="5143500" type="screen16x9"/>
  <p:notesSz cx="7102475" cy="938847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87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40" autoAdjust="0"/>
    <p:restoredTop sz="94226" autoAdjust="0"/>
  </p:normalViewPr>
  <p:slideViewPr>
    <p:cSldViewPr snapToGrid="0" showGuides="1">
      <p:cViewPr varScale="1">
        <p:scale>
          <a:sx n="82" d="100"/>
          <a:sy n="82" d="100"/>
        </p:scale>
        <p:origin x="716" y="52"/>
      </p:cViewPr>
      <p:guideLst>
        <p:guide orient="horz" pos="158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704850"/>
            <a:ext cx="6256337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94213" rIns="94213" bIns="94213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bea9cbfd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bea9cbfd3_0_2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CC13BC24-EA1B-312A-0974-AA9B951F0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bea9cbfd3_0_2:notes">
            <a:extLst>
              <a:ext uri="{FF2B5EF4-FFF2-40B4-BE49-F238E27FC236}">
                <a16:creationId xmlns:a16="http://schemas.microsoft.com/office/drawing/2014/main" id="{09A3E086-C7C4-C0F8-5208-1C4B53CB1E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bea9cbfd3_0_2:notes">
            <a:extLst>
              <a:ext uri="{FF2B5EF4-FFF2-40B4-BE49-F238E27FC236}">
                <a16:creationId xmlns:a16="http://schemas.microsoft.com/office/drawing/2014/main" id="{BF56C57D-6EC5-B462-F010-8CA5738226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7624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bea9cbfd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bea9cbfd3_0_2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06676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bea9cbfd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bea9cbfd3_0_2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8306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bea9cbfd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bea9cbfd3_0_2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00603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bea9cbfd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bea9cbfd3_0_2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1071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A8748E06-0F49-3990-FEF4-1E9BD43D1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bea9cbfd3_0_2:notes">
            <a:extLst>
              <a:ext uri="{FF2B5EF4-FFF2-40B4-BE49-F238E27FC236}">
                <a16:creationId xmlns:a16="http://schemas.microsoft.com/office/drawing/2014/main" id="{3816C6B8-E030-446D-4B57-C148ADD729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bea9cbfd3_0_2:notes">
            <a:extLst>
              <a:ext uri="{FF2B5EF4-FFF2-40B4-BE49-F238E27FC236}">
                <a16:creationId xmlns:a16="http://schemas.microsoft.com/office/drawing/2014/main" id="{6282D772-85EF-EF97-3894-EFB48FAFD2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20154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bea9cbfd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bea9cbfd3_0_2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6731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http://schemas.openxmlformats.org/officeDocument/2006/relationships" xmlns:ns3="http://schemas.microsoft.com/office/drawing/2014/main" xmlns:ns4="http://schemas.microsoft.com/office/drawing/2010/main" xmlns:p="http://schemas.openxmlformats.org/presentationml/2006/main">
  <p:cSld>
    <p:bg>
      <p:bgPr>
        <a:blipFill>
          <a:blip ns2:embed="rId3"/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839" y="4576417"/>
            <a:ext cx="548700" cy="393600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1</a:t>
            </a:fld>
            <a:endParaRPr lang="en-IN"/>
          </a:p>
        </p:txBody>
      </p:sp>
      <p:sp>
        <p:nvSpPr>
          <p:cNvPr id="2" name="object 2">
            <a:extLst>
              <a:ext uri="{FF2B5EF4-FFF2-40B4-BE49-F238E27FC236}">
                <ns3:creationId id="{80EC1102-A358-2F94-640B-3F1EA4FCE4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1886" y="1361710"/>
            <a:ext cx="7289451" cy="1151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>
                <a:schemeClr val="dk1"/>
              </a:buClr>
              <a:buSzPts val="2800"/>
              <a:buNone/>
              <a:defRPr i="1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</a:defRPr>
            </a:lvl1pPr>
            <a:lvl2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altLang="en-US" sz="3200" i="0" dirty="0"/>
              <a:t>Malaria Parasite Detection</a:t>
            </a:r>
            <a:r>
              <a:rPr lang="en-US" altLang="en-US" sz="3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Deep Learning</a:t>
            </a:r>
            <a:r>
              <a:rPr lang="en-US" altLang="en-US" sz="3200" i="0" dirty="0"/>
              <a:t>Phase 2 Major Project</a:t>
            </a:r>
            <a:r>
              <a:rPr lang="en-US" altLang="en-US" sz="3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Architecture, Workflow &amp; Deployment</a:t>
            </a:r>
            <a:r>
              <a:rPr lang="en-US" altLang="en-US" sz="3200" i="0" dirty="0"/>
              <a:t>RV College of Engineering</a:t>
            </a:r>
          </a:p>
        </p:txBody>
      </p:sp>
      <p:sp>
        <p:nvSpPr>
          <p:cNvPr id="3" name="object 2">
            <a:extLst>
              <a:ext uri="{FF2B5EF4-FFF2-40B4-BE49-F238E27FC236}">
                <ns3:creationId id="{338BCCBF-8D7E-6CEB-5C00-AC9B92EDF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5310" y="3177217"/>
            <a:ext cx="5091229" cy="57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  <a:ext uri="{91240B29-F687-4F45-9708-019B960494DF}">
              <ns4:hiddenLine w="9525">
                <a:solidFill>
                  <a:srgbClr val="000000"/>
                </a:solidFill>
                <a:miter lim="800000"/>
                <a:headEnd/>
                <a:tailEnd/>
              </ns4:hiddenLine>
            </a:ext>
          </a:extLst>
        </p:spPr>
        <p:txBody>
          <a:bodyPr wrap="square" lIns="0" tIns="11430" rIns="0" bIns="0">
            <a:spAutoFit/>
          </a:bodyPr>
          <a:lstStyle>
            <a:lvl1pPr marL="127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en-US" altLang="en-US" sz="1800" dirty="0">
                <a:latin typeface="Helvetica-Bold" charset="0"/>
              </a:rPr>
              <a:t>Department of Computer Science and Engineering</a:t>
            </a:r>
          </a:p>
          <a:p>
            <a:pPr eaLnBrk="1" hangingPunct="1">
              <a:spcBef>
                <a:spcPts val="88"/>
              </a:spcBef>
            </a:pPr>
            <a:r>
              <a:rPr lang="en-US" altLang="en-US" sz="1800" dirty="0">
                <a:latin typeface="Helvetica-Bold" charset="0"/>
              </a:rPr>
              <a:t>R V College of Engineering, Bengaluru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ns2="http://schemas.openxmlformats.org/officeDocument/2006/relationships" xmlns:ns3="http://schemas.microsoft.com/office/drawing/2014/main" xmlns:ns4="http://schemas.microsoft.com/office/drawing/2010/main" xmlns:p="http://schemas.openxmlformats.org/presentationml/2006/main">
  <p:cSld>
    <p:bg>
      <p:bgPr>
        <a:blipFill>
          <a:blip ns2:embed="rId3"/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GB"/>
          </a:p>
        </p:txBody>
      </p:sp>
      <p:sp>
        <p:nvSpPr>
          <p:cNvPr id="6" name="Date Placeholder 3"/>
          <p:cNvSpPr>
            <a:spLocks noGrp="1"/>
          </p:cNvSpPr>
          <p:nvPr/>
        </p:nvSpPr>
        <p:spPr>
          <a:xfrm>
            <a:off x="311785" y="4483735"/>
            <a:ext cx="21259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24 Apr 2026</a:t>
            </a:r>
          </a:p>
        </p:txBody>
      </p:sp>
      <p:sp>
        <p:nvSpPr>
          <p:cNvPr id="7" name="Footer Placeholder 4"/>
          <p:cNvSpPr>
            <a:spLocks noGrp="1"/>
          </p:cNvSpPr>
          <p:nvPr/>
        </p:nvSpPr>
        <p:spPr>
          <a:xfrm>
            <a:off x="3512185" y="4483735"/>
            <a:ext cx="3188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RV COLLEGE OF ENGINEERING</a:t>
            </a:r>
          </a:p>
        </p:txBody>
      </p:sp>
      <p:sp>
        <p:nvSpPr>
          <p:cNvPr id="3" name="object 9">
            <a:extLst>
              <a:ext uri="{FF2B5EF4-FFF2-40B4-BE49-F238E27FC236}">
                <ns3:creationId id="{27E7BABE-187B-9CA7-F691-2ECD8E369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0387" y="1121007"/>
            <a:ext cx="3985028" cy="1139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>
                <a:schemeClr val="dk1"/>
              </a:buClr>
              <a:buSzPts val="2800"/>
              <a:buNone/>
              <a:defRPr sz="320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</a:defRPr>
            </a:lvl1pPr>
            <a:lvl2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altLang="en-US" sz="2000" b="1" dirty="0"/>
              <a:t>Project Title</a:t>
            </a:r>
          </a:p>
          <a:p>
            <a:pPr algn="ctr"/>
            <a:endParaRPr lang="en-US" altLang="en-US" sz="2000" b="1" dirty="0"/>
          </a:p>
          <a:p>
            <a:pPr algn="ctr"/>
            <a:r>
              <a:rPr lang="en-US" altLang="en-US" sz="2000" b="1" dirty="0"/>
              <a:t>Malaria Parasite Detection Using Deep Learning</a:t>
            </a:r>
          </a:p>
        </p:txBody>
      </p:sp>
      <p:sp>
        <p:nvSpPr>
          <p:cNvPr id="5" name="object 2">
            <a:extLst>
              <a:ext uri="{FF2B5EF4-FFF2-40B4-BE49-F238E27FC236}">
                <ns3:creationId id="{9FA0239F-5AA1-FF71-7957-E8234CCF39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028" y="2803233"/>
            <a:ext cx="3188335" cy="1138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  <a:ext uri="{91240B29-F687-4F45-9708-019B960494DF}">
              <ns4:hiddenLine w="9525">
                <a:solidFill>
                  <a:srgbClr val="000000"/>
                </a:solidFill>
                <a:miter lim="800000"/>
                <a:headEnd/>
                <a:tailEnd/>
              </ns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1000"/>
              </a:lnSpc>
              <a:spcBef>
                <a:spcPts val="100"/>
              </a:spcBef>
            </a:pPr>
            <a:r>
              <a:rPr lang="en-US" altLang="en-US" dirty="0">
                <a:solidFill>
                  <a:srgbClr val="6D6E71"/>
                </a:solidFill>
                <a:latin typeface="Helvetica" panose="020B0604020202020204" pitchFamily="34" charset="0"/>
              </a:rPr>
              <a:t>Student names &amp; USNs: [Team member names]</a:t>
            </a:r>
          </a:p>
          <a:p>
            <a:pPr eaLnBrk="1" hangingPunct="1">
              <a:lnSpc>
                <a:spcPct val="101000"/>
              </a:lnSpc>
              <a:spcBef>
                <a:spcPts val="100"/>
              </a:spcBef>
            </a:pPr>
            <a:endParaRPr lang="en-US" altLang="en-US" dirty="0">
              <a:solidFill>
                <a:srgbClr val="6D6E71"/>
              </a:solidFill>
              <a:latin typeface="Helvetica" panose="020B0604020202020204" pitchFamily="34" charset="0"/>
            </a:endParaRPr>
          </a:p>
          <a:p>
            <a:pPr eaLnBrk="1" hangingPunct="1">
              <a:lnSpc>
                <a:spcPct val="101000"/>
              </a:lnSpc>
              <a:spcBef>
                <a:spcPts val="100"/>
              </a:spcBef>
            </a:pPr>
            <a:r>
              <a:rPr lang="en-US" altLang="en-US" dirty="0">
                <a:solidFill>
                  <a:srgbClr val="6D6E71"/>
                </a:solidFill>
                <a:latin typeface="Helvetica" panose="020B0604020202020204" pitchFamily="34" charset="0"/>
              </a:rPr>
              <a:t>In-house project | Internal Guide: [Name]</a:t>
            </a:r>
          </a:p>
          <a:p>
            <a:pPr eaLnBrk="1" hangingPunct="1">
              <a:lnSpc>
                <a:spcPct val="101000"/>
              </a:lnSpc>
              <a:spcBef>
                <a:spcPts val="100"/>
              </a:spcBef>
            </a:pPr>
            <a:endParaRPr lang="en-US" altLang="en-US" dirty="0">
              <a:solidFill>
                <a:srgbClr val="6D6E71"/>
              </a:solidFill>
              <a:latin typeface="Helvetica" panose="020B0604020202020204" pitchFamily="34" charset="0"/>
            </a:endParaRPr>
          </a:p>
          <a:p>
            <a:pPr eaLnBrk="1" hangingPunct="1">
              <a:lnSpc>
                <a:spcPct val="101000"/>
              </a:lnSpc>
              <a:spcBef>
                <a:spcPts val="100"/>
              </a:spcBef>
            </a:pPr>
            <a:r>
              <a:rPr lang="en-US" altLang="en-US" dirty="0">
                <a:solidFill>
                  <a:srgbClr val="6D6E71"/>
                </a:solidFill>
                <a:latin typeface="Helvetica" panose="020B0604020202020204" pitchFamily="34" charset="0"/>
              </a:rPr>
              <a:t>External Guide: [Name or N/A]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ns2="http://schemas.openxmlformats.org/officeDocument/2006/relationships" xmlns:ns3="http://schemas.microsoft.com/office/drawing/2014/main" xmlns:ns4="http://schemas.microsoft.com/office/drawing/2010/main" xmlns:ns5="http://schemas.microsoft.com/office/powerpoint/2010/main" xmlns:p="http://schemas.openxmlformats.org/presentationml/2006/main">
  <p:cSld>
    <p:bg>
      <p:bgPr>
        <a:blipFill>
          <a:blip ns2:embed="rId3"/>
          <a:stretch>
            <a:fillRect/>
          </a:stretch>
        </a:blipFill>
        <a:effectLst/>
      </p:bgPr>
    </p:bg>
    <p:spTree>
      <p:nvGrpSpPr>
        <p:cNvPr id="1" name="Shape 59">
          <a:extLst>
            <a:ext uri="{FF2B5EF4-FFF2-40B4-BE49-F238E27FC236}">
              <ns3:creationId id="{DE1B450E-8266-E58A-DD0B-CA7CF9678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ns3:creationId id="{61586124-8C81-DC41-6E4E-E9ADB08A76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GB"/>
          </a:p>
        </p:txBody>
      </p:sp>
      <p:sp>
        <p:nvSpPr>
          <p:cNvPr id="6" name="Date Placeholder 3">
            <a:extLst>
              <a:ext uri="{FF2B5EF4-FFF2-40B4-BE49-F238E27FC236}">
                <ns3:creationId id="{BE13F45C-DF0D-8826-8D7E-7B27EA55B622}"/>
              </a:ext>
            </a:extLst>
          </p:cNvPr>
          <p:cNvSpPr>
            <a:spLocks noGrp="1"/>
          </p:cNvSpPr>
          <p:nvPr/>
        </p:nvSpPr>
        <p:spPr>
          <a:xfrm>
            <a:off x="311785" y="4483735"/>
            <a:ext cx="21259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24 Apr 2026</a:t>
            </a:r>
          </a:p>
        </p:txBody>
      </p:sp>
      <p:sp>
        <p:nvSpPr>
          <p:cNvPr id="7" name="Footer Placeholder 4">
            <a:extLst>
              <a:ext uri="{FF2B5EF4-FFF2-40B4-BE49-F238E27FC236}">
                <ns3:creationId id="{A46E9266-9E0D-7FC9-47DF-682E5CE99057}"/>
              </a:ext>
            </a:extLst>
          </p:cNvPr>
          <p:cNvSpPr>
            <a:spLocks noGrp="1"/>
          </p:cNvSpPr>
          <p:nvPr/>
        </p:nvSpPr>
        <p:spPr>
          <a:xfrm>
            <a:off x="3512185" y="4483735"/>
            <a:ext cx="3188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RV COLLEGE OF ENGINEERING</a:t>
            </a:r>
          </a:p>
        </p:txBody>
      </p:sp>
      <p:sp>
        <p:nvSpPr>
          <p:cNvPr id="2" name="Title 1">
            <a:extLst>
              <a:ext uri="{FF2B5EF4-FFF2-40B4-BE49-F238E27FC236}">
                <ns3:creationId id="{D3E4F2F7-8DD1-56A3-BBCD-2E4F89262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8909" y="172463"/>
            <a:ext cx="4751612" cy="540337"/>
          </a:xfrm>
        </p:spPr>
        <p:txBody>
          <a:bodyPr>
            <a:noAutofit/>
          </a:bodyPr>
          <a:lstStyle/>
          <a:p>
            <a:pPr algn="ctr"/>
            <a:r>
              <a:rPr lang="en-US"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</a:rPr>
              <a:t>Knowledge, Skills, and Research Base</a:t>
            </a:r>
            <a:endParaRPr lang="en-US" altLang="en-US" sz="2000" b="1" i="1" dirty="0">
              <a:solidFill>
                <a:schemeClr val="accent1">
                  <a:lumMod val="50000"/>
                </a:schemeClr>
              </a:solidFill>
              <a:latin typeface="Playfair Display" panose="00000500000000000000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5" name="Rectangle 2">
            <a:extLst>
              <a:ext uri="{FF2B5EF4-FFF2-40B4-BE49-F238E27FC236}">
                <ns3:creationId id="{BD45B10C-481F-188F-72A1-9A6871864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785" y="1252448"/>
            <a:ext cx="8709373" cy="2811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800" dirty="0"/>
              <a:t>Malaria screening uses segmented blood smear images; the NIH/Kaggle dataset has 27,558 images split evenly between parasitized and uninfected classes. Manual microscopy is accurate but slow and variable.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800" dirty="0"/>
              <a:t>The project combines CNN transfer learning, preprocessing, binary classification, and a Flask/MySQL/JWT web stack. The key gap is an end-to-end deployment-ready interface that unifies prediction, analytics, and account management.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ns5:creationId val="1275726682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openxmlformats.org/officeDocument/2006/relationships" xmlns:ns3="http://schemas.microsoft.com/office/drawing/2014/main" xmlns:ns4="http://schemas.microsoft.com/office/drawing/2010/main" xmlns:ns5="http://schemas.microsoft.com/office/powerpoint/2010/main" xmlns:p="http://schemas.openxmlformats.org/presentationml/2006/main">
  <p:cSld>
    <p:bg>
      <p:bgPr>
        <a:blipFill>
          <a:blip ns2:embed="rId3"/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GB"/>
          </a:p>
        </p:txBody>
      </p:sp>
      <p:sp>
        <p:nvSpPr>
          <p:cNvPr id="6" name="Date Placeholder 3"/>
          <p:cNvSpPr>
            <a:spLocks noGrp="1"/>
          </p:cNvSpPr>
          <p:nvPr/>
        </p:nvSpPr>
        <p:spPr>
          <a:xfrm>
            <a:off x="311785" y="4483735"/>
            <a:ext cx="21259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24 Apr 2026</a:t>
            </a:r>
          </a:p>
        </p:txBody>
      </p:sp>
      <p:sp>
        <p:nvSpPr>
          <p:cNvPr id="7" name="Footer Placeholder 4"/>
          <p:cNvSpPr>
            <a:spLocks noGrp="1"/>
          </p:cNvSpPr>
          <p:nvPr/>
        </p:nvSpPr>
        <p:spPr>
          <a:xfrm>
            <a:off x="3512185" y="4483735"/>
            <a:ext cx="3188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RV COLLEGE OF ENGINEERING</a:t>
            </a:r>
          </a:p>
        </p:txBody>
      </p:sp>
      <p:sp>
        <p:nvSpPr>
          <p:cNvPr id="2" name="Title 1">
            <a:extLst>
              <a:ext uri="{FF2B5EF4-FFF2-40B4-BE49-F238E27FC236}">
                <ns3:creationId id="{6C90F697-E655-5911-41DA-9C06DE8D8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8909" y="172463"/>
            <a:ext cx="4751612" cy="540337"/>
          </a:xfrm>
        </p:spPr>
        <p:txBody>
          <a:bodyPr>
            <a:noAutofit/>
          </a:bodyPr>
          <a:lstStyle/>
          <a:p>
            <a:pPr algn="ctr"/>
            <a:r>
              <a:rPr lang="en-IN"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</a:rPr>
              <a:t>Design Methodology</a:t>
            </a:r>
            <a:endParaRPr lang="en-US" altLang="en-US" sz="2000" b="1" i="1" dirty="0">
              <a:solidFill>
                <a:schemeClr val="accent1">
                  <a:lumMod val="50000"/>
                </a:schemeClr>
              </a:solidFill>
              <a:latin typeface="Playfair Display" panose="00000500000000000000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5" name="Rectangle 1">
            <a:extLst>
              <a:ext uri="{FF2B5EF4-FFF2-40B4-BE49-F238E27FC236}">
                <ns3:creationId id="{E7B9E5E7-A47E-04E2-2A74-A9FBAEEFE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36" y="1459206"/>
            <a:ext cx="881853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Architecture: Browser -&gt; Flask UI -&gt; File validation -&gt; Preprocess (50x50) -&gt; CNN inference -&gt; Result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overview: upload image, select model, run prediction, store last analysis, update performance views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Methods/algorithms: normalization, softmax binary classification, confidence scoring, JWT auth, password-reset token flow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Workflow: Register/Login -&gt; Upload smear -&gt; Select model -&gt; Analyze -&gt; Review result -&gt; Download summary -&gt; Charts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Tools: Python, Flask, TensorFlow/Keras, Pillow, MySQL, Bootstrap, Chart.js, SMTP, Gunicorn, Render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choice: lightweight, browser-based, secure, low-cost, and easy to scale</a:t>
            </a:r>
          </a:p>
        </p:txBody>
      </p:sp>
    </p:spTree>
    <p:extLst>
      <p:ext uri="{BB962C8B-B14F-4D97-AF65-F5344CB8AC3E}">
        <ns5:creationId val="3483755359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openxmlformats.org/officeDocument/2006/relationships" xmlns:ns3="http://schemas.microsoft.com/office/drawing/2014/main" xmlns:ns4="http://schemas.microsoft.com/office/drawing/2010/main" xmlns:ns5="http://schemas.microsoft.com/office/powerpoint/2010/main" xmlns:p="http://schemas.openxmlformats.org/presentationml/2006/main">
  <p:cSld>
    <p:bg>
      <p:bgPr>
        <a:blipFill>
          <a:blip ns2:embed="rId3"/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GB"/>
          </a:p>
        </p:txBody>
      </p:sp>
      <p:sp>
        <p:nvSpPr>
          <p:cNvPr id="6" name="Date Placeholder 3"/>
          <p:cNvSpPr>
            <a:spLocks noGrp="1"/>
          </p:cNvSpPr>
          <p:nvPr/>
        </p:nvSpPr>
        <p:spPr>
          <a:xfrm>
            <a:off x="311785" y="4483735"/>
            <a:ext cx="21259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24 Apr 2026</a:t>
            </a:r>
          </a:p>
        </p:txBody>
      </p:sp>
      <p:sp>
        <p:nvSpPr>
          <p:cNvPr id="7" name="Footer Placeholder 4"/>
          <p:cNvSpPr>
            <a:spLocks noGrp="1"/>
          </p:cNvSpPr>
          <p:nvPr/>
        </p:nvSpPr>
        <p:spPr>
          <a:xfrm>
            <a:off x="3512185" y="4483735"/>
            <a:ext cx="3188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RV COLLEGE OF ENGINEERING</a:t>
            </a:r>
          </a:p>
        </p:txBody>
      </p:sp>
      <p:sp>
        <p:nvSpPr>
          <p:cNvPr id="5" name="Title 4">
            <a:extLst>
              <a:ext uri="{FF2B5EF4-FFF2-40B4-BE49-F238E27FC236}">
                <ns3:creationId id="{9882F7BC-F55B-92C5-1D42-8C4CB8E62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200" y="214625"/>
            <a:ext cx="4564800" cy="57270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</a:rPr>
              <a:t>Planning of Project Work &amp; Team Structure</a:t>
            </a:r>
            <a:endParaRPr lang="en-IN" sz="2000" b="1" i="1" dirty="0">
              <a:solidFill>
                <a:schemeClr val="accent1">
                  <a:lumMod val="50000"/>
                </a:schemeClr>
              </a:solidFill>
              <a:latin typeface="Playfair Display" panose="00000500000000000000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3" name="Rectangle 1">
            <a:extLst>
              <a:ext uri="{FF2B5EF4-FFF2-40B4-BE49-F238E27FC236}">
                <ns3:creationId id="{701C4EA2-F4C8-F702-81B8-0D98956D2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227" y="1941557"/>
            <a:ext cx="864805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 breakdown: survey and dataset study -&gt; model training -&gt; Flask integration -&gt; testing and deployment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 roles: ML pipeline, backend/auth, frontend/UI, analytics, documentation, and QA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Collaboration: GitHub issues, pull requests, CI checks, and milestone-based reviews</a:t>
            </a:r>
          </a:p>
        </p:txBody>
      </p:sp>
    </p:spTree>
    <p:extLst>
      <p:ext uri="{BB962C8B-B14F-4D97-AF65-F5344CB8AC3E}">
        <ns5:creationId val="2159097362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openxmlformats.org/officeDocument/2006/relationships" xmlns:ns3="http://schemas.microsoft.com/office/drawing/2014/main" xmlns:ns4="http://schemas.microsoft.com/office/drawing/2010/main" xmlns:ns5="http://schemas.microsoft.com/office/powerpoint/2010/main" xmlns:p="http://schemas.openxmlformats.org/presentationml/2006/main">
  <p:cSld>
    <p:bg>
      <p:bgPr>
        <a:blipFill>
          <a:blip ns2:embed="rId3"/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GB"/>
          </a:p>
        </p:txBody>
      </p:sp>
      <p:sp>
        <p:nvSpPr>
          <p:cNvPr id="6" name="Date Placeholder 3"/>
          <p:cNvSpPr>
            <a:spLocks noGrp="1"/>
          </p:cNvSpPr>
          <p:nvPr/>
        </p:nvSpPr>
        <p:spPr>
          <a:xfrm>
            <a:off x="311785" y="4483735"/>
            <a:ext cx="21259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24 Apr 2026</a:t>
            </a:r>
          </a:p>
        </p:txBody>
      </p:sp>
      <p:sp>
        <p:nvSpPr>
          <p:cNvPr id="7" name="Footer Placeholder 4"/>
          <p:cNvSpPr>
            <a:spLocks noGrp="1"/>
          </p:cNvSpPr>
          <p:nvPr/>
        </p:nvSpPr>
        <p:spPr>
          <a:xfrm>
            <a:off x="3512185" y="4483735"/>
            <a:ext cx="3188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RV COLLEGE OF ENGINEERING</a:t>
            </a:r>
          </a:p>
        </p:txBody>
      </p:sp>
      <p:sp>
        <p:nvSpPr>
          <p:cNvPr id="5" name="Title 4">
            <a:extLst>
              <a:ext uri="{FF2B5EF4-FFF2-40B4-BE49-F238E27FC236}">
                <ns3:creationId id="{9882F7BC-F55B-92C5-1D42-8C4CB8E62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773" y="191926"/>
            <a:ext cx="4695986" cy="397375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N"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</a:rPr>
              <a:t>Demonstration</a:t>
            </a:r>
          </a:p>
        </p:txBody>
      </p:sp>
      <p:sp>
        <p:nvSpPr>
          <p:cNvPr id="3" name="Rectangle 1">
            <a:extLst>
              <a:ext uri="{FF2B5EF4-FFF2-40B4-BE49-F238E27FC236}">
                <ns3:creationId id="{4C4E19B3-5CA2-D17C-EE79-C472D51BD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227" y="2023909"/>
            <a:ext cx="871004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Working demo: landing page -&gt; login/register -&gt; upload image -&gt; select model -&gt; analyze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Screens: home, preview dashboard, result page, performance metrics, charts, and profile menu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features: drag-and-drop upload, confidence score, downloadable summary, avatar upload, password recovery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Proof of progress: working Flask app, TensorFlow model loading, MySQL auth, Render deployment, health check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tests: missing file, invalid login, password mismatch, expired token, unsupported image</a:t>
            </a:r>
          </a:p>
        </p:txBody>
      </p:sp>
    </p:spTree>
    <p:extLst>
      <p:ext uri="{BB962C8B-B14F-4D97-AF65-F5344CB8AC3E}">
        <ns5:creationId val="2095173702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openxmlformats.org/officeDocument/2006/relationships" xmlns:ns3="http://schemas.microsoft.com/office/drawing/2014/main" xmlns:ns4="http://schemas.microsoft.com/office/drawing/2010/main" xmlns:ns5="http://schemas.microsoft.com/office/powerpoint/2010/main" xmlns:p="http://schemas.openxmlformats.org/presentationml/2006/main">
  <p:cSld>
    <p:bg>
      <p:bgPr>
        <a:blipFill>
          <a:blip ns2:embed="rId3"/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GB"/>
          </a:p>
        </p:txBody>
      </p:sp>
      <p:sp>
        <p:nvSpPr>
          <p:cNvPr id="6" name="Date Placeholder 3"/>
          <p:cNvSpPr>
            <a:spLocks noGrp="1"/>
          </p:cNvSpPr>
          <p:nvPr/>
        </p:nvSpPr>
        <p:spPr>
          <a:xfrm>
            <a:off x="311785" y="4483735"/>
            <a:ext cx="21259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24 Apr 2026</a:t>
            </a:r>
          </a:p>
        </p:txBody>
      </p:sp>
      <p:sp>
        <p:nvSpPr>
          <p:cNvPr id="7" name="Footer Placeholder 4"/>
          <p:cNvSpPr>
            <a:spLocks noGrp="1"/>
          </p:cNvSpPr>
          <p:nvPr/>
        </p:nvSpPr>
        <p:spPr>
          <a:xfrm>
            <a:off x="3512185" y="4483735"/>
            <a:ext cx="3188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RV COLLEGE OF ENGINEERING</a:t>
            </a:r>
          </a:p>
        </p:txBody>
      </p:sp>
      <p:sp>
        <p:nvSpPr>
          <p:cNvPr id="5" name="Title 4">
            <a:extLst>
              <a:ext uri="{FF2B5EF4-FFF2-40B4-BE49-F238E27FC236}">
                <ns3:creationId id="{9882F7BC-F55B-92C5-1D42-8C4CB8E62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2014" y="207425"/>
            <a:ext cx="4538506" cy="397375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N"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</a:rPr>
              <a:t>Project Management &amp; Cost</a:t>
            </a:r>
          </a:p>
        </p:txBody>
      </p:sp>
      <p:sp>
        <p:nvSpPr>
          <p:cNvPr id="3" name="Rectangle 1">
            <a:extLst>
              <a:ext uri="{FF2B5EF4-FFF2-40B4-BE49-F238E27FC236}">
                <ns3:creationId id="{4096B4E7-A8F3-9C50-ABF9-EBB4B9CBE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92" y="2258288"/>
            <a:ext cx="906650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Estimated cost: open-source software ?0, free-tier hosting/CI ?0, SMTP email ?0, existing laptop ?0, optional new GPU hardware only if purchased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Feasibility: technical high, operational high, economic high, schedule high because the workflow uses standard tools and a lightweight CNN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Scalability: modular model selection, persistent storage, cloud-ready deployment, and easy extension to multi-class parasite classification</a:t>
            </a:r>
          </a:p>
        </p:txBody>
      </p:sp>
    </p:spTree>
    <p:extLst>
      <p:ext uri="{BB962C8B-B14F-4D97-AF65-F5344CB8AC3E}">
        <ns5:creationId val="3196176615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openxmlformats.org/officeDocument/2006/relationships" xmlns:ns3="http://schemas.microsoft.com/office/drawing/2014/main" xmlns:ns4="http://schemas.microsoft.com/office/drawing/2010/main" xmlns:ns5="http://schemas.microsoft.com/office/powerpoint/2010/main" xmlns:p="http://schemas.openxmlformats.org/presentationml/2006/main">
  <p:cSld>
    <p:bg>
      <p:bgPr>
        <a:blipFill>
          <a:blip ns2:embed="rId3"/>
          <a:stretch>
            <a:fillRect/>
          </a:stretch>
        </a:blipFill>
        <a:effectLst/>
      </p:bgPr>
    </p:bg>
    <p:spTree>
      <p:nvGrpSpPr>
        <p:cNvPr id="1" name="Shape 59">
          <a:extLst>
            <a:ext uri="{FF2B5EF4-FFF2-40B4-BE49-F238E27FC236}">
              <ns3:creationId id="{B48ABC78-927D-FF6D-EEAF-B0CC5A85D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ns3:creationId id="{A1211AA4-5236-256B-6565-304DD2CDE4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GB"/>
          </a:p>
        </p:txBody>
      </p:sp>
      <p:sp>
        <p:nvSpPr>
          <p:cNvPr id="6" name="Date Placeholder 3">
            <a:extLst>
              <a:ext uri="{FF2B5EF4-FFF2-40B4-BE49-F238E27FC236}">
                <ns3:creationId id="{AC0D9EE0-72FF-C74E-1092-4A86F93DABD0}"/>
              </a:ext>
            </a:extLst>
          </p:cNvPr>
          <p:cNvSpPr>
            <a:spLocks noGrp="1"/>
          </p:cNvSpPr>
          <p:nvPr/>
        </p:nvSpPr>
        <p:spPr>
          <a:xfrm>
            <a:off x="311785" y="4483735"/>
            <a:ext cx="21259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24 Apr 2026</a:t>
            </a:r>
          </a:p>
        </p:txBody>
      </p:sp>
      <p:sp>
        <p:nvSpPr>
          <p:cNvPr id="7" name="Footer Placeholder 4">
            <a:extLst>
              <a:ext uri="{FF2B5EF4-FFF2-40B4-BE49-F238E27FC236}">
                <ns3:creationId id="{72C6974F-DD29-2883-13D4-B15ACA731D88}"/>
              </a:ext>
            </a:extLst>
          </p:cNvPr>
          <p:cNvSpPr>
            <a:spLocks noGrp="1"/>
          </p:cNvSpPr>
          <p:nvPr/>
        </p:nvSpPr>
        <p:spPr>
          <a:xfrm>
            <a:off x="3512185" y="4483735"/>
            <a:ext cx="3188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RV COLLEGE OF ENGINEERING</a:t>
            </a:r>
          </a:p>
        </p:txBody>
      </p:sp>
      <p:sp>
        <p:nvSpPr>
          <p:cNvPr id="5" name="Title 4">
            <a:extLst>
              <a:ext uri="{FF2B5EF4-FFF2-40B4-BE49-F238E27FC236}">
                <ns3:creationId id="{1CB64532-81B2-D9C9-665F-116F92580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2014" y="207425"/>
            <a:ext cx="4538506" cy="397375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</a:rPr>
              <a:t>Timeline (Gantt Chart / Milestones)</a:t>
            </a:r>
          </a:p>
        </p:txBody>
      </p:sp>
      <p:sp>
        <p:nvSpPr>
          <p:cNvPr id="3" name="Rectangle 1">
            <a:extLst>
              <a:ext uri="{FF2B5EF4-FFF2-40B4-BE49-F238E27FC236}">
                <ns3:creationId id="{9ABB24FA-499A-9FD6-309B-99F73A9E0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784" y="2119789"/>
            <a:ext cx="864623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Milestone timeline: Mar 01-07 topic finalization | Mar 08-21 literature survey | Mar 22-Apr 04 data prep | Apr 05-18 model training | Apr 19-May 02 web integration | May 03-16 testing/deployment | May 17-24 report and presentation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deliverables: approved problem statement, baseline CNN, end-to-end demo, analytics/authentication, deployed prototype, final PPT and report</a:t>
            </a:r>
          </a:p>
        </p:txBody>
      </p:sp>
    </p:spTree>
    <p:extLst>
      <p:ext uri="{BB962C8B-B14F-4D97-AF65-F5344CB8AC3E}">
        <ns5:creationId val="1870324395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openxmlformats.org/officeDocument/2006/relationships" xmlns:ns3="http://schemas.microsoft.com/office/drawing/2014/main" xmlns:ns4="http://schemas.microsoft.com/office/powerpoint/2010/main" xmlns:p="http://schemas.openxmlformats.org/presentationml/2006/main">
  <p:cSld>
    <p:bg>
      <p:bgPr>
        <a:blipFill>
          <a:blip ns2:embed="rId3"/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GB"/>
          </a:p>
        </p:txBody>
      </p:sp>
      <p:sp>
        <p:nvSpPr>
          <p:cNvPr id="6" name="Date Placeholder 3"/>
          <p:cNvSpPr>
            <a:spLocks noGrp="1"/>
          </p:cNvSpPr>
          <p:nvPr/>
        </p:nvSpPr>
        <p:spPr>
          <a:xfrm>
            <a:off x="311785" y="4483735"/>
            <a:ext cx="21259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24 Apr 2026</a:t>
            </a:r>
          </a:p>
        </p:txBody>
      </p:sp>
      <p:sp>
        <p:nvSpPr>
          <p:cNvPr id="7" name="Footer Placeholder 4"/>
          <p:cNvSpPr>
            <a:spLocks noGrp="1"/>
          </p:cNvSpPr>
          <p:nvPr/>
        </p:nvSpPr>
        <p:spPr>
          <a:xfrm>
            <a:off x="3512185" y="4483735"/>
            <a:ext cx="3188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RV COLLEGE OF ENGINEERING</a:t>
            </a:r>
          </a:p>
        </p:txBody>
      </p:sp>
      <p:sp>
        <p:nvSpPr>
          <p:cNvPr id="13" name="TextBox 12">
            <a:extLst>
              <a:ext uri="{FF2B5EF4-FFF2-40B4-BE49-F238E27FC236}">
                <ns3:creationId id="{76BC31C8-2690-D15E-DF15-7B64E35974DA}"/>
              </a:ext>
            </a:extLst>
          </p:cNvPr>
          <p:cNvSpPr txBox="1"/>
          <p:nvPr/>
        </p:nvSpPr>
        <p:spPr>
          <a:xfrm>
            <a:off x="3512185" y="2080800"/>
            <a:ext cx="2679815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>
                <a:schemeClr val="dk1"/>
              </a:buClr>
              <a:buSzPts val="2800"/>
              <a:buNone/>
              <a:defRPr i="1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</a:defRPr>
            </a:lvl1pPr>
            <a:lvl2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en-IN" sz="3600" b="1" dirty="0"/>
              <a:t>Thank You</a:t>
            </a:r>
          </a:p>
        </p:txBody>
      </p:sp>
    </p:spTree>
    <p:extLst>
      <p:ext uri="{BB962C8B-B14F-4D97-AF65-F5344CB8AC3E}">
        <ns4:creationId val="28813491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923</TotalTime>
  <Words>318</Words>
  <Application>Microsoft Office PowerPoint</Application>
  <PresentationFormat>On-screen Show (16:9)</PresentationFormat>
  <Paragraphs>66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Helvetica</vt:lpstr>
      <vt:lpstr>Helvetica-Bold</vt:lpstr>
      <vt:lpstr>Playfair Display</vt:lpstr>
      <vt:lpstr>Times New Roman</vt:lpstr>
      <vt:lpstr>Simple Light</vt:lpstr>
      <vt:lpstr>PowerPoint Presentation</vt:lpstr>
      <vt:lpstr>PowerPoint Presentation</vt:lpstr>
      <vt:lpstr>Knowledge, Skills, and Research Base</vt:lpstr>
      <vt:lpstr>Design Methodology</vt:lpstr>
      <vt:lpstr>Planning of Project Work &amp; Team Structure</vt:lpstr>
      <vt:lpstr>Demonstration</vt:lpstr>
      <vt:lpstr>Project Management &amp; Cost</vt:lpstr>
      <vt:lpstr>Timeline (Gantt chart or milestones)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Malaria Parasite Detection Using Deep Learning</dc:title>
  <dc:creator>Codex</dc:creator>
  <cp:lastModifiedBy>Codex</cp:lastModifiedBy>
  <cp:revision>503</cp:revision>
  <cp:lastPrinted>2024-02-08T09:21:00Z</cp:lastPrinted>
  <dcterms:created xsi:type="dcterms:W3CDTF">2024-02-20T06:21:43Z</dcterms:created>
  <dcterms:modified xsi:type="dcterms:W3CDTF">2026-04-22T09:25:29Z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709A11875FBE42968DB8B6F8F2D46D71_13</vt:lpwstr>
  </property>
  <property fmtid="{D5CDD505-2E9C-101B-9397-08002B2CF9AE}" pid="3" name="KSOProductBuildVer">
    <vt:lpwstr>1033-12.2.0.13431</vt:lpwstr>
  </property>
</Properties>
</file>